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189f50b-2537-b220-a493-3865cf45c910}">
          <p14:sldIdLst>
            <p14:sldId id="256"/>
            <p14:sldId id="257"/>
          </p14:sldIdLst>
        </p14:section>
        <p14:section name="Design and method" id="{a2c4afd9-e1bf-4c78-6d0a-fd47f6c89442}">
          <p14:sldIdLst>
            <p14:sldId id="258"/>
            <p14:sldId id="259"/>
            <p14:sldId id="260"/>
            <p14:sldId id="261"/>
            <p14:sldId id="262"/>
            <p14:sldId id="263"/>
          </p14:sldIdLst>
        </p14:section>
        <p14:section name="Results and demo" id="{a3caaed6-700c-eb45-41a2-3268713a89a6}">
          <p14:sldIdLst>
            <p14:sldId id="264"/>
            <p14:sldId id="265"/>
            <p14:sldId id="266"/>
          </p14:sldIdLst>
        </p14:section>
        <p14:section name="Wrap-up" id="{b129c32c-f40a-dd5a-b3b1-85344d2faaf7}">
          <p14:sldIdLst>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02B3F"/>
                </a:solidFill>
                <a:latin typeface="+mn-lt"/>
              </a:defRPr>
            </a:pPr>
            <a:r>
              <a:rPr sz="1400" b="0" i="0" u="none" strike="noStrike">
                <a:solidFill>
                  <a:srgbClr val="102B3F"/>
                </a:solidFill>
                <a:latin typeface="+mn-lt"/>
              </a:rPr>
              <a:t>Posts mentioning the term</a:t>
            </a:r>
          </a:p>
        </c:rich>
      </c:tx>
      <c:layout/>
      <c:overlay val="0"/>
    </c:title>
    <c:autoTitleDeleted val="0"/>
    <c:plotArea>
      <c:layout/>
      <c:barChart>
        <c:barDir val="col"/>
        <c:grouping val="clustered"/>
        <c:varyColors val="0"/>
        <c:ser>
          <c:idx val="0"/>
          <c:order val="0"/>
          <c:tx>
            <c:strRef>
              <c:f>Sheet1!$B$1</c:f>
              <c:strCache>
                <c:ptCount val="1"/>
                <c:pt idx="0">
                  <c:v>Earlier half</c:v>
                </c:pt>
              </c:strCache>
            </c:strRef>
          </c:tx>
          <c:spPr>
            <a:solidFill>
              <a:srgbClr val="5B7083"/>
            </a:solidFill>
            <a:effectLst/>
          </c:spPr>
          <c:invertIfNegative val="0"/>
          <c:dLbls>
            <c:numFmt formatCode="#,##0" sourceLinked="0"/>
            <c:txPr>
              <a:bodyPr/>
              <a:lstStyle/>
              <a:p>
                <a:pPr>
                  <a:defRPr b="0" i="0" strike="noStrike" sz="1200" u="none">
                    <a:solidFill>
                      <a:srgbClr val="102B3F"/>
                    </a:solidFill>
                    <a:latin typeface="+mn-lt"/>
                  </a:defRPr>
                </a:pPr>
              </a:p>
            </c:txPr>
            <c:showLegendKey val="0"/>
            <c:showVal val="1"/>
            <c:showCatName val="0"/>
            <c:showSerName val="0"/>
            <c:showPercent val="0"/>
            <c:showBubbleSize val="0"/>
            <c:showLeaderLines val="0"/>
          </c:dLbls>
          <c:cat>
            <c:multiLvlStrRef>
              <c:f>Sheet1!$A$2:$A$4</c:f>
              <c:multiLvlStrCache>
                <c:ptCount val="3"/>
                <c:lvl>
                  <c:pt idx="0">
                    <c:v>deepfake</c:v>
                  </c:pt>
                  <c:pt idx="1">
                    <c:v>ai regulation</c:v>
                  </c:pt>
                  <c:pt idx="2">
                    <c:v>detection tool</c:v>
                  </c:pt>
                </c:lvl>
              </c:multiLvlStrCache>
            </c:multiLvlStrRef>
          </c:cat>
          <c:val>
            <c:numRef>
              <c:f>Sheet1!$B$2:$B$4</c:f>
              <c:numCache>
                <c:formatCode>General</c:formatCode>
                <c:ptCount val="3"/>
                <c:pt idx="0">
                  <c:v>2</c:v>
                </c:pt>
                <c:pt idx="1">
                  <c:v>2</c:v>
                </c:pt>
                <c:pt idx="2">
                  <c:v>0</c:v>
                </c:pt>
              </c:numCache>
            </c:numRef>
          </c:val>
        </c:ser>
        <c:ser>
          <c:idx val="1"/>
          <c:order val="1"/>
          <c:tx>
            <c:strRef>
              <c:f>Sheet1!$C$1</c:f>
              <c:strCache>
                <c:ptCount val="1"/>
                <c:pt idx="0">
                  <c:v>Recent half</c:v>
                </c:pt>
              </c:strCache>
            </c:strRef>
          </c:tx>
          <c:spPr>
            <a:solidFill>
              <a:srgbClr val="087E83"/>
            </a:solidFill>
            <a:effectLst/>
          </c:spPr>
          <c:invertIfNegative val="0"/>
          <c:dLbls>
            <c:numFmt formatCode="#,##0" sourceLinked="0"/>
            <c:txPr>
              <a:bodyPr/>
              <a:lstStyle/>
              <a:p>
                <a:pPr>
                  <a:defRPr b="0" i="0" strike="noStrike" sz="1200" u="none">
                    <a:solidFill>
                      <a:srgbClr val="102B3F"/>
                    </a:solidFill>
                    <a:latin typeface="+mn-lt"/>
                  </a:defRPr>
                </a:pPr>
              </a:p>
            </c:txPr>
            <c:showLegendKey val="0"/>
            <c:showVal val="1"/>
            <c:showCatName val="0"/>
            <c:showSerName val="0"/>
            <c:showPercent val="0"/>
            <c:showBubbleSize val="0"/>
            <c:showLeaderLines val="0"/>
          </c:dLbls>
          <c:cat>
            <c:multiLvlStrRef>
              <c:f>Sheet1!$A$2:$A$4</c:f>
              <c:multiLvlStrCache>
                <c:ptCount val="3"/>
                <c:lvl>
                  <c:pt idx="0">
                    <c:v>deepfake</c:v>
                  </c:pt>
                  <c:pt idx="1">
                    <c:v>ai regulation</c:v>
                  </c:pt>
                  <c:pt idx="2">
                    <c:v>detection tool</c:v>
                  </c:pt>
                </c:lvl>
              </c:multiLvlStrCache>
            </c:multiLvlStrRef>
          </c:cat>
          <c:val>
            <c:numRef>
              <c:f>Sheet1!$C$2:$C$4</c:f>
              <c:numCache>
                <c:formatCode>General</c:formatCode>
                <c:ptCount val="3"/>
                <c:pt idx="0">
                  <c:v>22</c:v>
                </c:pt>
                <c:pt idx="1">
                  <c:v>14</c:v>
                </c:pt>
                <c:pt idx="2">
                  <c:v>8</c:v>
                </c:pt>
              </c:numCache>
            </c:numRef>
          </c:val>
        </c:ser>
        <c:dLbls>
          <c:numFmt formatCode="#,##0" sourceLinked="0"/>
          <c:txPr>
            <a:bodyPr/>
            <a:lstStyle/>
            <a:p>
              <a:pPr>
                <a:defRPr b="0" i="0" strike="noStrike" sz="1200" u="none">
                  <a:solidFill>
                    <a:srgbClr val="102B3F"/>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02B3F"/>
                </a:solidFill>
                <a:latin typeface="+mn-lt"/>
              </a:defRPr>
            </a:pPr>
            <a:endParaRPr lang="en-US"/>
          </a:p>
        </c:txPr>
        <c:crossAx val="2094734552"/>
        <c:crosses val="autoZero"/>
        <c:auto val="1"/>
        <c:lblAlgn val="ctr"/>
        <c:noMultiLvlLbl val="1"/>
      </c:catAx>
      <c:valAx>
        <c:axId val="2094734552"/>
        <c:scaling>
          <c:orientation val="minMax"/>
          <c:max val="26"/>
          <c:min val="0"/>
        </c:scaling>
        <c:delete val="0"/>
        <c:axPos val="l"/>
        <c:majorGridlines>
          <c:spPr>
            <a:ln w="9525" cap="flat">
              <a:solidFill>
                <a:srgbClr val="D9E4E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708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02B3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02B3F"/>
                </a:solidFill>
                <a:latin typeface="+mn-lt"/>
              </a:defRPr>
            </a:pPr>
            <a:r>
              <a:rPr sz="1400" b="0" i="0" u="none" strike="noStrike">
                <a:solidFill>
                  <a:srgbClr val="102B3F"/>
                </a:solidFill>
                <a:latin typeface="+mn-lt"/>
              </a:rPr>
              <a:t>Sentiment split (posts)</a:t>
            </a:r>
          </a:p>
        </c:rich>
      </c:tx>
      <c:layout/>
      <c:overlay val="0"/>
    </c:title>
    <c:autoTitleDeleted val="0"/>
    <c:plotArea>
      <c:layout/>
      <c:doughnutChart>
        <c:varyColors val="1"/>
        <c:ser>
          <c:idx val="0"/>
          <c:order val="0"/>
          <c:tx>
            <c:strRef>
              <c:f>Sheet1!$B$1</c:f>
              <c:strCache>
                <c:ptCount val="1"/>
                <c:pt idx="0">
                  <c:v>Sentiment</c:v>
                </c:pt>
              </c:strCache>
            </c:strRef>
          </c:tx>
          <c:spPr>
            <a:solidFill>
              <a:schemeClr val="accent1"/>
            </a:solidFill>
            <a:ln w="9525" cap="flat">
              <a:solidFill>
                <a:srgbClr val="F9F9F9"/>
              </a:solidFill>
              <a:prstDash val="solid"/>
              <a:round/>
            </a:ln>
            <a:effectLst/>
          </c:spPr>
          <c:dPt>
            <c:idx val="0"/>
            <c:bubble3D val="0"/>
            <c:spPr>
              <a:solidFill>
                <a:srgbClr val="087E83"/>
              </a:solidFill>
              <a:effectLst/>
            </c:spPr>
          </c:dPt>
          <c:dPt>
            <c:idx val="1"/>
            <c:bubble3D val="0"/>
            <c:spPr>
              <a:solidFill>
                <a:srgbClr val="94A3B8"/>
              </a:solidFill>
              <a:effectLst/>
            </c:spPr>
          </c:dPt>
          <c:dPt>
            <c:idx val="2"/>
            <c:bubble3D val="0"/>
            <c:spPr>
              <a:solidFill>
                <a:srgbClr val="D6564A"/>
              </a:solidFill>
              <a:effectLst/>
            </c:spPr>
          </c:dPt>
          <c:dLbls>
            <c:dLbl>
              <c:idx val="0"/>
              <c:numFmt formatCode="General" sourceLinked="0"/>
              <c:spPr/>
              <c:txPr>
                <a:bodyPr/>
                <a:lstStyle/>
                <a:p>
                  <a:pPr>
                    <a:defRPr sz="1200" b="0" i="0" u="none" strike="noStrike">
                      <a:solidFill>
                        <a:srgbClr val="FFFFFF"/>
                      </a:solidFill>
                      <a:latin typeface="+mn-lt"/>
                    </a:defRPr>
                  </a:pPr>
                </a:p>
              </c:txPr>
              <c:showLegendKey val="0"/>
              <c:showVal val="1"/>
              <c:showCatName val="0"/>
              <c:showSerName val="0"/>
              <c:showPercent val="0"/>
              <c:showBubbleSize val="0"/>
            </c:dLbl>
            <c:dLbl>
              <c:idx val="1"/>
              <c:numFmt formatCode="General" sourceLinked="0"/>
              <c:spPr/>
              <c:txPr>
                <a:bodyPr/>
                <a:lstStyle/>
                <a:p>
                  <a:pPr>
                    <a:defRPr sz="1200" b="0" i="0" u="none" strike="noStrike">
                      <a:solidFill>
                        <a:srgbClr val="FFFFFF"/>
                      </a:solidFill>
                      <a:latin typeface="+mn-lt"/>
                    </a:defRPr>
                  </a:pPr>
                </a:p>
              </c:txPr>
              <c:showLegendKey val="0"/>
              <c:showVal val="1"/>
              <c:showCatName val="0"/>
              <c:showSerName val="0"/>
              <c:showPercent val="0"/>
              <c:showBubbleSize val="0"/>
            </c:dLbl>
            <c:dLbl>
              <c:idx val="2"/>
              <c:numFmt formatCode="General" sourceLinked="0"/>
              <c:spPr/>
              <c:txPr>
                <a:bodyPr/>
                <a:lstStyle/>
                <a:p>
                  <a:pPr>
                    <a:defRPr sz="1200" b="0" i="0" u="none" strike="noStrike">
                      <a:solidFill>
                        <a:srgbClr val="FFFFFF"/>
                      </a:solidFill>
                      <a:latin typeface="+mn-lt"/>
                    </a:defRPr>
                  </a:pPr>
                </a:p>
              </c:txPr>
              <c:showLegendKey val="0"/>
              <c:showVal val="1"/>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Positive</c:v>
                </c:pt>
                <c:pt idx="1">
                  <c:v>Neutral</c:v>
                </c:pt>
                <c:pt idx="2">
                  <c:v>Negative</c:v>
                </c:pt>
              </c:strCache>
            </c:strRef>
          </c:cat>
          <c:val>
            <c:numRef>
              <c:f>Sheet1!$B$2:$B$4</c:f>
              <c:numCache>
                <c:ptCount val="3"/>
                <c:pt idx="0">
                  <c:v>55</c:v>
                </c:pt>
                <c:pt idx="1">
                  <c:v>33</c:v>
                </c:pt>
                <c:pt idx="2">
                  <c:v>43</c:v>
                </c:pt>
              </c:numCache>
            </c:numRef>
          </c:val>
        </c:ser>
        <c:firstSliceAng val="0"/>
        <c:holeSize val="58"/>
      </c:doughnutChart>
      <c:spPr>
        <a:noFill/>
        <a:ln>
          <a:noFill/>
        </a:ln>
        <a:effectLst/>
      </c:spPr>
    </c:plotArea>
    <c:legend>
      <c:legendPos val="r"/>
      <c:overlay val="0"/>
      <c:txPr>
        <a:bodyPr/>
        <a:lstStyle/>
        <a:p>
          <a:pPr>
            <a:defRPr sz="1200">
              <a:solidFill>
                <a:srgbClr val="102B3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02B3F"/>
                </a:solidFill>
                <a:latin typeface="+mn-lt"/>
              </a:defRPr>
            </a:pPr>
            <a:r>
              <a:rPr sz="1400" b="0" i="0" u="none" strike="noStrike">
                <a:solidFill>
                  <a:srgbClr val="102B3F"/>
                </a:solidFill>
                <a:latin typeface="+mn-lt"/>
              </a:rPr>
              <a:t>Posts per topic</a:t>
            </a:r>
          </a:p>
        </c:rich>
      </c:tx>
      <c:layout/>
      <c:overlay val="0"/>
    </c:title>
    <c:autoTitleDeleted val="0"/>
    <c:plotArea>
      <c:layout/>
      <c:barChart>
        <c:barDir val="bar"/>
        <c:grouping val="clustered"/>
        <c:varyColors val="0"/>
        <c:ser>
          <c:idx val="0"/>
          <c:order val="0"/>
          <c:tx>
            <c:strRef>
              <c:f>Sheet1!$B$1</c:f>
              <c:strCache>
                <c:ptCount val="1"/>
                <c:pt idx="0">
                  <c:v>Posts</c:v>
                </c:pt>
              </c:strCache>
            </c:strRef>
          </c:tx>
          <c:spPr>
            <a:solidFill>
              <a:srgbClr val="087E83"/>
            </a:solidFill>
            <a:effectLst/>
          </c:spPr>
          <c:invertIfNegative val="0"/>
          <c:dLbls>
            <c:numFmt formatCode="#,##0" sourceLinked="0"/>
            <c:txPr>
              <a:bodyPr/>
              <a:lstStyle/>
              <a:p>
                <a:pPr>
                  <a:defRPr b="0" i="0" strike="noStrike" sz="1200" u="none">
                    <a:solidFill>
                      <a:srgbClr val="102B3F"/>
                    </a:solidFill>
                    <a:latin typeface="+mn-lt"/>
                  </a:defRPr>
                </a:pPr>
              </a:p>
            </c:txPr>
            <c:showLegendKey val="0"/>
            <c:showVal val="1"/>
            <c:showCatName val="0"/>
            <c:showSerName val="0"/>
            <c:showPercent val="0"/>
            <c:showBubbleSize val="0"/>
            <c:showLeaderLines val="0"/>
          </c:dLbls>
          <c:cat>
            <c:multiLvlStrRef>
              <c:f>Sheet1!$A$2:$A$9</c:f>
              <c:multiLvlStrCache>
                <c:ptCount val="8"/>
                <c:lvl>
                  <c:pt idx="0">
                    <c:v>Technology</c:v>
                  </c:pt>
                  <c:pt idx="1">
                    <c:v>Health</c:v>
                  </c:pt>
                  <c:pt idx="2">
                    <c:v>Environment</c:v>
                  </c:pt>
                  <c:pt idx="3">
                    <c:v>Business</c:v>
                  </c:pt>
                  <c:pt idx="4">
                    <c:v>Politics</c:v>
                  </c:pt>
                  <c:pt idx="5">
                    <c:v>Entertainment</c:v>
                  </c:pt>
                  <c:pt idx="6">
                    <c:v>Education</c:v>
                  </c:pt>
                  <c:pt idx="7">
                    <c:v>Sports</c:v>
                  </c:pt>
                </c:lvl>
              </c:multiLvlStrCache>
            </c:multiLvlStrRef>
          </c:cat>
          <c:val>
            <c:numRef>
              <c:f>Sheet1!$B$2:$B$9</c:f>
              <c:numCache>
                <c:formatCode>General</c:formatCode>
                <c:ptCount val="8"/>
                <c:pt idx="0">
                  <c:v>40</c:v>
                </c:pt>
                <c:pt idx="1">
                  <c:v>23</c:v>
                </c:pt>
                <c:pt idx="2">
                  <c:v>16</c:v>
                </c:pt>
                <c:pt idx="3">
                  <c:v>15</c:v>
                </c:pt>
                <c:pt idx="4">
                  <c:v>15</c:v>
                </c:pt>
                <c:pt idx="5">
                  <c:v>8</c:v>
                </c:pt>
                <c:pt idx="6">
                  <c:v>8</c:v>
                </c:pt>
                <c:pt idx="7">
                  <c:v>6</c:v>
                </c:pt>
              </c:numCache>
            </c:numRef>
          </c:val>
        </c:ser>
        <c:dLbls>
          <c:numFmt formatCode="#,##0" sourceLinked="0"/>
          <c:txPr>
            <a:bodyPr/>
            <a:lstStyle/>
            <a:p>
              <a:pPr>
                <a:defRPr b="0" i="0" strike="noStrike" sz="1200" u="none">
                  <a:solidFill>
                    <a:srgbClr val="102B3F"/>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02B3F"/>
                </a:solidFill>
                <a:latin typeface="+mn-lt"/>
              </a:defRPr>
            </a:pPr>
            <a:endParaRPr lang="en-US"/>
          </a:p>
        </c:txPr>
        <c:crossAx val="2094734552"/>
        <c:crosses val="autoZero"/>
        <c:auto val="1"/>
        <c:lblAlgn val="ctr"/>
        <c:noMultiLvlLbl val="1"/>
      </c:catAx>
      <c:valAx>
        <c:axId val="2094734552"/>
        <c:scaling>
          <c:orientation val="minMax"/>
          <c:max val="48"/>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and team. The engine collects news and social media text, analyses it with NLP, and presents the results on a dashboard. The four circles on the right are the four stages we will follow: Collect, Process, Analyze, 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online information is huge, unstructured and its meaning is scattered. Nobody can read thousands of posts by hand. Our answer is a single engine that does the reading, scoring and summarising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stages from left to right. The green chips show where each stage lives in the code: parseItems and tokenize in NLP.java, analyze for the NLP analysis, and app.js for drawing the charts.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parts talk over HTTP. The browser sends the text to the Java server, the server runs the analysis in NLP.java and replies with JSON, and app.js turns that JSON into charts. We used only the JDK, so there is nothing extra to install.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line of input is one post. We optionally read a date and a source, which later enables trend detection. Processing lowercases the text, expands n't to not so negation works, splits it into words, and uses a light stemmer so loved and loves match love.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Sentiment is lexicon based. Every word in our list has a weight. We add up the weights, flip them when a negator appears within three words before, and boost them after words like very. The total is squashed into minus one to plus one. At plus 0.15 or above it is positive, at minus 0.15 or below negative, otherwise neutral.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classification scores each post against eight word sets and picks the best match. Keyword extraction counts single words and two-word phrases across posts and uses a min-heap to keep the top 24. In the dashboard, size shows frequency and colour shows average sentiment.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find emerging discussions we split the date range into an earlier half and a recent half, and compare how often each term appears relative to the size of each window. The chart shows real output from the demo data: deepfake went from 2 posts to 22, and ai regulation from 2 to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DSA connection. Hash maps and sets give constant-time lookups for the lexicon and topic tables. A min-heap of size K selects the top keywords in n log K time. The two-window comparison finds growth in a single pass. Arrays and sorting handle the ordered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figures come from our built-in demo dataset of 131 simulated posts over 14 days. The cards show the sentiment split, the doughnut shows counts, and the bar chart shows posts per topic. The live page also has a line chart over time, a keyword cloud, emerging discussions and a post table. Switch to the browser here for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the live demo here. Run the server, show the dashboard loading the demo data, then paste a few of your own lines and click Analyze. Point out how adding dates switches on the trend chart and the emerging discussions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groups of users: businesses analysing customers and markets, researchers monitoring sentiment and events, and media organisations tracking what the public is talking about. The banner summarises our four advantages.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the limits: our sentiment uses a hand-built word list, topics use keyword matching and the demo data is simulated. The future scope lists the natural upgrades, mainly trained models, live data feeds and a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engine combines collection, processing, NLP analysis and visualisation in one platform so users can understand large volumes of online information quickly. Thank the guide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rtlCol="0"/>
          <a:lstStyle>
            <a:lvl1pPr indent="0" marL="0">
              <a:buNone/>
              <a:defRPr lang="en-US" sz="3600" b="1" dirty="0">
                <a:solidFill>
                  <a:schemeClr val="tx1"/>
                </a:solidFill>
              </a:defRPr>
            </a:lvl1pPr>
          </a:lstStyle>
          <a:p>
            <a:pPr indent="0" marL="0">
              <a:buNone/>
            </a:pPr>
            <a:endParaRPr lang="en-US" sz="3600" dirty="0"/>
          </a:p>
        </p:txBody>
      </p:sp>
      <p:sp>
        <p:nvSpPr>
          <p:cNvPr id="3"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News &amp; Social Media Analytics Engine  ·  Team 35</a:t>
            </a:r>
            <a:endParaRPr lang="en-US" sz="1000" dirty="0"/>
          </a:p>
        </p:txBody>
      </p:sp>
      <p:sp>
        <p:nvSpPr>
          <p:cNvPr id="25" name="Slide Number Placeholder 0"/>
          <p:cNvSpPr>
            <a:spLocks noGrp="1"/>
          </p:cNvSpPr>
          <p:nvPr>
            <p:ph type="sldNum" sz="quarter" idx="4294967295"/>
          </p:nvPr>
        </p:nvSpPr>
        <p:spPr>
          <a:xfrm>
            <a:off x="11155680" y="6419088"/>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TINT">
    <p:bg>
      <p:bgPr>
        <a:solidFill>
          <a:srgbClr val="EAF3F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rtlCol="0"/>
          <a:lstStyle>
            <a:lvl1pPr indent="0" marL="0">
              <a:buNone/>
              <a:defRPr lang="en-US" sz="3600" b="1" dirty="0">
                <a:solidFill>
                  <a:schemeClr val="tx1"/>
                </a:solidFill>
              </a:defRPr>
            </a:lvl1pPr>
          </a:lstStyle>
          <a:p>
            <a:pPr indent="0" marL="0">
              <a:buNone/>
            </a:pPr>
            <a:endParaRPr lang="en-US" sz="3600" dirty="0"/>
          </a:p>
        </p:txBody>
      </p:sp>
      <p:sp>
        <p:nvSpPr>
          <p:cNvPr id="3"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News &amp; Social Media Analytics Engine  ·  Team 35</a:t>
            </a:r>
            <a:endParaRPr lang="en-US" sz="1000" dirty="0"/>
          </a:p>
        </p:txBody>
      </p:sp>
      <p:sp>
        <p:nvSpPr>
          <p:cNvPr id="25" name="Slide Number Placeholder 0"/>
          <p:cNvSpPr>
            <a:spLocks noGrp="1"/>
          </p:cNvSpPr>
          <p:nvPr>
            <p:ph type="sldNum" sz="quarter" idx="4294967295"/>
          </p:nvPr>
        </p:nvSpPr>
        <p:spPr>
          <a:xfrm>
            <a:off x="11155680" y="6419088"/>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102B3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rtlCol="0"/>
          <a:lstStyle>
            <a:lvl1pPr indent="0" marL="0">
              <a:buNone/>
              <a:defRPr lang="en-US" sz="3600" b="1" dirty="0">
                <a:solidFill>
                  <a:schemeClr val="bg1"/>
                </a:solidFill>
              </a:defRPr>
            </a:lvl1pPr>
          </a:lstStyle>
          <a:p>
            <a:pPr indent="0" marL="0">
              <a:buNone/>
            </a:pPr>
            <a:endParaRPr lang="en-US" sz="3600" dirty="0"/>
          </a:p>
        </p:txBody>
      </p:sp>
      <p:sp>
        <p:nvSpPr>
          <p:cNvPr id="3"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News &amp; Social Media Analytics Engine  ·  Team 35</a:t>
            </a:r>
            <a:endParaRPr lang="en-US" sz="1000" dirty="0"/>
          </a:p>
        </p:txBody>
      </p:sp>
      <p:sp>
        <p:nvSpPr>
          <p:cNvPr id="25" name="Slide Number Placeholder 0"/>
          <p:cNvSpPr>
            <a:spLocks noGrp="1"/>
          </p:cNvSpPr>
          <p:nvPr>
            <p:ph type="sldNum" sz="quarter" idx="4294967295"/>
          </p:nvPr>
        </p:nvSpPr>
        <p:spPr>
          <a:xfrm>
            <a:off x="11155680" y="6419088"/>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02B3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371600"/>
            <a:ext cx="7223760" cy="2103120"/>
          </a:xfrm>
          <a:prstGeom prst="rect">
            <a:avLst/>
          </a:prstGeom>
          <a:noFill/>
          <a:ln/>
        </p:spPr>
        <p:txBody>
          <a:bodyPr wrap="square" rtlCol="0"/>
          <a:lstStyle>
            <a:lvl1pPr indent="0" marL="0">
              <a:buNone/>
              <a:defRPr lang="en-US" sz="4800" b="1" dirty="0">
                <a:solidFill>
                  <a:schemeClr val="bg1"/>
                </a:solidFill>
              </a:defRPr>
            </a:lvl1pPr>
          </a:lstStyle>
          <a:p>
            <a:pPr indent="0" marL="0">
              <a:buNone/>
            </a:pPr>
            <a:endParaRPr lang="en-US" sz="4800" dirty="0"/>
          </a:p>
        </p:txBody>
      </p:sp>
      <p:sp>
        <p:nvSpPr>
          <p:cNvPr id="3" name="Text 0"/>
          <p:cNvSpPr/>
          <p:nvPr>
            <p:ph idx="101" type="body" hasCustomPrompt="1"/>
          </p:nvPr>
        </p:nvSpPr>
        <p:spPr>
          <a:xfrm>
            <a:off x="731520" y="3611880"/>
            <a:ext cx="7223760" cy="1005840"/>
          </a:xfrm>
          <a:prstGeom prst="rect">
            <a:avLst/>
          </a:prstGeom>
          <a:noFill/>
          <a:ln/>
        </p:spPr>
        <p:txBody>
          <a:bodyPr wrap="square" rtlCol="0"/>
          <a:lstStyle>
            <a:lvl1pPr indent="0" marL="0">
              <a:buNone/>
              <a:defRPr lang="en-US" sz="2000" dirty="0">
                <a:solidFill>
                  <a:schemeClr val="accent4"/>
                </a:solidFill>
              </a:defRPr>
            </a:lvl1pPr>
          </a:lstStyle>
          <a:p>
            <a:pPr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5.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5.xml"/><Relationship Id="rId6"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777240"/>
            <a:ext cx="7315200" cy="320040"/>
          </a:xfrm>
          <a:prstGeom prst="rect">
            <a:avLst/>
          </a:prstGeom>
          <a:noFill/>
          <a:ln/>
        </p:spPr>
        <p:txBody>
          <a:bodyPr wrap="square" lIns="0" tIns="0" rIns="0" bIns="0" rtlCol="0" anchor="t"/>
          <a:lstStyle/>
          <a:p>
            <a:pPr indent="0" marL="0">
              <a:buNone/>
            </a:pPr>
            <a:r>
              <a:rPr lang="en-US" sz="1200" b="1" spc="200" kern="0" dirty="0">
                <a:solidFill>
                  <a:schemeClr val="accent2"/>
                </a:solidFill>
              </a:rPr>
              <a:t>DATA STRUCTURES AND ALGORITHMS-3  ·  25CS2103E</a:t>
            </a:r>
            <a:endParaRPr lang="en-US" sz="1200" dirty="0"/>
          </a:p>
        </p:txBody>
      </p:sp>
      <p:sp>
        <p:nvSpPr>
          <p:cNvPr id="3" name="Text 0"/>
          <p:cNvSpPr/>
          <p:nvPr>
            <p:ph idx="100" type="title" hasCustomPrompt="1"/>
          </p:nvPr>
        </p:nvSpPr>
        <p:spPr>
          <a:xfrm>
            <a:off x="731520" y="1371600"/>
            <a:ext cx="7223760" cy="2103120"/>
          </a:xfrm>
          <a:prstGeom prst="rect">
            <a:avLst/>
          </a:prstGeom>
          <a:noFill/>
          <a:ln/>
        </p:spPr>
        <p:txBody>
          <a:bodyPr wrap="square" lIns="0" tIns="0" rIns="0" bIns="0" rtlCol="0" anchor="t"/>
          <a:lstStyle/>
          <a:p>
            <a:pPr indent="0" marL="0">
              <a:buNone/>
            </a:pPr>
            <a:r>
              <a:rPr lang="en-US" sz="4800" b="1" dirty="0">
                <a:solidFill>
                  <a:schemeClr val="bg1"/>
                </a:solidFill>
              </a:rPr>
              <a:t>News &amp; Social Media</a:t>
            </a:r>
            <a:endParaRPr lang="en-US" sz="4800" dirty="0"/>
          </a:p>
          <a:p>
            <a:pPr indent="0" marL="0">
              <a:buNone/>
            </a:pPr>
            <a:r>
              <a:rPr lang="en-US" sz="4800" b="1" dirty="0">
                <a:solidFill>
                  <a:schemeClr val="bg1"/>
                </a:solidFill>
              </a:rPr>
              <a:t>Analytics Engine</a:t>
            </a:r>
            <a:endParaRPr lang="en-US" sz="4800" dirty="0"/>
          </a:p>
        </p:txBody>
      </p:sp>
      <p:sp>
        <p:nvSpPr>
          <p:cNvPr id="4" name="Text 0"/>
          <p:cNvSpPr/>
          <p:nvPr>
            <p:ph idx="101" type="body" hasCustomPrompt="1"/>
          </p:nvPr>
        </p:nvSpPr>
        <p:spPr>
          <a:xfrm>
            <a:off x="731520" y="3611880"/>
            <a:ext cx="7223760" cy="1005840"/>
          </a:xfrm>
          <a:prstGeom prst="rect">
            <a:avLst/>
          </a:prstGeom>
          <a:noFill/>
          <a:ln/>
        </p:spPr>
        <p:txBody>
          <a:bodyPr wrap="square" lIns="0" tIns="0" rIns="0" bIns="0" rtlCol="0" anchor="t"/>
          <a:lstStyle/>
          <a:p>
            <a:pPr indent="0" marL="0">
              <a:buNone/>
            </a:pPr>
            <a:r>
              <a:rPr lang="en-US" sz="2000" dirty="0">
                <a:solidFill>
                  <a:schemeClr val="accent4"/>
                </a:solidFill>
              </a:rPr>
              <a:t>From raw posts to actionable insight</a:t>
            </a:r>
            <a:endParaRPr lang="en-US" sz="2000" dirty="0"/>
          </a:p>
        </p:txBody>
      </p:sp>
      <p:sp>
        <p:nvSpPr>
          <p:cNvPr id="5" name="Text 3"/>
          <p:cNvSpPr txBox="1"/>
          <p:nvPr/>
        </p:nvSpPr>
        <p:spPr>
          <a:xfrm>
            <a:off x="731520" y="4526280"/>
            <a:ext cx="7223760" cy="320040"/>
          </a:xfrm>
          <a:prstGeom prst="rect">
            <a:avLst/>
          </a:prstGeom>
          <a:noFill/>
          <a:ln/>
        </p:spPr>
        <p:txBody>
          <a:bodyPr wrap="square" lIns="0" tIns="0" rIns="0" bIns="0" rtlCol="0" anchor="t"/>
          <a:lstStyle/>
          <a:p>
            <a:pPr indent="0" marL="0">
              <a:buNone/>
            </a:pPr>
            <a:r>
              <a:rPr lang="en-US" sz="1400" b="1" dirty="0">
                <a:solidFill>
                  <a:schemeClr val="accent4"/>
                </a:solidFill>
              </a:rPr>
              <a:t>Team 35  ·  Section 12  ·  A.Y. 2026–2027</a:t>
            </a:r>
            <a:endParaRPr lang="en-US" sz="1400" dirty="0"/>
          </a:p>
        </p:txBody>
      </p:sp>
      <p:sp>
        <p:nvSpPr>
          <p:cNvPr id="6" name="Text 4"/>
          <p:cNvSpPr txBox="1"/>
          <p:nvPr/>
        </p:nvSpPr>
        <p:spPr>
          <a:xfrm>
            <a:off x="731520" y="4937760"/>
            <a:ext cx="7223760" cy="320040"/>
          </a:xfrm>
          <a:prstGeom prst="rect">
            <a:avLst/>
          </a:prstGeom>
          <a:noFill/>
          <a:ln/>
        </p:spPr>
        <p:txBody>
          <a:bodyPr wrap="square" lIns="0" tIns="0" rIns="0" bIns="0" rtlCol="0" anchor="t"/>
          <a:lstStyle/>
          <a:p>
            <a:pPr indent="0" marL="0">
              <a:buNone/>
            </a:pPr>
            <a:r>
              <a:rPr lang="en-US" sz="1400" dirty="0">
                <a:solidFill>
                  <a:schemeClr val="bg1"/>
                </a:solidFill>
              </a:rPr>
              <a:t>I. Nandini (2520090230)   ·   M. Sameeksha (2520090229)</a:t>
            </a:r>
            <a:endParaRPr lang="en-US" sz="1400" dirty="0"/>
          </a:p>
        </p:txBody>
      </p:sp>
      <p:sp>
        <p:nvSpPr>
          <p:cNvPr id="7" name="Text 5"/>
          <p:cNvSpPr txBox="1"/>
          <p:nvPr/>
        </p:nvSpPr>
        <p:spPr>
          <a:xfrm>
            <a:off x="731520" y="5303520"/>
            <a:ext cx="7223760" cy="320040"/>
          </a:xfrm>
          <a:prstGeom prst="rect">
            <a:avLst/>
          </a:prstGeom>
          <a:noFill/>
          <a:ln/>
        </p:spPr>
        <p:txBody>
          <a:bodyPr wrap="square" lIns="0" tIns="0" rIns="0" bIns="0" rtlCol="0" anchor="t"/>
          <a:lstStyle/>
          <a:p>
            <a:pPr indent="0" marL="0">
              <a:buNone/>
            </a:pPr>
            <a:r>
              <a:rPr lang="en-US" sz="1400" dirty="0">
                <a:solidFill>
                  <a:schemeClr val="bg1"/>
                </a:solidFill>
              </a:rPr>
              <a:t>Under the guidance of Ms. K. Chandusha, Asst. Professor, CSIT</a:t>
            </a:r>
            <a:endParaRPr lang="en-US" sz="1400" dirty="0"/>
          </a:p>
        </p:txBody>
      </p:sp>
      <p:sp>
        <p:nvSpPr>
          <p:cNvPr id="8" name="Connector 1"/>
          <p:cNvSpPr/>
          <p:nvPr/>
        </p:nvSpPr>
        <p:spPr>
          <a:xfrm>
            <a:off x="9052560" y="1883664"/>
            <a:ext cx="0" cy="301752"/>
          </a:xfrm>
          <a:prstGeom prst="line">
            <a:avLst/>
          </a:prstGeom>
          <a:noFill/>
          <a:ln w="25400">
            <a:solidFill>
              <a:schemeClr val="accent6"/>
            </a:solidFill>
            <a:prstDash val="solid"/>
          </a:ln>
        </p:spPr>
      </p:sp>
      <p:sp>
        <p:nvSpPr>
          <p:cNvPr id="9" name="COLLECT icon circle"/>
          <p:cNvSpPr/>
          <p:nvPr/>
        </p:nvSpPr>
        <p:spPr>
          <a:xfrm>
            <a:off x="8595360" y="914400"/>
            <a:ext cx="914400" cy="914400"/>
          </a:xfrm>
          <a:prstGeom prst="ellipse">
            <a:avLst/>
          </a:prstGeom>
          <a:solidFill>
            <a:schemeClr val="accent1"/>
          </a:solidFill>
          <a:ln/>
        </p:spPr>
      </p:sp>
      <p:pic>
        <p:nvPicPr>
          <p:cNvPr id="10" name="COLLECT icon" descr="COLLECT icon">    </p:cNvPr>
          <p:cNvPicPr>
            <a:picLocks noChangeAspect="1"/>
          </p:cNvPicPr>
          <p:nvPr/>
        </p:nvPicPr>
        <p:blipFill>
          <a:blip r:embed="rId1"/>
          <a:stretch>
            <a:fillRect/>
          </a:stretch>
        </p:blipFill>
        <p:spPr>
          <a:xfrm>
            <a:off x="8842248" y="1161288"/>
            <a:ext cx="420624" cy="420624"/>
          </a:xfrm>
          <a:prstGeom prst="rect">
            <a:avLst/>
          </a:prstGeom>
        </p:spPr>
      </p:pic>
      <p:sp>
        <p:nvSpPr>
          <p:cNvPr id="11" name="Text 8"/>
          <p:cNvSpPr txBox="1"/>
          <p:nvPr/>
        </p:nvSpPr>
        <p:spPr>
          <a:xfrm>
            <a:off x="9784080" y="1170432"/>
            <a:ext cx="2011680" cy="411480"/>
          </a:xfrm>
          <a:prstGeom prst="rect">
            <a:avLst/>
          </a:prstGeom>
          <a:noFill/>
          <a:ln/>
        </p:spPr>
        <p:txBody>
          <a:bodyPr wrap="square" lIns="0" tIns="0" rIns="0" bIns="0" rtlCol="0" anchor="ctr"/>
          <a:lstStyle/>
          <a:p>
            <a:pPr indent="0" marL="0">
              <a:buNone/>
            </a:pPr>
            <a:r>
              <a:rPr lang="en-US" sz="1800" b="1" spc="200" kern="0" dirty="0">
                <a:solidFill>
                  <a:schemeClr val="bg1"/>
                </a:solidFill>
              </a:rPr>
              <a:t>COLLECT</a:t>
            </a:r>
            <a:endParaRPr lang="en-US" sz="1800" dirty="0"/>
          </a:p>
        </p:txBody>
      </p:sp>
      <p:sp>
        <p:nvSpPr>
          <p:cNvPr id="12" name="Connector 2"/>
          <p:cNvSpPr/>
          <p:nvPr/>
        </p:nvSpPr>
        <p:spPr>
          <a:xfrm>
            <a:off x="9052560" y="3209544"/>
            <a:ext cx="0" cy="301752"/>
          </a:xfrm>
          <a:prstGeom prst="line">
            <a:avLst/>
          </a:prstGeom>
          <a:noFill/>
          <a:ln w="25400">
            <a:solidFill>
              <a:schemeClr val="accent6"/>
            </a:solidFill>
            <a:prstDash val="solid"/>
          </a:ln>
        </p:spPr>
      </p:sp>
      <p:sp>
        <p:nvSpPr>
          <p:cNvPr id="13" name="PROCESS icon circle"/>
          <p:cNvSpPr/>
          <p:nvPr/>
        </p:nvSpPr>
        <p:spPr>
          <a:xfrm>
            <a:off x="8595360" y="2240280"/>
            <a:ext cx="914400" cy="914400"/>
          </a:xfrm>
          <a:prstGeom prst="ellipse">
            <a:avLst/>
          </a:prstGeom>
          <a:solidFill>
            <a:schemeClr val="accent2"/>
          </a:solidFill>
          <a:ln/>
        </p:spPr>
      </p:sp>
      <p:pic>
        <p:nvPicPr>
          <p:cNvPr id="14" name="PROCESS icon" descr="PROCESS icon">    </p:cNvPr>
          <p:cNvPicPr>
            <a:picLocks noChangeAspect="1"/>
          </p:cNvPicPr>
          <p:nvPr/>
        </p:nvPicPr>
        <p:blipFill>
          <a:blip r:embed="rId2"/>
          <a:stretch>
            <a:fillRect/>
          </a:stretch>
        </p:blipFill>
        <p:spPr>
          <a:xfrm>
            <a:off x="8842248" y="2487168"/>
            <a:ext cx="420624" cy="420624"/>
          </a:xfrm>
          <a:prstGeom prst="rect">
            <a:avLst/>
          </a:prstGeom>
        </p:spPr>
      </p:pic>
      <p:sp>
        <p:nvSpPr>
          <p:cNvPr id="15" name="Text 11"/>
          <p:cNvSpPr txBox="1"/>
          <p:nvPr/>
        </p:nvSpPr>
        <p:spPr>
          <a:xfrm>
            <a:off x="9784080" y="2496312"/>
            <a:ext cx="2011680" cy="411480"/>
          </a:xfrm>
          <a:prstGeom prst="rect">
            <a:avLst/>
          </a:prstGeom>
          <a:noFill/>
          <a:ln/>
        </p:spPr>
        <p:txBody>
          <a:bodyPr wrap="square" lIns="0" tIns="0" rIns="0" bIns="0" rtlCol="0" anchor="ctr"/>
          <a:lstStyle/>
          <a:p>
            <a:pPr indent="0" marL="0">
              <a:buNone/>
            </a:pPr>
            <a:r>
              <a:rPr lang="en-US" sz="1800" b="1" spc="200" kern="0" dirty="0">
                <a:solidFill>
                  <a:schemeClr val="bg1"/>
                </a:solidFill>
              </a:rPr>
              <a:t>PROCESS</a:t>
            </a:r>
            <a:endParaRPr lang="en-US" sz="1800" dirty="0"/>
          </a:p>
        </p:txBody>
      </p:sp>
      <p:sp>
        <p:nvSpPr>
          <p:cNvPr id="16" name="Connector 3"/>
          <p:cNvSpPr/>
          <p:nvPr/>
        </p:nvSpPr>
        <p:spPr>
          <a:xfrm>
            <a:off x="9052560" y="4535424"/>
            <a:ext cx="0" cy="301752"/>
          </a:xfrm>
          <a:prstGeom prst="line">
            <a:avLst/>
          </a:prstGeom>
          <a:noFill/>
          <a:ln w="25400">
            <a:solidFill>
              <a:schemeClr val="accent6"/>
            </a:solidFill>
            <a:prstDash val="solid"/>
          </a:ln>
        </p:spPr>
      </p:sp>
      <p:sp>
        <p:nvSpPr>
          <p:cNvPr id="17" name="ANALYZE icon circle"/>
          <p:cNvSpPr/>
          <p:nvPr/>
        </p:nvSpPr>
        <p:spPr>
          <a:xfrm>
            <a:off x="8595360" y="3566160"/>
            <a:ext cx="914400" cy="914400"/>
          </a:xfrm>
          <a:prstGeom prst="ellipse">
            <a:avLst/>
          </a:prstGeom>
          <a:solidFill>
            <a:schemeClr val="accent3"/>
          </a:solidFill>
          <a:ln/>
        </p:spPr>
      </p:sp>
      <p:pic>
        <p:nvPicPr>
          <p:cNvPr id="18" name="ANALYZE icon" descr="ANALYZE icon">    </p:cNvPr>
          <p:cNvPicPr>
            <a:picLocks noChangeAspect="1"/>
          </p:cNvPicPr>
          <p:nvPr/>
        </p:nvPicPr>
        <p:blipFill>
          <a:blip r:embed="rId3"/>
          <a:stretch>
            <a:fillRect/>
          </a:stretch>
        </p:blipFill>
        <p:spPr>
          <a:xfrm>
            <a:off x="8842248" y="3813048"/>
            <a:ext cx="420624" cy="420624"/>
          </a:xfrm>
          <a:prstGeom prst="rect">
            <a:avLst/>
          </a:prstGeom>
        </p:spPr>
      </p:pic>
      <p:sp>
        <p:nvSpPr>
          <p:cNvPr id="19" name="Text 14"/>
          <p:cNvSpPr txBox="1"/>
          <p:nvPr/>
        </p:nvSpPr>
        <p:spPr>
          <a:xfrm>
            <a:off x="9784080" y="3822192"/>
            <a:ext cx="2011680" cy="411480"/>
          </a:xfrm>
          <a:prstGeom prst="rect">
            <a:avLst/>
          </a:prstGeom>
          <a:noFill/>
          <a:ln/>
        </p:spPr>
        <p:txBody>
          <a:bodyPr wrap="square" lIns="0" tIns="0" rIns="0" bIns="0" rtlCol="0" anchor="ctr"/>
          <a:lstStyle/>
          <a:p>
            <a:pPr indent="0" marL="0">
              <a:buNone/>
            </a:pPr>
            <a:r>
              <a:rPr lang="en-US" sz="1800" b="1" spc="200" kern="0" dirty="0">
                <a:solidFill>
                  <a:schemeClr val="bg1"/>
                </a:solidFill>
              </a:rPr>
              <a:t>ANALYZE</a:t>
            </a:r>
            <a:endParaRPr lang="en-US" sz="1800" dirty="0"/>
          </a:p>
        </p:txBody>
      </p:sp>
      <p:sp>
        <p:nvSpPr>
          <p:cNvPr id="20" name="PRESENT icon circle"/>
          <p:cNvSpPr/>
          <p:nvPr/>
        </p:nvSpPr>
        <p:spPr>
          <a:xfrm>
            <a:off x="8595360" y="4892040"/>
            <a:ext cx="914400" cy="914400"/>
          </a:xfrm>
          <a:prstGeom prst="ellipse">
            <a:avLst/>
          </a:prstGeom>
          <a:solidFill>
            <a:schemeClr val="accent4"/>
          </a:solidFill>
          <a:ln/>
        </p:spPr>
      </p:sp>
      <p:pic>
        <p:nvPicPr>
          <p:cNvPr id="21" name="PRESENT icon" descr="PRESENT icon">    </p:cNvPr>
          <p:cNvPicPr>
            <a:picLocks noChangeAspect="1"/>
          </p:cNvPicPr>
          <p:nvPr/>
        </p:nvPicPr>
        <p:blipFill>
          <a:blip r:embed="rId4"/>
          <a:stretch>
            <a:fillRect/>
          </a:stretch>
        </p:blipFill>
        <p:spPr>
          <a:xfrm>
            <a:off x="8842248" y="5138928"/>
            <a:ext cx="420624" cy="420624"/>
          </a:xfrm>
          <a:prstGeom prst="rect">
            <a:avLst/>
          </a:prstGeom>
        </p:spPr>
      </p:pic>
      <p:sp>
        <p:nvSpPr>
          <p:cNvPr id="22" name="Text 16"/>
          <p:cNvSpPr txBox="1"/>
          <p:nvPr/>
        </p:nvSpPr>
        <p:spPr>
          <a:xfrm>
            <a:off x="9784080" y="5148072"/>
            <a:ext cx="2011680" cy="411480"/>
          </a:xfrm>
          <a:prstGeom prst="rect">
            <a:avLst/>
          </a:prstGeom>
          <a:noFill/>
          <a:ln/>
        </p:spPr>
        <p:txBody>
          <a:bodyPr wrap="square" lIns="0" tIns="0" rIns="0" bIns="0" rtlCol="0" anchor="ctr"/>
          <a:lstStyle/>
          <a:p>
            <a:pPr indent="0" marL="0">
              <a:buNone/>
            </a:pPr>
            <a:r>
              <a:rPr lang="en-US" sz="1800" b="1" spc="200" kern="0" dirty="0">
                <a:solidFill>
                  <a:schemeClr val="bg1"/>
                </a:solidFill>
              </a:rPr>
              <a:t>PRESENT</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indent="0" marL="0">
              <a:buNone/>
            </a:pPr>
            <a:r>
              <a:rPr lang="en-US" sz="3600" b="1" dirty="0">
                <a:solidFill>
                  <a:schemeClr val="tx1"/>
                </a:solidFill>
              </a:rPr>
              <a:t>Why we need an analytics engine</a:t>
            </a:r>
            <a:endParaRPr lang="en-US" sz="3600" dirty="0"/>
          </a:p>
        </p:txBody>
      </p:sp>
      <p:sp>
        <p:nvSpPr>
          <p:cNvPr id="3" name="Problem card 1"/>
          <p:cNvSpPr/>
          <p:nvPr/>
        </p:nvSpPr>
        <p:spPr>
          <a:xfrm>
            <a:off x="548640" y="1600200"/>
            <a:ext cx="3456432" cy="3108960"/>
          </a:xfrm>
          <a:prstGeom prst="roundRect">
            <a:avLst>
              <a:gd name="adj" fmla="val 3529"/>
            </a:avLst>
          </a:prstGeom>
          <a:solidFill>
            <a:schemeClr val="bg2"/>
          </a:solidFill>
          <a:ln/>
        </p:spPr>
      </p:sp>
      <p:sp>
        <p:nvSpPr>
          <p:cNvPr id="4" name="Large volumes circle"/>
          <p:cNvSpPr/>
          <p:nvPr/>
        </p:nvSpPr>
        <p:spPr>
          <a:xfrm>
            <a:off x="868680" y="1920240"/>
            <a:ext cx="822960" cy="822960"/>
          </a:xfrm>
          <a:prstGeom prst="ellipse">
            <a:avLst/>
          </a:prstGeom>
          <a:solidFill>
            <a:schemeClr val="accent1"/>
          </a:solidFill>
          <a:ln/>
        </p:spPr>
      </p:sp>
      <p:pic>
        <p:nvPicPr>
          <p:cNvPr id="5" name="Large volumes" descr="Large volumes">    </p:cNvPr>
          <p:cNvPicPr>
            <a:picLocks noChangeAspect="1"/>
          </p:cNvPicPr>
          <p:nvPr/>
        </p:nvPicPr>
        <p:blipFill>
          <a:blip r:embed="rId1"/>
          <a:stretch>
            <a:fillRect/>
          </a:stretch>
        </p:blipFill>
        <p:spPr>
          <a:xfrm>
            <a:off x="1090879" y="2142439"/>
            <a:ext cx="378562" cy="378562"/>
          </a:xfrm>
          <a:prstGeom prst="rect">
            <a:avLst/>
          </a:prstGeom>
        </p:spPr>
      </p:pic>
      <p:sp>
        <p:nvSpPr>
          <p:cNvPr id="6" name="Text 3"/>
          <p:cNvSpPr txBox="1"/>
          <p:nvPr/>
        </p:nvSpPr>
        <p:spPr>
          <a:xfrm>
            <a:off x="868680" y="2971800"/>
            <a:ext cx="2834640" cy="411480"/>
          </a:xfrm>
          <a:prstGeom prst="rect">
            <a:avLst/>
          </a:prstGeom>
          <a:noFill/>
          <a:ln/>
        </p:spPr>
        <p:txBody>
          <a:bodyPr wrap="square" lIns="0" tIns="0" rIns="0" bIns="0" rtlCol="0" anchor="t"/>
          <a:lstStyle/>
          <a:p>
            <a:pPr indent="0" marL="0">
              <a:buNone/>
            </a:pPr>
            <a:r>
              <a:rPr lang="en-US" sz="2200" b="1" dirty="0">
                <a:solidFill>
                  <a:schemeClr val="tx1"/>
                </a:solidFill>
              </a:rPr>
              <a:t>Large volumes</a:t>
            </a:r>
            <a:endParaRPr lang="en-US" sz="2200" dirty="0"/>
          </a:p>
        </p:txBody>
      </p:sp>
      <p:sp>
        <p:nvSpPr>
          <p:cNvPr id="7" name="Text 4"/>
          <p:cNvSpPr txBox="1"/>
          <p:nvPr/>
        </p:nvSpPr>
        <p:spPr>
          <a:xfrm>
            <a:off x="868680" y="3520440"/>
            <a:ext cx="2834640" cy="914400"/>
          </a:xfrm>
          <a:prstGeom prst="rect">
            <a:avLst/>
          </a:prstGeom>
          <a:noFill/>
          <a:ln/>
        </p:spPr>
        <p:txBody>
          <a:bodyPr wrap="square" lIns="0" tIns="0" rIns="0" bIns="0" rtlCol="0" anchor="t"/>
          <a:lstStyle/>
          <a:p>
            <a:pPr indent="0" marL="0">
              <a:buNone/>
            </a:pPr>
            <a:r>
              <a:rPr lang="en-US" sz="1600" dirty="0">
                <a:solidFill>
                  <a:schemeClr val="tx1"/>
                </a:solidFill>
              </a:rPr>
              <a:t>News, posts and comments keep arriving every minute.</a:t>
            </a:r>
            <a:endParaRPr lang="en-US" sz="1600" dirty="0"/>
          </a:p>
        </p:txBody>
      </p:sp>
      <p:sp>
        <p:nvSpPr>
          <p:cNvPr id="8" name="Problem card 2"/>
          <p:cNvSpPr/>
          <p:nvPr/>
        </p:nvSpPr>
        <p:spPr>
          <a:xfrm>
            <a:off x="4370832" y="1600200"/>
            <a:ext cx="3456432" cy="3108960"/>
          </a:xfrm>
          <a:prstGeom prst="roundRect">
            <a:avLst>
              <a:gd name="adj" fmla="val 3529"/>
            </a:avLst>
          </a:prstGeom>
          <a:solidFill>
            <a:schemeClr val="bg2"/>
          </a:solidFill>
          <a:ln/>
        </p:spPr>
      </p:sp>
      <p:sp>
        <p:nvSpPr>
          <p:cNvPr id="9" name="Unstructured content circle"/>
          <p:cNvSpPr/>
          <p:nvPr/>
        </p:nvSpPr>
        <p:spPr>
          <a:xfrm>
            <a:off x="4690872" y="1920240"/>
            <a:ext cx="822960" cy="822960"/>
          </a:xfrm>
          <a:prstGeom prst="ellipse">
            <a:avLst/>
          </a:prstGeom>
          <a:solidFill>
            <a:schemeClr val="accent2"/>
          </a:solidFill>
          <a:ln/>
        </p:spPr>
      </p:sp>
      <p:pic>
        <p:nvPicPr>
          <p:cNvPr id="10" name="Unstructured content" descr="Unstructured content">    </p:cNvPr>
          <p:cNvPicPr>
            <a:picLocks noChangeAspect="1"/>
          </p:cNvPicPr>
          <p:nvPr/>
        </p:nvPicPr>
        <p:blipFill>
          <a:blip r:embed="rId2"/>
          <a:stretch>
            <a:fillRect/>
          </a:stretch>
        </p:blipFill>
        <p:spPr>
          <a:xfrm>
            <a:off x="4913071" y="2142439"/>
            <a:ext cx="378562" cy="378562"/>
          </a:xfrm>
          <a:prstGeom prst="rect">
            <a:avLst/>
          </a:prstGeom>
        </p:spPr>
      </p:pic>
      <p:sp>
        <p:nvSpPr>
          <p:cNvPr id="11" name="Text 7"/>
          <p:cNvSpPr txBox="1"/>
          <p:nvPr/>
        </p:nvSpPr>
        <p:spPr>
          <a:xfrm>
            <a:off x="4690872" y="2971800"/>
            <a:ext cx="2834640" cy="411480"/>
          </a:xfrm>
          <a:prstGeom prst="rect">
            <a:avLst/>
          </a:prstGeom>
          <a:noFill/>
          <a:ln/>
        </p:spPr>
        <p:txBody>
          <a:bodyPr wrap="square" lIns="0" tIns="0" rIns="0" bIns="0" rtlCol="0" anchor="t"/>
          <a:lstStyle/>
          <a:p>
            <a:pPr indent="0" marL="0">
              <a:buNone/>
            </a:pPr>
            <a:r>
              <a:rPr lang="en-US" sz="2200" b="1" dirty="0">
                <a:solidFill>
                  <a:schemeClr val="tx1"/>
                </a:solidFill>
              </a:rPr>
              <a:t>Unstructured content</a:t>
            </a:r>
            <a:endParaRPr lang="en-US" sz="2200" dirty="0"/>
          </a:p>
        </p:txBody>
      </p:sp>
      <p:sp>
        <p:nvSpPr>
          <p:cNvPr id="12" name="Text 8"/>
          <p:cNvSpPr txBox="1"/>
          <p:nvPr/>
        </p:nvSpPr>
        <p:spPr>
          <a:xfrm>
            <a:off x="4690872" y="3520440"/>
            <a:ext cx="2834640" cy="914400"/>
          </a:xfrm>
          <a:prstGeom prst="rect">
            <a:avLst/>
          </a:prstGeom>
          <a:noFill/>
          <a:ln/>
        </p:spPr>
        <p:txBody>
          <a:bodyPr wrap="square" lIns="0" tIns="0" rIns="0" bIns="0" rtlCol="0" anchor="t"/>
          <a:lstStyle/>
          <a:p>
            <a:pPr indent="0" marL="0">
              <a:buNone/>
            </a:pPr>
            <a:r>
              <a:rPr lang="en-US" sz="1600" dirty="0">
                <a:solidFill>
                  <a:schemeClr val="tx1"/>
                </a:solidFill>
              </a:rPr>
              <a:t>Raw text has no labels, so tools cannot read it directly.</a:t>
            </a:r>
            <a:endParaRPr lang="en-US" sz="1600" dirty="0"/>
          </a:p>
        </p:txBody>
      </p:sp>
      <p:sp>
        <p:nvSpPr>
          <p:cNvPr id="13" name="Problem card 3"/>
          <p:cNvSpPr/>
          <p:nvPr/>
        </p:nvSpPr>
        <p:spPr>
          <a:xfrm>
            <a:off x="8193024" y="1600200"/>
            <a:ext cx="3456432" cy="3108960"/>
          </a:xfrm>
          <a:prstGeom prst="roundRect">
            <a:avLst>
              <a:gd name="adj" fmla="val 3529"/>
            </a:avLst>
          </a:prstGeom>
          <a:solidFill>
            <a:schemeClr val="bg2"/>
          </a:solidFill>
          <a:ln/>
        </p:spPr>
      </p:sp>
      <p:sp>
        <p:nvSpPr>
          <p:cNvPr id="14" name="Scattered meaning circle"/>
          <p:cNvSpPr/>
          <p:nvPr/>
        </p:nvSpPr>
        <p:spPr>
          <a:xfrm>
            <a:off x="8513064" y="1920240"/>
            <a:ext cx="822960" cy="822960"/>
          </a:xfrm>
          <a:prstGeom prst="ellipse">
            <a:avLst/>
          </a:prstGeom>
          <a:solidFill>
            <a:schemeClr val="accent3"/>
          </a:solidFill>
          <a:ln/>
        </p:spPr>
      </p:sp>
      <p:pic>
        <p:nvPicPr>
          <p:cNvPr id="15" name="Scattered meaning" descr="Scattered meaning">    </p:cNvPr>
          <p:cNvPicPr>
            <a:picLocks noChangeAspect="1"/>
          </p:cNvPicPr>
          <p:nvPr/>
        </p:nvPicPr>
        <p:blipFill>
          <a:blip r:embed="rId3"/>
          <a:stretch>
            <a:fillRect/>
          </a:stretch>
        </p:blipFill>
        <p:spPr>
          <a:xfrm>
            <a:off x="8735263" y="2142439"/>
            <a:ext cx="378562" cy="378562"/>
          </a:xfrm>
          <a:prstGeom prst="rect">
            <a:avLst/>
          </a:prstGeom>
        </p:spPr>
      </p:pic>
      <p:sp>
        <p:nvSpPr>
          <p:cNvPr id="16" name="Text 11"/>
          <p:cNvSpPr txBox="1"/>
          <p:nvPr/>
        </p:nvSpPr>
        <p:spPr>
          <a:xfrm>
            <a:off x="8513064" y="2971800"/>
            <a:ext cx="2834640" cy="411480"/>
          </a:xfrm>
          <a:prstGeom prst="rect">
            <a:avLst/>
          </a:prstGeom>
          <a:noFill/>
          <a:ln/>
        </p:spPr>
        <p:txBody>
          <a:bodyPr wrap="square" lIns="0" tIns="0" rIns="0" bIns="0" rtlCol="0" anchor="t"/>
          <a:lstStyle/>
          <a:p>
            <a:pPr indent="0" marL="0">
              <a:buNone/>
            </a:pPr>
            <a:r>
              <a:rPr lang="en-US" sz="2200" b="1" dirty="0">
                <a:solidFill>
                  <a:schemeClr val="tx1"/>
                </a:solidFill>
              </a:rPr>
              <a:t>Scattered meaning</a:t>
            </a:r>
            <a:endParaRPr lang="en-US" sz="2200" dirty="0"/>
          </a:p>
        </p:txBody>
      </p:sp>
      <p:sp>
        <p:nvSpPr>
          <p:cNvPr id="17" name="Text 12"/>
          <p:cNvSpPr txBox="1"/>
          <p:nvPr/>
        </p:nvSpPr>
        <p:spPr>
          <a:xfrm>
            <a:off x="8513064" y="3520440"/>
            <a:ext cx="2834640" cy="914400"/>
          </a:xfrm>
          <a:prstGeom prst="rect">
            <a:avLst/>
          </a:prstGeom>
          <a:noFill/>
          <a:ln/>
        </p:spPr>
        <p:txBody>
          <a:bodyPr wrap="square" lIns="0" tIns="0" rIns="0" bIns="0" rtlCol="0" anchor="t"/>
          <a:lstStyle/>
          <a:p>
            <a:pPr indent="0" marL="0">
              <a:buNone/>
            </a:pPr>
            <a:r>
              <a:rPr lang="en-US" sz="1600" dirty="0">
                <a:solidFill>
                  <a:schemeClr val="tx1"/>
                </a:solidFill>
              </a:rPr>
              <a:t>Sentiment and trends are hidden inside the noise.</a:t>
            </a:r>
            <a:endParaRPr lang="en-US" sz="1600" dirty="0"/>
          </a:p>
        </p:txBody>
      </p:sp>
      <p:sp>
        <p:nvSpPr>
          <p:cNvPr id="18" name="Solution banner"/>
          <p:cNvSpPr txBox="1"/>
          <p:nvPr/>
        </p:nvSpPr>
        <p:spPr>
          <a:xfrm>
            <a:off x="548640" y="5029200"/>
            <a:ext cx="11091672" cy="914400"/>
          </a:xfrm>
          <a:prstGeom prst="roundRect">
            <a:avLst>
              <a:gd name="adj" fmla="val 12000"/>
            </a:avLst>
          </a:prstGeom>
          <a:solidFill>
            <a:schemeClr val="tx1"/>
          </a:solidFill>
          <a:ln/>
        </p:spPr>
        <p:txBody>
          <a:bodyPr wrap="square" lIns="0" tIns="5080" rIns="5080" bIns="0" rtlCol="0" anchor="ctr"/>
          <a:lstStyle/>
          <a:p>
            <a:pPr algn="l" indent="0" marL="0">
              <a:buNone/>
            </a:pPr>
            <a:r>
              <a:rPr lang="en-US" sz="2000" b="1" dirty="0">
                <a:solidFill>
                  <a:schemeClr val="bg1"/>
                </a:solidFill>
              </a:rPr>
              <a:t>A centralized engine turns this stream into clear, actionable insight.</a:t>
            </a:r>
            <a:endParaRPr lang="en-US" sz="2000" dirty="0"/>
          </a:p>
        </p:txBody>
      </p:sp>
      <p:sp>
        <p:nvSpPr>
          <p:cNvPr id="25" name="Slide Number Placeholder 0"/>
          <p:cNvSpPr>
            <a:spLocks noGrp="1"/>
          </p:cNvSpPr>
          <p:nvPr>
            <p:ph type="sldNum" sz="quarter" idx="4294967295"/>
          </p:nvPr>
        </p:nvSpPr>
        <p:spPr>
          <a:xfrm>
            <a:off x="11155680" y="6419088"/>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indent="0" marL="0">
              <a:buNone/>
            </a:pPr>
            <a:r>
              <a:rPr lang="en-US" sz="3600" b="1" dirty="0">
                <a:solidFill>
                  <a:schemeClr val="bg1"/>
                </a:solidFill>
              </a:rPr>
              <a:t>Our solution: four stages</a:t>
            </a:r>
            <a:endParaRPr lang="en-US" sz="3600" dirty="0"/>
          </a:p>
        </p:txBody>
      </p:sp>
      <p:sp>
        <p:nvSpPr>
          <p:cNvPr id="3" name="Stage card 1"/>
          <p:cNvSpPr/>
          <p:nvPr/>
        </p:nvSpPr>
        <p:spPr>
          <a:xfrm>
            <a:off x="548640" y="1554480"/>
            <a:ext cx="2468880" cy="3200400"/>
          </a:xfrm>
          <a:prstGeom prst="roundRect">
            <a:avLst>
              <a:gd name="adj" fmla="val 4444"/>
            </a:avLst>
          </a:prstGeom>
          <a:solidFill>
            <a:schemeClr val="accent6"/>
          </a:solidFill>
          <a:ln/>
        </p:spPr>
      </p:sp>
      <p:sp>
        <p:nvSpPr>
          <p:cNvPr id="4" name="COLLECT circle"/>
          <p:cNvSpPr/>
          <p:nvPr/>
        </p:nvSpPr>
        <p:spPr>
          <a:xfrm>
            <a:off x="822960" y="1828800"/>
            <a:ext cx="822960" cy="822960"/>
          </a:xfrm>
          <a:prstGeom prst="ellipse">
            <a:avLst/>
          </a:prstGeom>
          <a:solidFill>
            <a:schemeClr val="accent1"/>
          </a:solidFill>
          <a:ln/>
        </p:spPr>
      </p:sp>
      <p:pic>
        <p:nvPicPr>
          <p:cNvPr id="5" name="COLLECT" descr="COLLECT">    </p:cNvPr>
          <p:cNvPicPr>
            <a:picLocks noChangeAspect="1"/>
          </p:cNvPicPr>
          <p:nvPr/>
        </p:nvPicPr>
        <p:blipFill>
          <a:blip r:embed="rId1"/>
          <a:stretch>
            <a:fillRect/>
          </a:stretch>
        </p:blipFill>
        <p:spPr>
          <a:xfrm>
            <a:off x="1045159" y="2050999"/>
            <a:ext cx="378562" cy="378562"/>
          </a:xfrm>
          <a:prstGeom prst="rect">
            <a:avLst/>
          </a:prstGeom>
        </p:spPr>
      </p:pic>
      <p:sp>
        <p:nvSpPr>
          <p:cNvPr id="6" name="Text 3"/>
          <p:cNvSpPr txBox="1"/>
          <p:nvPr/>
        </p:nvSpPr>
        <p:spPr>
          <a:xfrm>
            <a:off x="2240280" y="1874520"/>
            <a:ext cx="502920" cy="365760"/>
          </a:xfrm>
          <a:prstGeom prst="rect">
            <a:avLst/>
          </a:prstGeom>
          <a:noFill/>
          <a:ln/>
        </p:spPr>
        <p:txBody>
          <a:bodyPr wrap="square" lIns="0" tIns="0" rIns="0" bIns="0" rtlCol="0" anchor="t"/>
          <a:lstStyle/>
          <a:p>
            <a:pPr algn="r" indent="0" marL="0">
              <a:buNone/>
            </a:pPr>
            <a:r>
              <a:rPr lang="en-US" sz="1600" b="1" dirty="0">
                <a:solidFill>
                  <a:schemeClr val="accent4"/>
                </a:solidFill>
              </a:rPr>
              <a:t>01</a:t>
            </a:r>
            <a:endParaRPr lang="en-US" sz="1600" dirty="0"/>
          </a:p>
        </p:txBody>
      </p:sp>
      <p:sp>
        <p:nvSpPr>
          <p:cNvPr id="7" name="Text 4"/>
          <p:cNvSpPr txBox="1"/>
          <p:nvPr/>
        </p:nvSpPr>
        <p:spPr>
          <a:xfrm>
            <a:off x="822960" y="2834640"/>
            <a:ext cx="2011680" cy="320040"/>
          </a:xfrm>
          <a:prstGeom prst="rect">
            <a:avLst/>
          </a:prstGeom>
          <a:noFill/>
          <a:ln/>
        </p:spPr>
        <p:txBody>
          <a:bodyPr wrap="square" lIns="0" tIns="0" rIns="0" bIns="0" rtlCol="0" anchor="t"/>
          <a:lstStyle/>
          <a:p>
            <a:pPr indent="0" marL="0">
              <a:buNone/>
            </a:pPr>
            <a:r>
              <a:rPr lang="en-US" sz="1400" b="1" spc="200" kern="0" dirty="0">
                <a:solidFill>
                  <a:schemeClr val="accent2"/>
                </a:solidFill>
              </a:rPr>
              <a:t>COLLECT</a:t>
            </a:r>
            <a:endParaRPr lang="en-US" sz="1400" dirty="0"/>
          </a:p>
        </p:txBody>
      </p:sp>
      <p:sp>
        <p:nvSpPr>
          <p:cNvPr id="8" name="Text 5"/>
          <p:cNvSpPr txBox="1"/>
          <p:nvPr/>
        </p:nvSpPr>
        <p:spPr>
          <a:xfrm>
            <a:off x="822960" y="3246120"/>
            <a:ext cx="1965960" cy="1371600"/>
          </a:xfrm>
          <a:prstGeom prst="rect">
            <a:avLst/>
          </a:prstGeom>
          <a:noFill/>
          <a:ln/>
        </p:spPr>
        <p:txBody>
          <a:bodyPr wrap="square" lIns="0" tIns="0" rIns="0" bIns="0" rtlCol="0" anchor="t"/>
          <a:lstStyle/>
          <a:p>
            <a:pPr indent="0" marL="0">
              <a:buNone/>
            </a:pPr>
            <a:r>
              <a:rPr lang="en-US" sz="1500" dirty="0">
                <a:solidFill>
                  <a:schemeClr val="bg1"/>
                </a:solidFill>
              </a:rPr>
              <a:t>News articles, social posts and comments, one post per line with optional date and source.</a:t>
            </a:r>
            <a:endParaRPr lang="en-US" sz="1500" dirty="0"/>
          </a:p>
        </p:txBody>
      </p:sp>
      <p:sp>
        <p:nvSpPr>
          <p:cNvPr id="9" name="Text 6"/>
          <p:cNvSpPr txBox="1"/>
          <p:nvPr/>
        </p:nvSpPr>
        <p:spPr>
          <a:xfrm>
            <a:off x="548640" y="5029200"/>
            <a:ext cx="2468880" cy="411480"/>
          </a:xfrm>
          <a:prstGeom prst="roundRect">
            <a:avLst>
              <a:gd name="adj" fmla="val 44444"/>
            </a:avLst>
          </a:prstGeom>
          <a:solidFill>
            <a:schemeClr val="accent1"/>
          </a:solid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parseItems()</a:t>
            </a:r>
            <a:endParaRPr lang="en-US" sz="1300" dirty="0"/>
          </a:p>
        </p:txBody>
      </p:sp>
      <p:sp>
        <p:nvSpPr>
          <p:cNvPr id="10" name="Text 7"/>
          <p:cNvSpPr txBox="1"/>
          <p:nvPr/>
        </p:nvSpPr>
        <p:spPr>
          <a:xfrm>
            <a:off x="3017520" y="2788920"/>
            <a:ext cx="405079" cy="548640"/>
          </a:xfrm>
          <a:prstGeom prst="rect">
            <a:avLst/>
          </a:prstGeom>
          <a:noFill/>
          <a:ln/>
        </p:spPr>
        <p:txBody>
          <a:bodyPr wrap="square" lIns="0" tIns="0" rIns="0" bIns="0" rtlCol="0" anchor="ctr"/>
          <a:lstStyle/>
          <a:p>
            <a:pPr algn="ctr" indent="0" marL="0">
              <a:buNone/>
            </a:pPr>
            <a:r>
              <a:rPr lang="en-US" sz="2800" b="1" dirty="0">
                <a:solidFill>
                  <a:schemeClr val="accent2"/>
                </a:solidFill>
              </a:rPr>
              <a:t>→</a:t>
            </a:r>
            <a:endParaRPr lang="en-US" sz="2800" dirty="0"/>
          </a:p>
        </p:txBody>
      </p:sp>
      <p:sp>
        <p:nvSpPr>
          <p:cNvPr id="11" name="Stage card 2"/>
          <p:cNvSpPr/>
          <p:nvPr/>
        </p:nvSpPr>
        <p:spPr>
          <a:xfrm>
            <a:off x="3422599" y="1554480"/>
            <a:ext cx="2468880" cy="3200400"/>
          </a:xfrm>
          <a:prstGeom prst="roundRect">
            <a:avLst>
              <a:gd name="adj" fmla="val 4444"/>
            </a:avLst>
          </a:prstGeom>
          <a:solidFill>
            <a:schemeClr val="accent6"/>
          </a:solidFill>
          <a:ln/>
        </p:spPr>
      </p:sp>
      <p:sp>
        <p:nvSpPr>
          <p:cNvPr id="12" name="PROCESS circle"/>
          <p:cNvSpPr/>
          <p:nvPr/>
        </p:nvSpPr>
        <p:spPr>
          <a:xfrm>
            <a:off x="3696919" y="1828800"/>
            <a:ext cx="822960" cy="822960"/>
          </a:xfrm>
          <a:prstGeom prst="ellipse">
            <a:avLst/>
          </a:prstGeom>
          <a:solidFill>
            <a:schemeClr val="accent2"/>
          </a:solidFill>
          <a:ln/>
        </p:spPr>
      </p:sp>
      <p:pic>
        <p:nvPicPr>
          <p:cNvPr id="13" name="PROCESS" descr="PROCESS">    </p:cNvPr>
          <p:cNvPicPr>
            <a:picLocks noChangeAspect="1"/>
          </p:cNvPicPr>
          <p:nvPr/>
        </p:nvPicPr>
        <p:blipFill>
          <a:blip r:embed="rId2"/>
          <a:stretch>
            <a:fillRect/>
          </a:stretch>
        </p:blipFill>
        <p:spPr>
          <a:xfrm>
            <a:off x="3919118" y="2050999"/>
            <a:ext cx="378562" cy="378562"/>
          </a:xfrm>
          <a:prstGeom prst="rect">
            <a:avLst/>
          </a:prstGeom>
        </p:spPr>
      </p:pic>
      <p:sp>
        <p:nvSpPr>
          <p:cNvPr id="14" name="Text 10"/>
          <p:cNvSpPr txBox="1"/>
          <p:nvPr/>
        </p:nvSpPr>
        <p:spPr>
          <a:xfrm>
            <a:off x="5114239" y="1874520"/>
            <a:ext cx="502920" cy="365760"/>
          </a:xfrm>
          <a:prstGeom prst="rect">
            <a:avLst/>
          </a:prstGeom>
          <a:noFill/>
          <a:ln/>
        </p:spPr>
        <p:txBody>
          <a:bodyPr wrap="square" lIns="0" tIns="0" rIns="0" bIns="0" rtlCol="0" anchor="t"/>
          <a:lstStyle/>
          <a:p>
            <a:pPr algn="r" indent="0" marL="0">
              <a:buNone/>
            </a:pPr>
            <a:r>
              <a:rPr lang="en-US" sz="1600" b="1" dirty="0">
                <a:solidFill>
                  <a:schemeClr val="accent4"/>
                </a:solidFill>
              </a:rPr>
              <a:t>02</a:t>
            </a:r>
            <a:endParaRPr lang="en-US" sz="1600" dirty="0"/>
          </a:p>
        </p:txBody>
      </p:sp>
      <p:sp>
        <p:nvSpPr>
          <p:cNvPr id="15" name="Text 11"/>
          <p:cNvSpPr txBox="1"/>
          <p:nvPr/>
        </p:nvSpPr>
        <p:spPr>
          <a:xfrm>
            <a:off x="3696919" y="2834640"/>
            <a:ext cx="2011680" cy="320040"/>
          </a:xfrm>
          <a:prstGeom prst="rect">
            <a:avLst/>
          </a:prstGeom>
          <a:noFill/>
          <a:ln/>
        </p:spPr>
        <p:txBody>
          <a:bodyPr wrap="square" lIns="0" tIns="0" rIns="0" bIns="0" rtlCol="0" anchor="t"/>
          <a:lstStyle/>
          <a:p>
            <a:pPr indent="0" marL="0">
              <a:buNone/>
            </a:pPr>
            <a:r>
              <a:rPr lang="en-US" sz="1400" b="1" spc="200" kern="0" dirty="0">
                <a:solidFill>
                  <a:schemeClr val="accent2"/>
                </a:solidFill>
              </a:rPr>
              <a:t>PROCESS</a:t>
            </a:r>
            <a:endParaRPr lang="en-US" sz="1400" dirty="0"/>
          </a:p>
        </p:txBody>
      </p:sp>
      <p:sp>
        <p:nvSpPr>
          <p:cNvPr id="16" name="Text 12"/>
          <p:cNvSpPr txBox="1"/>
          <p:nvPr/>
        </p:nvSpPr>
        <p:spPr>
          <a:xfrm>
            <a:off x="3696919" y="3246120"/>
            <a:ext cx="1965960" cy="1371600"/>
          </a:xfrm>
          <a:prstGeom prst="rect">
            <a:avLst/>
          </a:prstGeom>
          <a:noFill/>
          <a:ln/>
        </p:spPr>
        <p:txBody>
          <a:bodyPr wrap="square" lIns="0" tIns="0" rIns="0" bIns="0" rtlCol="0" anchor="t"/>
          <a:lstStyle/>
          <a:p>
            <a:pPr indent="0" marL="0">
              <a:buNone/>
            </a:pPr>
            <a:r>
              <a:rPr lang="en-US" sz="1500" dirty="0">
                <a:solidFill>
                  <a:schemeClr val="bg1"/>
                </a:solidFill>
              </a:rPr>
              <a:t>Tokenise the text, remove links and stop words, and match word forms.</a:t>
            </a:r>
            <a:endParaRPr lang="en-US" sz="1500" dirty="0"/>
          </a:p>
        </p:txBody>
      </p:sp>
      <p:sp>
        <p:nvSpPr>
          <p:cNvPr id="17" name="Text 13"/>
          <p:cNvSpPr txBox="1"/>
          <p:nvPr/>
        </p:nvSpPr>
        <p:spPr>
          <a:xfrm>
            <a:off x="3422599" y="5029200"/>
            <a:ext cx="2468880" cy="411480"/>
          </a:xfrm>
          <a:prstGeom prst="roundRect">
            <a:avLst>
              <a:gd name="adj" fmla="val 44444"/>
            </a:avLst>
          </a:prstGeom>
          <a:solidFill>
            <a:schemeClr val="accent1"/>
          </a:solid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tokenize()</a:t>
            </a:r>
            <a:endParaRPr lang="en-US" sz="1300" dirty="0"/>
          </a:p>
        </p:txBody>
      </p:sp>
      <p:sp>
        <p:nvSpPr>
          <p:cNvPr id="18" name="Text 14"/>
          <p:cNvSpPr txBox="1"/>
          <p:nvPr/>
        </p:nvSpPr>
        <p:spPr>
          <a:xfrm>
            <a:off x="5891479" y="2788920"/>
            <a:ext cx="405079" cy="548640"/>
          </a:xfrm>
          <a:prstGeom prst="rect">
            <a:avLst/>
          </a:prstGeom>
          <a:noFill/>
          <a:ln/>
        </p:spPr>
        <p:txBody>
          <a:bodyPr wrap="square" lIns="0" tIns="0" rIns="0" bIns="0" rtlCol="0" anchor="ctr"/>
          <a:lstStyle/>
          <a:p>
            <a:pPr algn="ctr" indent="0" marL="0">
              <a:buNone/>
            </a:pPr>
            <a:r>
              <a:rPr lang="en-US" sz="2800" b="1" dirty="0">
                <a:solidFill>
                  <a:schemeClr val="accent2"/>
                </a:solidFill>
              </a:rPr>
              <a:t>→</a:t>
            </a:r>
            <a:endParaRPr lang="en-US" sz="2800" dirty="0"/>
          </a:p>
        </p:txBody>
      </p:sp>
      <p:sp>
        <p:nvSpPr>
          <p:cNvPr id="19" name="Stage card 3"/>
          <p:cNvSpPr/>
          <p:nvPr/>
        </p:nvSpPr>
        <p:spPr>
          <a:xfrm>
            <a:off x="6296558" y="1554480"/>
            <a:ext cx="2468880" cy="3200400"/>
          </a:xfrm>
          <a:prstGeom prst="roundRect">
            <a:avLst>
              <a:gd name="adj" fmla="val 4444"/>
            </a:avLst>
          </a:prstGeom>
          <a:solidFill>
            <a:schemeClr val="accent6"/>
          </a:solidFill>
          <a:ln/>
        </p:spPr>
      </p:sp>
      <p:sp>
        <p:nvSpPr>
          <p:cNvPr id="20" name="ANALYZE circle"/>
          <p:cNvSpPr/>
          <p:nvPr/>
        </p:nvSpPr>
        <p:spPr>
          <a:xfrm>
            <a:off x="6570878" y="1828800"/>
            <a:ext cx="822960" cy="822960"/>
          </a:xfrm>
          <a:prstGeom prst="ellipse">
            <a:avLst/>
          </a:prstGeom>
          <a:solidFill>
            <a:schemeClr val="accent3"/>
          </a:solidFill>
          <a:ln/>
        </p:spPr>
      </p:sp>
      <p:pic>
        <p:nvPicPr>
          <p:cNvPr id="21" name="ANALYZE" descr="ANALYZE">    </p:cNvPr>
          <p:cNvPicPr>
            <a:picLocks noChangeAspect="1"/>
          </p:cNvPicPr>
          <p:nvPr/>
        </p:nvPicPr>
        <p:blipFill>
          <a:blip r:embed="rId3"/>
          <a:stretch>
            <a:fillRect/>
          </a:stretch>
        </p:blipFill>
        <p:spPr>
          <a:xfrm>
            <a:off x="6793078" y="2050999"/>
            <a:ext cx="378562" cy="378562"/>
          </a:xfrm>
          <a:prstGeom prst="rect">
            <a:avLst/>
          </a:prstGeom>
        </p:spPr>
      </p:pic>
      <p:sp>
        <p:nvSpPr>
          <p:cNvPr id="22" name="Text 17"/>
          <p:cNvSpPr txBox="1"/>
          <p:nvPr/>
        </p:nvSpPr>
        <p:spPr>
          <a:xfrm>
            <a:off x="7988198" y="1874520"/>
            <a:ext cx="502920" cy="365760"/>
          </a:xfrm>
          <a:prstGeom prst="rect">
            <a:avLst/>
          </a:prstGeom>
          <a:noFill/>
          <a:ln/>
        </p:spPr>
        <p:txBody>
          <a:bodyPr wrap="square" lIns="0" tIns="0" rIns="0" bIns="0" rtlCol="0" anchor="t"/>
          <a:lstStyle/>
          <a:p>
            <a:pPr algn="r" indent="0" marL="0">
              <a:buNone/>
            </a:pPr>
            <a:r>
              <a:rPr lang="en-US" sz="1600" b="1" dirty="0">
                <a:solidFill>
                  <a:schemeClr val="accent4"/>
                </a:solidFill>
              </a:rPr>
              <a:t>03</a:t>
            </a:r>
            <a:endParaRPr lang="en-US" sz="1600" dirty="0"/>
          </a:p>
        </p:txBody>
      </p:sp>
      <p:sp>
        <p:nvSpPr>
          <p:cNvPr id="23" name="Text 18"/>
          <p:cNvSpPr txBox="1"/>
          <p:nvPr/>
        </p:nvSpPr>
        <p:spPr>
          <a:xfrm>
            <a:off x="6570878" y="2834640"/>
            <a:ext cx="2011680" cy="320040"/>
          </a:xfrm>
          <a:prstGeom prst="rect">
            <a:avLst/>
          </a:prstGeom>
          <a:noFill/>
          <a:ln/>
        </p:spPr>
        <p:txBody>
          <a:bodyPr wrap="square" lIns="0" tIns="0" rIns="0" bIns="0" rtlCol="0" anchor="t"/>
          <a:lstStyle/>
          <a:p>
            <a:pPr indent="0" marL="0">
              <a:buNone/>
            </a:pPr>
            <a:r>
              <a:rPr lang="en-US" sz="1400" b="1" spc="200" kern="0" dirty="0">
                <a:solidFill>
                  <a:schemeClr val="accent2"/>
                </a:solidFill>
              </a:rPr>
              <a:t>ANALYZE</a:t>
            </a:r>
            <a:endParaRPr lang="en-US" sz="1400" dirty="0"/>
          </a:p>
        </p:txBody>
      </p:sp>
      <p:sp>
        <p:nvSpPr>
          <p:cNvPr id="24" name="Text 19"/>
          <p:cNvSpPr txBox="1"/>
          <p:nvPr/>
        </p:nvSpPr>
        <p:spPr>
          <a:xfrm>
            <a:off x="6570878" y="3246120"/>
            <a:ext cx="1965960" cy="1371600"/>
          </a:xfrm>
          <a:prstGeom prst="rect">
            <a:avLst/>
          </a:prstGeom>
          <a:noFill/>
          <a:ln/>
        </p:spPr>
        <p:txBody>
          <a:bodyPr wrap="square" lIns="0" tIns="0" rIns="0" bIns="0" rtlCol="0" anchor="t"/>
          <a:lstStyle/>
          <a:p>
            <a:pPr indent="0" marL="0">
              <a:buNone/>
            </a:pPr>
            <a:r>
              <a:rPr lang="en-US" sz="1500" dirty="0">
                <a:solidFill>
                  <a:schemeClr val="bg1"/>
                </a:solidFill>
              </a:rPr>
              <a:t>Sentiment, keywords, topics and trend detection using NLP.</a:t>
            </a:r>
            <a:endParaRPr lang="en-US" sz="1500" dirty="0"/>
          </a:p>
        </p:txBody>
      </p:sp>
      <p:sp>
        <p:nvSpPr>
          <p:cNvPr id="25" name="Text 20"/>
          <p:cNvSpPr txBox="1"/>
          <p:nvPr/>
        </p:nvSpPr>
        <p:spPr>
          <a:xfrm>
            <a:off x="6296558" y="5029200"/>
            <a:ext cx="2468880" cy="411480"/>
          </a:xfrm>
          <a:prstGeom prst="roundRect">
            <a:avLst>
              <a:gd name="adj" fmla="val 44444"/>
            </a:avLst>
          </a:prstGeom>
          <a:solidFill>
            <a:schemeClr val="accent1"/>
          </a:solid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analyze()</a:t>
            </a:r>
            <a:endParaRPr lang="en-US" sz="1300" dirty="0"/>
          </a:p>
        </p:txBody>
      </p:sp>
      <p:sp>
        <p:nvSpPr>
          <p:cNvPr id="26" name="Text 21"/>
          <p:cNvSpPr txBox="1"/>
          <p:nvPr/>
        </p:nvSpPr>
        <p:spPr>
          <a:xfrm>
            <a:off x="8765438" y="2788920"/>
            <a:ext cx="405079" cy="548640"/>
          </a:xfrm>
          <a:prstGeom prst="rect">
            <a:avLst/>
          </a:prstGeom>
          <a:noFill/>
          <a:ln/>
        </p:spPr>
        <p:txBody>
          <a:bodyPr wrap="square" lIns="0" tIns="0" rIns="0" bIns="0" rtlCol="0" anchor="ctr"/>
          <a:lstStyle/>
          <a:p>
            <a:pPr algn="ctr" indent="0" marL="0">
              <a:buNone/>
            </a:pPr>
            <a:r>
              <a:rPr lang="en-US" sz="2800" b="1" dirty="0">
                <a:solidFill>
                  <a:schemeClr val="accent2"/>
                </a:solidFill>
              </a:rPr>
              <a:t>→</a:t>
            </a:r>
            <a:endParaRPr lang="en-US" sz="2800" dirty="0"/>
          </a:p>
        </p:txBody>
      </p:sp>
      <p:sp>
        <p:nvSpPr>
          <p:cNvPr id="27" name="Stage card 4"/>
          <p:cNvSpPr/>
          <p:nvPr/>
        </p:nvSpPr>
        <p:spPr>
          <a:xfrm>
            <a:off x="9170518" y="1554480"/>
            <a:ext cx="2468880" cy="3200400"/>
          </a:xfrm>
          <a:prstGeom prst="roundRect">
            <a:avLst>
              <a:gd name="adj" fmla="val 4444"/>
            </a:avLst>
          </a:prstGeom>
          <a:solidFill>
            <a:schemeClr val="accent6"/>
          </a:solidFill>
          <a:ln/>
        </p:spPr>
      </p:sp>
      <p:sp>
        <p:nvSpPr>
          <p:cNvPr id="28" name="PRESENT circle"/>
          <p:cNvSpPr/>
          <p:nvPr/>
        </p:nvSpPr>
        <p:spPr>
          <a:xfrm>
            <a:off x="9444838" y="1828800"/>
            <a:ext cx="822960" cy="822960"/>
          </a:xfrm>
          <a:prstGeom prst="ellipse">
            <a:avLst/>
          </a:prstGeom>
          <a:solidFill>
            <a:schemeClr val="accent4"/>
          </a:solidFill>
          <a:ln/>
        </p:spPr>
      </p:sp>
      <p:pic>
        <p:nvPicPr>
          <p:cNvPr id="29" name="PRESENT" descr="PRESENT">    </p:cNvPr>
          <p:cNvPicPr>
            <a:picLocks noChangeAspect="1"/>
          </p:cNvPicPr>
          <p:nvPr/>
        </p:nvPicPr>
        <p:blipFill>
          <a:blip r:embed="rId4"/>
          <a:stretch>
            <a:fillRect/>
          </a:stretch>
        </p:blipFill>
        <p:spPr>
          <a:xfrm>
            <a:off x="9667037" y="2050999"/>
            <a:ext cx="378562" cy="378562"/>
          </a:xfrm>
          <a:prstGeom prst="rect">
            <a:avLst/>
          </a:prstGeom>
        </p:spPr>
      </p:pic>
      <p:sp>
        <p:nvSpPr>
          <p:cNvPr id="30" name="Text 24"/>
          <p:cNvSpPr txBox="1"/>
          <p:nvPr/>
        </p:nvSpPr>
        <p:spPr>
          <a:xfrm>
            <a:off x="10862158" y="1874520"/>
            <a:ext cx="502920" cy="365760"/>
          </a:xfrm>
          <a:prstGeom prst="rect">
            <a:avLst/>
          </a:prstGeom>
          <a:noFill/>
          <a:ln/>
        </p:spPr>
        <p:txBody>
          <a:bodyPr wrap="square" lIns="0" tIns="0" rIns="0" bIns="0" rtlCol="0" anchor="t"/>
          <a:lstStyle/>
          <a:p>
            <a:pPr algn="r" indent="0" marL="0">
              <a:buNone/>
            </a:pPr>
            <a:r>
              <a:rPr lang="en-US" sz="1600" b="1" dirty="0">
                <a:solidFill>
                  <a:schemeClr val="accent4"/>
                </a:solidFill>
              </a:rPr>
              <a:t>04</a:t>
            </a:r>
            <a:endParaRPr lang="en-US" sz="1600" dirty="0"/>
          </a:p>
        </p:txBody>
      </p:sp>
      <p:sp>
        <p:nvSpPr>
          <p:cNvPr id="31" name="Text 25"/>
          <p:cNvSpPr txBox="1"/>
          <p:nvPr/>
        </p:nvSpPr>
        <p:spPr>
          <a:xfrm>
            <a:off x="9444838" y="2834640"/>
            <a:ext cx="2011680" cy="320040"/>
          </a:xfrm>
          <a:prstGeom prst="rect">
            <a:avLst/>
          </a:prstGeom>
          <a:noFill/>
          <a:ln/>
        </p:spPr>
        <p:txBody>
          <a:bodyPr wrap="square" lIns="0" tIns="0" rIns="0" bIns="0" rtlCol="0" anchor="t"/>
          <a:lstStyle/>
          <a:p>
            <a:pPr indent="0" marL="0">
              <a:buNone/>
            </a:pPr>
            <a:r>
              <a:rPr lang="en-US" sz="1400" b="1" spc="200" kern="0" dirty="0">
                <a:solidFill>
                  <a:schemeClr val="accent2"/>
                </a:solidFill>
              </a:rPr>
              <a:t>PRESENT</a:t>
            </a:r>
            <a:endParaRPr lang="en-US" sz="1400" dirty="0"/>
          </a:p>
        </p:txBody>
      </p:sp>
      <p:sp>
        <p:nvSpPr>
          <p:cNvPr id="32" name="Text 26"/>
          <p:cNvSpPr txBox="1"/>
          <p:nvPr/>
        </p:nvSpPr>
        <p:spPr>
          <a:xfrm>
            <a:off x="9444838" y="3246120"/>
            <a:ext cx="1965960" cy="1371600"/>
          </a:xfrm>
          <a:prstGeom prst="rect">
            <a:avLst/>
          </a:prstGeom>
          <a:noFill/>
          <a:ln/>
        </p:spPr>
        <p:txBody>
          <a:bodyPr wrap="square" lIns="0" tIns="0" rIns="0" bIns="0" rtlCol="0" anchor="t"/>
          <a:lstStyle/>
          <a:p>
            <a:pPr indent="0" marL="0">
              <a:buNone/>
            </a:pPr>
            <a:r>
              <a:rPr lang="en-US" sz="1500" dirty="0">
                <a:solidFill>
                  <a:schemeClr val="bg1"/>
                </a:solidFill>
              </a:rPr>
              <a:t>A dashboard with charts, graphs and a filterable post table.</a:t>
            </a:r>
            <a:endParaRPr lang="en-US" sz="1500" dirty="0"/>
          </a:p>
        </p:txBody>
      </p:sp>
      <p:sp>
        <p:nvSpPr>
          <p:cNvPr id="33" name="Text 27"/>
          <p:cNvSpPr txBox="1"/>
          <p:nvPr/>
        </p:nvSpPr>
        <p:spPr>
          <a:xfrm>
            <a:off x="9170518" y="5029200"/>
            <a:ext cx="2468880" cy="411480"/>
          </a:xfrm>
          <a:prstGeom prst="roundRect">
            <a:avLst>
              <a:gd name="adj" fmla="val 44444"/>
            </a:avLst>
          </a:prstGeom>
          <a:solidFill>
            <a:schemeClr val="accent1"/>
          </a:solid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app.js</a:t>
            </a:r>
            <a:endParaRPr lang="en-US" sz="1300" dirty="0"/>
          </a:p>
        </p:txBody>
      </p:sp>
      <p:sp>
        <p:nvSpPr>
          <p:cNvPr id="34" name="Text 28"/>
          <p:cNvSpPr txBox="1"/>
          <p:nvPr/>
        </p:nvSpPr>
        <p:spPr>
          <a:xfrm>
            <a:off x="548640" y="5623560"/>
            <a:ext cx="11091672" cy="320040"/>
          </a:xfrm>
          <a:prstGeom prst="rect">
            <a:avLst/>
          </a:prstGeom>
          <a:noFill/>
          <a:ln/>
        </p:spPr>
        <p:txBody>
          <a:bodyPr wrap="square" lIns="0" tIns="0" rIns="0" bIns="0" rtlCol="0" anchor="t"/>
          <a:lstStyle/>
          <a:p>
            <a:pPr indent="0" marL="0">
              <a:buNone/>
            </a:pPr>
            <a:r>
              <a:rPr lang="en-US" sz="1400" dirty="0">
                <a:solidFill>
                  <a:schemeClr val="accent4"/>
                </a:solidFill>
              </a:rPr>
              <a:t>Where each stage lives in the Java code and the front end</a:t>
            </a:r>
            <a:endParaRPr lang="en-US" sz="1400" dirty="0"/>
          </a:p>
        </p:txBody>
      </p:sp>
      <p:sp>
        <p:nvSpPr>
          <p:cNvPr id="25" name="Slide Number Placeholder 0"/>
          <p:cNvSpPr>
            <a:spLocks noGrp="1"/>
          </p:cNvSpPr>
          <p:nvPr>
            <p:ph type="sldNum" sz="quarter" idx="4294967295"/>
          </p:nvPr>
        </p:nvSpPr>
        <p:spPr>
          <a:xfrm>
            <a:off x="11155680" y="6419088"/>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indent="0" marL="0">
              <a:buNone/>
            </a:pPr>
            <a:r>
              <a:rPr lang="en-US" sz="3600" b="1" dirty="0">
                <a:solidFill>
                  <a:schemeClr val="tx1"/>
                </a:solidFill>
              </a:rPr>
              <a:t>How the system is built</a:t>
            </a:r>
            <a:endParaRPr lang="en-US" sz="3600" dirty="0"/>
          </a:p>
        </p:txBody>
      </p:sp>
      <p:sp>
        <p:nvSpPr>
          <p:cNvPr id="3" name="Browser (frontend) box"/>
          <p:cNvSpPr/>
          <p:nvPr/>
        </p:nvSpPr>
        <p:spPr>
          <a:xfrm>
            <a:off x="548640" y="1554480"/>
            <a:ext cx="3566160" cy="3977640"/>
          </a:xfrm>
          <a:prstGeom prst="roundRect">
            <a:avLst>
              <a:gd name="adj" fmla="val 3077"/>
            </a:avLst>
          </a:prstGeom>
          <a:solidFill>
            <a:schemeClr val="bg2"/>
          </a:solidFill>
          <a:ln/>
        </p:spPr>
      </p:sp>
      <p:sp>
        <p:nvSpPr>
          <p:cNvPr id="4" name="Browser (frontend) circle"/>
          <p:cNvSpPr/>
          <p:nvPr/>
        </p:nvSpPr>
        <p:spPr>
          <a:xfrm>
            <a:off x="822960" y="1783080"/>
            <a:ext cx="731520" cy="731520"/>
          </a:xfrm>
          <a:prstGeom prst="ellipse">
            <a:avLst/>
          </a:prstGeom>
          <a:solidFill>
            <a:schemeClr val="accent1"/>
          </a:solidFill>
          <a:ln/>
        </p:spPr>
      </p:sp>
      <p:pic>
        <p:nvPicPr>
          <p:cNvPr id="5" name="Browser (frontend)" descr="Browser (frontend)">    </p:cNvPr>
          <p:cNvPicPr>
            <a:picLocks noChangeAspect="1"/>
          </p:cNvPicPr>
          <p:nvPr/>
        </p:nvPicPr>
        <p:blipFill>
          <a:blip r:embed="rId1"/>
          <a:stretch>
            <a:fillRect/>
          </a:stretch>
        </p:blipFill>
        <p:spPr>
          <a:xfrm>
            <a:off x="1020470" y="1980590"/>
            <a:ext cx="336499" cy="336499"/>
          </a:xfrm>
          <a:prstGeom prst="rect">
            <a:avLst/>
          </a:prstGeom>
        </p:spPr>
      </p:pic>
      <p:sp>
        <p:nvSpPr>
          <p:cNvPr id="6" name="Text 3"/>
          <p:cNvSpPr txBox="1"/>
          <p:nvPr/>
        </p:nvSpPr>
        <p:spPr>
          <a:xfrm>
            <a:off x="1691640" y="1874520"/>
            <a:ext cx="2240280" cy="548640"/>
          </a:xfrm>
          <a:prstGeom prst="rect">
            <a:avLst/>
          </a:prstGeom>
          <a:noFill/>
          <a:ln/>
        </p:spPr>
        <p:txBody>
          <a:bodyPr wrap="square" lIns="0" tIns="0" rIns="0" bIns="0" rtlCol="0" anchor="ctr"/>
          <a:lstStyle/>
          <a:p>
            <a:pPr indent="0" marL="0">
              <a:buNone/>
            </a:pPr>
            <a:r>
              <a:rPr lang="en-US" sz="1800" b="1" dirty="0">
                <a:solidFill>
                  <a:schemeClr val="tx1"/>
                </a:solidFill>
              </a:rPr>
              <a:t>Browser (frontend)</a:t>
            </a:r>
            <a:endParaRPr lang="en-US" sz="1800" dirty="0"/>
          </a:p>
        </p:txBody>
      </p:sp>
      <p:sp>
        <p:nvSpPr>
          <p:cNvPr id="7" name="Text 4"/>
          <p:cNvSpPr txBox="1"/>
          <p:nvPr/>
        </p:nvSpPr>
        <p:spPr>
          <a:xfrm>
            <a:off x="868680" y="2788920"/>
            <a:ext cx="3017520" cy="274320"/>
          </a:xfrm>
          <a:prstGeom prst="rect">
            <a:avLst/>
          </a:prstGeom>
          <a:noFill/>
          <a:ln/>
        </p:spPr>
        <p:txBody>
          <a:bodyPr wrap="square" lIns="0" tIns="0" rIns="0" bIns="0" rtlCol="0" anchor="t"/>
          <a:lstStyle/>
          <a:p>
            <a:pPr indent="0" marL="0">
              <a:buNone/>
            </a:pPr>
            <a:r>
              <a:rPr lang="en-US" sz="1500" b="1" dirty="0">
                <a:solidFill>
                  <a:schemeClr val="accent1"/>
                </a:solidFill>
              </a:rPr>
              <a:t>index.html</a:t>
            </a:r>
            <a:endParaRPr lang="en-US" sz="1500" dirty="0"/>
          </a:p>
        </p:txBody>
      </p:sp>
      <p:sp>
        <p:nvSpPr>
          <p:cNvPr id="8" name="Text 5"/>
          <p:cNvSpPr txBox="1"/>
          <p:nvPr/>
        </p:nvSpPr>
        <p:spPr>
          <a:xfrm>
            <a:off x="868680" y="3081528"/>
            <a:ext cx="3017520" cy="274320"/>
          </a:xfrm>
          <a:prstGeom prst="rect">
            <a:avLst/>
          </a:prstGeom>
          <a:noFill/>
          <a:ln/>
        </p:spPr>
        <p:txBody>
          <a:bodyPr wrap="square" lIns="0" tIns="0" rIns="0" bIns="0" rtlCol="0" anchor="t"/>
          <a:lstStyle/>
          <a:p>
            <a:pPr indent="0" marL="0">
              <a:buNone/>
            </a:pPr>
            <a:r>
              <a:rPr lang="en-US" sz="1300" dirty="0">
                <a:solidFill>
                  <a:schemeClr val="accent5"/>
                </a:solidFill>
              </a:rPr>
              <a:t>Page layout and sections</a:t>
            </a:r>
            <a:endParaRPr lang="en-US" sz="1300" dirty="0"/>
          </a:p>
        </p:txBody>
      </p:sp>
      <p:sp>
        <p:nvSpPr>
          <p:cNvPr id="9" name="Text 6"/>
          <p:cNvSpPr txBox="1"/>
          <p:nvPr/>
        </p:nvSpPr>
        <p:spPr>
          <a:xfrm>
            <a:off x="868680" y="3474720"/>
            <a:ext cx="3017520" cy="274320"/>
          </a:xfrm>
          <a:prstGeom prst="rect">
            <a:avLst/>
          </a:prstGeom>
          <a:noFill/>
          <a:ln/>
        </p:spPr>
        <p:txBody>
          <a:bodyPr wrap="square" lIns="0" tIns="0" rIns="0" bIns="0" rtlCol="0" anchor="t"/>
          <a:lstStyle/>
          <a:p>
            <a:pPr indent="0" marL="0">
              <a:buNone/>
            </a:pPr>
            <a:r>
              <a:rPr lang="en-US" sz="1500" b="1" dirty="0">
                <a:solidFill>
                  <a:schemeClr val="accent1"/>
                </a:solidFill>
              </a:rPr>
              <a:t>style.css</a:t>
            </a:r>
            <a:endParaRPr lang="en-US" sz="1500" dirty="0"/>
          </a:p>
        </p:txBody>
      </p:sp>
      <p:sp>
        <p:nvSpPr>
          <p:cNvPr id="10" name="Text 7"/>
          <p:cNvSpPr txBox="1"/>
          <p:nvPr/>
        </p:nvSpPr>
        <p:spPr>
          <a:xfrm>
            <a:off x="868680" y="3767328"/>
            <a:ext cx="3017520" cy="274320"/>
          </a:xfrm>
          <a:prstGeom prst="rect">
            <a:avLst/>
          </a:prstGeom>
          <a:noFill/>
          <a:ln/>
        </p:spPr>
        <p:txBody>
          <a:bodyPr wrap="square" lIns="0" tIns="0" rIns="0" bIns="0" rtlCol="0" anchor="t"/>
          <a:lstStyle/>
          <a:p>
            <a:pPr indent="0" marL="0">
              <a:buNone/>
            </a:pPr>
            <a:r>
              <a:rPr lang="en-US" sz="1300" dirty="0">
                <a:solidFill>
                  <a:schemeClr val="accent5"/>
                </a:solidFill>
              </a:rPr>
              <a:t>Styling and theme</a:t>
            </a:r>
            <a:endParaRPr lang="en-US" sz="1300" dirty="0"/>
          </a:p>
        </p:txBody>
      </p:sp>
      <p:sp>
        <p:nvSpPr>
          <p:cNvPr id="11" name="Text 8"/>
          <p:cNvSpPr txBox="1"/>
          <p:nvPr/>
        </p:nvSpPr>
        <p:spPr>
          <a:xfrm>
            <a:off x="868680" y="4160520"/>
            <a:ext cx="3017520" cy="274320"/>
          </a:xfrm>
          <a:prstGeom prst="rect">
            <a:avLst/>
          </a:prstGeom>
          <a:noFill/>
          <a:ln/>
        </p:spPr>
        <p:txBody>
          <a:bodyPr wrap="square" lIns="0" tIns="0" rIns="0" bIns="0" rtlCol="0" anchor="t"/>
          <a:lstStyle/>
          <a:p>
            <a:pPr indent="0" marL="0">
              <a:buNone/>
            </a:pPr>
            <a:r>
              <a:rPr lang="en-US" sz="1500" b="1" dirty="0">
                <a:solidFill>
                  <a:schemeClr val="accent1"/>
                </a:solidFill>
              </a:rPr>
              <a:t>app.js</a:t>
            </a:r>
            <a:endParaRPr lang="en-US" sz="1500" dirty="0"/>
          </a:p>
        </p:txBody>
      </p:sp>
      <p:sp>
        <p:nvSpPr>
          <p:cNvPr id="12" name="Text 9"/>
          <p:cNvSpPr txBox="1"/>
          <p:nvPr/>
        </p:nvSpPr>
        <p:spPr>
          <a:xfrm>
            <a:off x="868680" y="4453128"/>
            <a:ext cx="3017520" cy="274320"/>
          </a:xfrm>
          <a:prstGeom prst="rect">
            <a:avLst/>
          </a:prstGeom>
          <a:noFill/>
          <a:ln/>
        </p:spPr>
        <p:txBody>
          <a:bodyPr wrap="square" lIns="0" tIns="0" rIns="0" bIns="0" rtlCol="0" anchor="t"/>
          <a:lstStyle/>
          <a:p>
            <a:pPr indent="0" marL="0">
              <a:buNone/>
            </a:pPr>
            <a:r>
              <a:rPr lang="en-US" sz="1300" dirty="0">
                <a:solidFill>
                  <a:schemeClr val="accent5"/>
                </a:solidFill>
              </a:rPr>
              <a:t>SVG charts and interactions</a:t>
            </a:r>
            <a:endParaRPr lang="en-US" sz="1300" dirty="0"/>
          </a:p>
        </p:txBody>
      </p:sp>
      <p:sp>
        <p:nvSpPr>
          <p:cNvPr id="13" name="Java server (JDK only) box"/>
          <p:cNvSpPr/>
          <p:nvPr/>
        </p:nvSpPr>
        <p:spPr>
          <a:xfrm>
            <a:off x="7863840" y="1554480"/>
            <a:ext cx="3776472" cy="3977640"/>
          </a:xfrm>
          <a:prstGeom prst="roundRect">
            <a:avLst>
              <a:gd name="adj" fmla="val 2906"/>
            </a:avLst>
          </a:prstGeom>
          <a:solidFill>
            <a:schemeClr val="bg2"/>
          </a:solidFill>
          <a:ln/>
        </p:spPr>
      </p:sp>
      <p:sp>
        <p:nvSpPr>
          <p:cNvPr id="14" name="Java server (JDK only) circle"/>
          <p:cNvSpPr/>
          <p:nvPr/>
        </p:nvSpPr>
        <p:spPr>
          <a:xfrm>
            <a:off x="8138160" y="1783080"/>
            <a:ext cx="731520" cy="731520"/>
          </a:xfrm>
          <a:prstGeom prst="ellipse">
            <a:avLst/>
          </a:prstGeom>
          <a:solidFill>
            <a:schemeClr val="accent2"/>
          </a:solidFill>
          <a:ln/>
        </p:spPr>
      </p:sp>
      <p:pic>
        <p:nvPicPr>
          <p:cNvPr id="15" name="Java server (JDK only)" descr="Java server (JDK only)">    </p:cNvPr>
          <p:cNvPicPr>
            <a:picLocks noChangeAspect="1"/>
          </p:cNvPicPr>
          <p:nvPr/>
        </p:nvPicPr>
        <p:blipFill>
          <a:blip r:embed="rId2"/>
          <a:stretch>
            <a:fillRect/>
          </a:stretch>
        </p:blipFill>
        <p:spPr>
          <a:xfrm>
            <a:off x="8335670" y="1980590"/>
            <a:ext cx="336499" cy="336499"/>
          </a:xfrm>
          <a:prstGeom prst="rect">
            <a:avLst/>
          </a:prstGeom>
        </p:spPr>
      </p:pic>
      <p:sp>
        <p:nvSpPr>
          <p:cNvPr id="16" name="Text 12"/>
          <p:cNvSpPr txBox="1"/>
          <p:nvPr/>
        </p:nvSpPr>
        <p:spPr>
          <a:xfrm>
            <a:off x="9006840" y="1874520"/>
            <a:ext cx="2450592" cy="548640"/>
          </a:xfrm>
          <a:prstGeom prst="rect">
            <a:avLst/>
          </a:prstGeom>
          <a:noFill/>
          <a:ln/>
        </p:spPr>
        <p:txBody>
          <a:bodyPr wrap="square" lIns="0" tIns="0" rIns="0" bIns="0" rtlCol="0" anchor="ctr"/>
          <a:lstStyle/>
          <a:p>
            <a:pPr indent="0" marL="0">
              <a:buNone/>
            </a:pPr>
            <a:r>
              <a:rPr lang="en-US" sz="1800" b="1" dirty="0">
                <a:solidFill>
                  <a:schemeClr val="tx1"/>
                </a:solidFill>
              </a:rPr>
              <a:t>Java server (JDK only)</a:t>
            </a:r>
            <a:endParaRPr lang="en-US" sz="1800" dirty="0"/>
          </a:p>
        </p:txBody>
      </p:sp>
      <p:sp>
        <p:nvSpPr>
          <p:cNvPr id="17" name="Text 13"/>
          <p:cNvSpPr txBox="1"/>
          <p:nvPr/>
        </p:nvSpPr>
        <p:spPr>
          <a:xfrm>
            <a:off x="8183880" y="2788920"/>
            <a:ext cx="3227832" cy="274320"/>
          </a:xfrm>
          <a:prstGeom prst="rect">
            <a:avLst/>
          </a:prstGeom>
          <a:noFill/>
          <a:ln/>
        </p:spPr>
        <p:txBody>
          <a:bodyPr wrap="square" lIns="0" tIns="0" rIns="0" bIns="0" rtlCol="0" anchor="t"/>
          <a:lstStyle/>
          <a:p>
            <a:pPr indent="0" marL="0">
              <a:buNone/>
            </a:pPr>
            <a:r>
              <a:rPr lang="en-US" sz="1500" b="1" dirty="0">
                <a:solidFill>
                  <a:schemeClr val="accent1"/>
                </a:solidFill>
              </a:rPr>
              <a:t>Main.java</a:t>
            </a:r>
            <a:endParaRPr lang="en-US" sz="1500" dirty="0"/>
          </a:p>
        </p:txBody>
      </p:sp>
      <p:sp>
        <p:nvSpPr>
          <p:cNvPr id="18" name="Text 14"/>
          <p:cNvSpPr txBox="1"/>
          <p:nvPr/>
        </p:nvSpPr>
        <p:spPr>
          <a:xfrm>
            <a:off x="8183880" y="3081528"/>
            <a:ext cx="3227832" cy="274320"/>
          </a:xfrm>
          <a:prstGeom prst="rect">
            <a:avLst/>
          </a:prstGeom>
          <a:noFill/>
          <a:ln/>
        </p:spPr>
        <p:txBody>
          <a:bodyPr wrap="square" lIns="0" tIns="0" rIns="0" bIns="0" rtlCol="0" anchor="t"/>
          <a:lstStyle/>
          <a:p>
            <a:pPr indent="0" marL="0">
              <a:buNone/>
            </a:pPr>
            <a:r>
              <a:rPr lang="en-US" sz="1300" dirty="0">
                <a:solidFill>
                  <a:schemeClr val="accent5"/>
                </a:solidFill>
              </a:rPr>
              <a:t>HTTP server and API routes</a:t>
            </a:r>
            <a:endParaRPr lang="en-US" sz="1300" dirty="0"/>
          </a:p>
        </p:txBody>
      </p:sp>
      <p:sp>
        <p:nvSpPr>
          <p:cNvPr id="19" name="Text 15"/>
          <p:cNvSpPr txBox="1"/>
          <p:nvPr/>
        </p:nvSpPr>
        <p:spPr>
          <a:xfrm>
            <a:off x="8183880" y="3474720"/>
            <a:ext cx="3227832" cy="274320"/>
          </a:xfrm>
          <a:prstGeom prst="rect">
            <a:avLst/>
          </a:prstGeom>
          <a:noFill/>
          <a:ln/>
        </p:spPr>
        <p:txBody>
          <a:bodyPr wrap="square" lIns="0" tIns="0" rIns="0" bIns="0" rtlCol="0" anchor="t"/>
          <a:lstStyle/>
          <a:p>
            <a:pPr indent="0" marL="0">
              <a:buNone/>
            </a:pPr>
            <a:r>
              <a:rPr lang="en-US" sz="1500" b="1" dirty="0">
                <a:solidFill>
                  <a:schemeClr val="accent1"/>
                </a:solidFill>
              </a:rPr>
              <a:t>NLP.java</a:t>
            </a:r>
            <a:endParaRPr lang="en-US" sz="1500" dirty="0"/>
          </a:p>
        </p:txBody>
      </p:sp>
      <p:sp>
        <p:nvSpPr>
          <p:cNvPr id="20" name="Text 16"/>
          <p:cNvSpPr txBox="1"/>
          <p:nvPr/>
        </p:nvSpPr>
        <p:spPr>
          <a:xfrm>
            <a:off x="8183880" y="3767328"/>
            <a:ext cx="3227832" cy="274320"/>
          </a:xfrm>
          <a:prstGeom prst="rect">
            <a:avLst/>
          </a:prstGeom>
          <a:noFill/>
          <a:ln/>
        </p:spPr>
        <p:txBody>
          <a:bodyPr wrap="square" lIns="0" tIns="0" rIns="0" bIns="0" rtlCol="0" anchor="t"/>
          <a:lstStyle/>
          <a:p>
            <a:pPr indent="0" marL="0">
              <a:buNone/>
            </a:pPr>
            <a:r>
              <a:rPr lang="en-US" sz="1300" dirty="0">
                <a:solidFill>
                  <a:schemeClr val="accent5"/>
                </a:solidFill>
              </a:rPr>
              <a:t>The analysis engine</a:t>
            </a:r>
            <a:endParaRPr lang="en-US" sz="1300" dirty="0"/>
          </a:p>
        </p:txBody>
      </p:sp>
      <p:sp>
        <p:nvSpPr>
          <p:cNvPr id="21" name="Text 17"/>
          <p:cNvSpPr txBox="1"/>
          <p:nvPr/>
        </p:nvSpPr>
        <p:spPr>
          <a:xfrm>
            <a:off x="8183880" y="4160520"/>
            <a:ext cx="3227832" cy="274320"/>
          </a:xfrm>
          <a:prstGeom prst="rect">
            <a:avLst/>
          </a:prstGeom>
          <a:noFill/>
          <a:ln/>
        </p:spPr>
        <p:txBody>
          <a:bodyPr wrap="square" lIns="0" tIns="0" rIns="0" bIns="0" rtlCol="0" anchor="t"/>
          <a:lstStyle/>
          <a:p>
            <a:pPr indent="0" marL="0">
              <a:buNone/>
            </a:pPr>
            <a:r>
              <a:rPr lang="en-US" sz="1500" b="1" dirty="0">
                <a:solidFill>
                  <a:schemeClr val="accent1"/>
                </a:solidFill>
              </a:rPr>
              <a:t>SampleData.java</a:t>
            </a:r>
            <a:endParaRPr lang="en-US" sz="1500" dirty="0"/>
          </a:p>
        </p:txBody>
      </p:sp>
      <p:sp>
        <p:nvSpPr>
          <p:cNvPr id="22" name="Text 18"/>
          <p:cNvSpPr txBox="1"/>
          <p:nvPr/>
        </p:nvSpPr>
        <p:spPr>
          <a:xfrm>
            <a:off x="8183880" y="4453128"/>
            <a:ext cx="3227832" cy="274320"/>
          </a:xfrm>
          <a:prstGeom prst="rect">
            <a:avLst/>
          </a:prstGeom>
          <a:noFill/>
          <a:ln/>
        </p:spPr>
        <p:txBody>
          <a:bodyPr wrap="square" lIns="0" tIns="0" rIns="0" bIns="0" rtlCol="0" anchor="t"/>
          <a:lstStyle/>
          <a:p>
            <a:pPr indent="0" marL="0">
              <a:buNone/>
            </a:pPr>
            <a:r>
              <a:rPr lang="en-US" sz="1300" dirty="0">
                <a:solidFill>
                  <a:schemeClr val="accent5"/>
                </a:solidFill>
              </a:rPr>
              <a:t>Demo dataset generator</a:t>
            </a:r>
            <a:endParaRPr lang="en-US" sz="1300" dirty="0"/>
          </a:p>
        </p:txBody>
      </p:sp>
      <p:sp>
        <p:nvSpPr>
          <p:cNvPr id="23" name="Text 19"/>
          <p:cNvSpPr txBox="1"/>
          <p:nvPr/>
        </p:nvSpPr>
        <p:spPr>
          <a:xfrm>
            <a:off x="8183880" y="4846320"/>
            <a:ext cx="3227832" cy="274320"/>
          </a:xfrm>
          <a:prstGeom prst="rect">
            <a:avLst/>
          </a:prstGeom>
          <a:noFill/>
          <a:ln/>
        </p:spPr>
        <p:txBody>
          <a:bodyPr wrap="square" lIns="0" tIns="0" rIns="0" bIns="0" rtlCol="0" anchor="t"/>
          <a:lstStyle/>
          <a:p>
            <a:pPr indent="0" marL="0">
              <a:buNone/>
            </a:pPr>
            <a:r>
              <a:rPr lang="en-US" sz="1500" b="1" dirty="0">
                <a:solidFill>
                  <a:schemeClr val="accent1"/>
                </a:solidFill>
              </a:rPr>
              <a:t>Json.java</a:t>
            </a:r>
            <a:endParaRPr lang="en-US" sz="1500" dirty="0"/>
          </a:p>
        </p:txBody>
      </p:sp>
      <p:sp>
        <p:nvSpPr>
          <p:cNvPr id="24" name="Text 20"/>
          <p:cNvSpPr txBox="1"/>
          <p:nvPr/>
        </p:nvSpPr>
        <p:spPr>
          <a:xfrm>
            <a:off x="8183880" y="5138928"/>
            <a:ext cx="3227832" cy="274320"/>
          </a:xfrm>
          <a:prstGeom prst="rect">
            <a:avLst/>
          </a:prstGeom>
          <a:noFill/>
          <a:ln/>
        </p:spPr>
        <p:txBody>
          <a:bodyPr wrap="square" lIns="0" tIns="0" rIns="0" bIns="0" rtlCol="0" anchor="t"/>
          <a:lstStyle/>
          <a:p>
            <a:pPr indent="0" marL="0">
              <a:buNone/>
            </a:pPr>
            <a:r>
              <a:rPr lang="en-US" sz="1300" dirty="0">
                <a:solidFill>
                  <a:schemeClr val="accent5"/>
                </a:solidFill>
              </a:rPr>
              <a:t>JSON writer and parser</a:t>
            </a:r>
            <a:endParaRPr lang="en-US" sz="1300" dirty="0"/>
          </a:p>
        </p:txBody>
      </p:sp>
      <p:sp>
        <p:nvSpPr>
          <p:cNvPr id="25" name="Text 21"/>
          <p:cNvSpPr txBox="1"/>
          <p:nvPr/>
        </p:nvSpPr>
        <p:spPr>
          <a:xfrm>
            <a:off x="4297680" y="2331720"/>
            <a:ext cx="3383280" cy="594360"/>
          </a:xfrm>
          <a:prstGeom prst="rect">
            <a:avLst/>
          </a:prstGeom>
          <a:noFill/>
          <a:ln/>
        </p:spPr>
        <p:txBody>
          <a:bodyPr wrap="square" lIns="0" tIns="0" rIns="0" bIns="0" rtlCol="0" anchor="t"/>
          <a:lstStyle/>
          <a:p>
            <a:pPr algn="ctr" indent="0" marL="0">
              <a:buNone/>
            </a:pPr>
            <a:r>
              <a:rPr lang="en-US" sz="1300" b="1" dirty="0">
                <a:solidFill>
                  <a:schemeClr val="tx1"/>
                </a:solidFill>
              </a:rPr>
              <a:t>Request</a:t>
            </a:r>
            <a:endParaRPr lang="en-US" sz="1300" dirty="0"/>
          </a:p>
          <a:p>
            <a:pPr algn="ctr" indent="0" marL="0">
              <a:buNone/>
            </a:pPr>
            <a:r>
              <a:rPr lang="en-US" sz="1300" b="1" dirty="0">
                <a:solidFill>
                  <a:schemeClr val="tx1"/>
                </a:solidFill>
              </a:rPr>
              <a:t>POST /api/analyze</a:t>
            </a:r>
            <a:endParaRPr lang="en-US" sz="1300" dirty="0"/>
          </a:p>
        </p:txBody>
      </p:sp>
      <p:sp>
        <p:nvSpPr>
          <p:cNvPr id="26" name="Request arrow"/>
          <p:cNvSpPr/>
          <p:nvPr/>
        </p:nvSpPr>
        <p:spPr>
          <a:xfrm>
            <a:off x="4297680" y="3108960"/>
            <a:ext cx="3383280" cy="0"/>
          </a:xfrm>
          <a:prstGeom prst="line">
            <a:avLst/>
          </a:prstGeom>
          <a:noFill/>
          <a:ln w="38100">
            <a:solidFill>
              <a:schemeClr val="accent1"/>
            </a:solidFill>
            <a:prstDash val="solid"/>
            <a:tailEnd type="triangle"/>
          </a:ln>
        </p:spPr>
      </p:sp>
      <p:sp>
        <p:nvSpPr>
          <p:cNvPr id="27" name="Response arrow"/>
          <p:cNvSpPr/>
          <p:nvPr/>
        </p:nvSpPr>
        <p:spPr>
          <a:xfrm>
            <a:off x="4297680" y="4114800"/>
            <a:ext cx="3383280" cy="0"/>
          </a:xfrm>
          <a:prstGeom prst="line">
            <a:avLst/>
          </a:prstGeom>
          <a:noFill/>
          <a:ln w="38100">
            <a:solidFill>
              <a:schemeClr val="accent3"/>
            </a:solidFill>
            <a:prstDash val="solid"/>
            <a:headEnd type="triangle"/>
          </a:ln>
        </p:spPr>
      </p:sp>
      <p:sp>
        <p:nvSpPr>
          <p:cNvPr id="28" name="Text 24"/>
          <p:cNvSpPr txBox="1"/>
          <p:nvPr/>
        </p:nvSpPr>
        <p:spPr>
          <a:xfrm>
            <a:off x="4297680" y="4297680"/>
            <a:ext cx="3383280" cy="594360"/>
          </a:xfrm>
          <a:prstGeom prst="rect">
            <a:avLst/>
          </a:prstGeom>
          <a:noFill/>
          <a:ln/>
        </p:spPr>
        <p:txBody>
          <a:bodyPr wrap="square" lIns="0" tIns="0" rIns="0" bIns="0" rtlCol="0" anchor="t"/>
          <a:lstStyle/>
          <a:p>
            <a:pPr algn="ctr" indent="0" marL="0">
              <a:buNone/>
            </a:pPr>
            <a:r>
              <a:rPr lang="en-US" sz="1300" b="1" dirty="0">
                <a:solidFill>
                  <a:schemeClr val="tx1"/>
                </a:solidFill>
              </a:rPr>
              <a:t>Response</a:t>
            </a:r>
            <a:endParaRPr lang="en-US" sz="1300" dirty="0"/>
          </a:p>
          <a:p>
            <a:pPr algn="ctr" indent="0" marL="0">
              <a:buNone/>
            </a:pPr>
            <a:r>
              <a:rPr lang="en-US" sz="1300" b="1" dirty="0">
                <a:solidFill>
                  <a:schemeClr val="tx1"/>
                </a:solidFill>
              </a:rPr>
              <a:t>JSON analysis result</a:t>
            </a:r>
            <a:endParaRPr lang="en-US" sz="1300" dirty="0"/>
          </a:p>
        </p:txBody>
      </p:sp>
      <p:sp>
        <p:nvSpPr>
          <p:cNvPr id="29" name="Text 25"/>
          <p:cNvSpPr txBox="1"/>
          <p:nvPr/>
        </p:nvSpPr>
        <p:spPr>
          <a:xfrm>
            <a:off x="548640" y="5760720"/>
            <a:ext cx="11091672" cy="320040"/>
          </a:xfrm>
          <a:prstGeom prst="rect">
            <a:avLst/>
          </a:prstGeom>
          <a:noFill/>
          <a:ln/>
        </p:spPr>
        <p:txBody>
          <a:bodyPr wrap="square" lIns="0" tIns="0" rIns="0" bIns="0" rtlCol="0" anchor="t"/>
          <a:lstStyle/>
          <a:p>
            <a:pPr indent="0" marL="0">
              <a:buNone/>
            </a:pPr>
            <a:r>
              <a:rPr lang="en-US" sz="1400" dirty="0">
                <a:solidFill>
                  <a:schemeClr val="accent5"/>
                </a:solidFill>
              </a:rPr>
              <a:t>No external libraries or frameworks: only the JDK's built-in HTTP server.</a:t>
            </a:r>
            <a:endParaRPr lang="en-US" sz="1400" dirty="0"/>
          </a:p>
        </p:txBody>
      </p:sp>
      <p:sp>
        <p:nvSpPr>
          <p:cNvPr id="25" name="Slide Number Placeholder 0"/>
          <p:cNvSpPr>
            <a:spLocks noGrp="1"/>
          </p:cNvSpPr>
          <p:nvPr>
            <p:ph type="sldNum" sz="quarter" idx="4294967295"/>
          </p:nvPr>
        </p:nvSpPr>
        <p:spPr>
          <a:xfrm>
            <a:off x="11155680" y="6419088"/>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indent="0" marL="0">
              <a:buNone/>
            </a:pPr>
            <a:r>
              <a:rPr lang="en-US" sz="3600" b="1" dirty="0">
                <a:solidFill>
                  <a:schemeClr val="tx1"/>
                </a:solidFill>
              </a:rPr>
              <a:t>From raw text to tokens</a:t>
            </a:r>
            <a:endParaRPr lang="en-US" sz="3600" dirty="0"/>
          </a:p>
        </p:txBody>
      </p:sp>
      <p:sp>
        <p:nvSpPr>
          <p:cNvPr id="3" name="Input format card"/>
          <p:cNvSpPr/>
          <p:nvPr/>
        </p:nvSpPr>
        <p:spPr>
          <a:xfrm>
            <a:off x="548640" y="1554480"/>
            <a:ext cx="6309360" cy="1828800"/>
          </a:xfrm>
          <a:prstGeom prst="roundRect">
            <a:avLst>
              <a:gd name="adj" fmla="val 6000"/>
            </a:avLst>
          </a:prstGeom>
          <a:solidFill>
            <a:schemeClr val="tx1"/>
          </a:solidFill>
          <a:ln/>
        </p:spPr>
      </p:sp>
      <p:sp>
        <p:nvSpPr>
          <p:cNvPr id="4" name="Text 2"/>
          <p:cNvSpPr txBox="1"/>
          <p:nvPr/>
        </p:nvSpPr>
        <p:spPr>
          <a:xfrm>
            <a:off x="822960" y="1737360"/>
            <a:ext cx="5760720" cy="274320"/>
          </a:xfrm>
          <a:prstGeom prst="rect">
            <a:avLst/>
          </a:prstGeom>
          <a:noFill/>
          <a:ln/>
        </p:spPr>
        <p:txBody>
          <a:bodyPr wrap="square" lIns="0" tIns="0" rIns="0" bIns="0" rtlCol="0" anchor="t"/>
          <a:lstStyle/>
          <a:p>
            <a:pPr indent="0" marL="0">
              <a:buNone/>
            </a:pPr>
            <a:r>
              <a:rPr lang="en-US" sz="1100" b="1" spc="200" kern="0" dirty="0">
                <a:solidFill>
                  <a:schemeClr val="accent2"/>
                </a:solidFill>
              </a:rPr>
              <a:t>INPUT: ONE POST PER LINE</a:t>
            </a:r>
            <a:endParaRPr lang="en-US" sz="1100" dirty="0"/>
          </a:p>
        </p:txBody>
      </p:sp>
      <p:sp>
        <p:nvSpPr>
          <p:cNvPr id="5" name="Text 3"/>
          <p:cNvSpPr txBox="1"/>
          <p:nvPr/>
        </p:nvSpPr>
        <p:spPr>
          <a:xfrm>
            <a:off x="822960" y="2103120"/>
            <a:ext cx="5760720" cy="1097280"/>
          </a:xfrm>
          <a:prstGeom prst="rect">
            <a:avLst/>
          </a:prstGeom>
          <a:noFill/>
          <a:ln/>
        </p:spPr>
        <p:txBody>
          <a:bodyPr wrap="square" lIns="0" tIns="0" rIns="0" bIns="0" rtlCol="0" anchor="t"/>
          <a:lstStyle/>
          <a:p>
            <a:pPr indent="0" marL="0">
              <a:spcAft>
                <a:spcPts val="600"/>
              </a:spcAft>
              <a:buNone/>
            </a:pPr>
            <a:r>
              <a:rPr lang="en-US" sz="1200" dirty="0">
                <a:solidFill>
                  <a:schemeClr val="bg1"/>
                </a:solidFill>
                <a:latin typeface="Courier New" pitchFamily="34" charset="0"/>
                <a:ea typeface="Courier New" pitchFamily="34" charset="-122"/>
                <a:cs typeface="Courier New" pitchFamily="34" charset="-120"/>
              </a:rPr>
              <a:t>2026-10-11 | Twitter/X | I love the new update, it's amazing!</a:t>
            </a:r>
            <a:endParaRPr lang="en-US" sz="1200" dirty="0"/>
          </a:p>
          <a:p>
            <a:pPr indent="0" marL="0">
              <a:spcAft>
                <a:spcPts val="600"/>
              </a:spcAft>
              <a:buNone/>
            </a:pPr>
            <a:r>
              <a:rPr lang="en-US" sz="1200" dirty="0">
                <a:solidFill>
                  <a:schemeClr val="bg1"/>
                </a:solidFill>
                <a:latin typeface="Courier New" pitchFamily="34" charset="0"/>
                <a:ea typeface="Courier New" pitchFamily="34" charset="-122"/>
                <a:cs typeface="Courier New" pitchFamily="34" charset="-120"/>
              </a:rPr>
              <a:t>2026-10-11 | News | Government announces new AI regulation</a:t>
            </a:r>
            <a:endParaRPr lang="en-US" sz="1200" dirty="0"/>
          </a:p>
          <a:p>
            <a:pPr indent="0" marL="0">
              <a:spcAft>
                <a:spcPts val="600"/>
              </a:spcAft>
              <a:buNone/>
            </a:pPr>
            <a:r>
              <a:rPr lang="en-US" sz="1200" dirty="0">
                <a:solidFill>
                  <a:schemeClr val="bg1"/>
                </a:solidFill>
                <a:latin typeface="Courier New" pitchFamily="34" charset="0"/>
                <a:ea typeface="Courier New" pitchFamily="34" charset="-122"/>
                <a:cs typeface="Courier New" pitchFamily="34" charset="-120"/>
              </a:rPr>
              <a:t>A plain line without a date also works</a:t>
            </a:r>
            <a:endParaRPr lang="en-US" sz="1200" dirty="0"/>
          </a:p>
        </p:txBody>
      </p:sp>
      <p:sp>
        <p:nvSpPr>
          <p:cNvPr id="6" name="Example card"/>
          <p:cNvSpPr/>
          <p:nvPr/>
        </p:nvSpPr>
        <p:spPr>
          <a:xfrm>
            <a:off x="548640" y="3611880"/>
            <a:ext cx="6309360" cy="2514600"/>
          </a:xfrm>
          <a:prstGeom prst="roundRect">
            <a:avLst>
              <a:gd name="adj" fmla="val 4364"/>
            </a:avLst>
          </a:prstGeom>
          <a:solidFill>
            <a:schemeClr val="bg1"/>
          </a:solidFill>
          <a:ln/>
          <a:effectLst>
            <a:outerShdw sx="100000" sy="100000" kx="0" ky="0" algn="bl" rotWithShape="0" blurRad="127000" dist="25400" dir="5400000">
              <a:srgbClr val="000000">
                <a:alpha val="10000"/>
              </a:srgbClr>
            </a:outerShdw>
          </a:effectLst>
        </p:spPr>
      </p:sp>
      <p:sp>
        <p:nvSpPr>
          <p:cNvPr id="7" name="Text 5"/>
          <p:cNvSpPr txBox="1"/>
          <p:nvPr/>
        </p:nvSpPr>
        <p:spPr>
          <a:xfrm>
            <a:off x="822960" y="3767328"/>
            <a:ext cx="5760720" cy="320040"/>
          </a:xfrm>
          <a:prstGeom prst="rect">
            <a:avLst/>
          </a:prstGeom>
          <a:noFill/>
          <a:ln/>
        </p:spPr>
        <p:txBody>
          <a:bodyPr wrap="square" lIns="0" tIns="0" rIns="0" bIns="0" rtlCol="0" anchor="t"/>
          <a:lstStyle/>
          <a:p>
            <a:pPr indent="0" marL="0">
              <a:buNone/>
            </a:pPr>
            <a:r>
              <a:rPr lang="en-US" sz="1800" b="1" dirty="0">
                <a:solidFill>
                  <a:schemeClr val="tx1"/>
                </a:solidFill>
              </a:rPr>
              <a:t>Example</a:t>
            </a:r>
            <a:endParaRPr lang="en-US" sz="1800" dirty="0"/>
          </a:p>
        </p:txBody>
      </p:sp>
      <p:sp>
        <p:nvSpPr>
          <p:cNvPr id="8" name="Text 6"/>
          <p:cNvSpPr txBox="1"/>
          <p:nvPr/>
        </p:nvSpPr>
        <p:spPr>
          <a:xfrm>
            <a:off x="822960" y="4251960"/>
            <a:ext cx="5760720" cy="228600"/>
          </a:xfrm>
          <a:prstGeom prst="rect">
            <a:avLst/>
          </a:prstGeom>
          <a:noFill/>
          <a:ln/>
        </p:spPr>
        <p:txBody>
          <a:bodyPr wrap="square" lIns="0" tIns="0" rIns="0" bIns="0" rtlCol="0" anchor="t"/>
          <a:lstStyle/>
          <a:p>
            <a:pPr indent="0" marL="0">
              <a:buNone/>
            </a:pPr>
            <a:r>
              <a:rPr lang="en-US" sz="1100" b="1" spc="100" kern="0" dirty="0">
                <a:solidFill>
                  <a:schemeClr val="accent5"/>
                </a:solidFill>
              </a:rPr>
              <a:t>INPUT</a:t>
            </a:r>
            <a:endParaRPr lang="en-US" sz="1100" dirty="0"/>
          </a:p>
        </p:txBody>
      </p:sp>
      <p:sp>
        <p:nvSpPr>
          <p:cNvPr id="9" name="Text 7"/>
          <p:cNvSpPr txBox="1"/>
          <p:nvPr/>
        </p:nvSpPr>
        <p:spPr>
          <a:xfrm>
            <a:off x="822960" y="4480560"/>
            <a:ext cx="5760720" cy="320040"/>
          </a:xfrm>
          <a:prstGeom prst="rect">
            <a:avLst/>
          </a:prstGeom>
          <a:noFill/>
          <a:ln/>
        </p:spPr>
        <p:txBody>
          <a:bodyPr wrap="square" lIns="0" tIns="0" rIns="0" bIns="0" rtlCol="0" anchor="t"/>
          <a:lstStyle/>
          <a:p>
            <a:pPr indent="0" marL="0">
              <a:buNone/>
            </a:pPr>
            <a:r>
              <a:rPr lang="en-US" sz="1600" dirty="0">
                <a:solidFill>
                  <a:schemeClr val="tx1"/>
                </a:solidFill>
              </a:rPr>
              <a:t>“I don't LOVE the new update!”</a:t>
            </a:r>
            <a:endParaRPr lang="en-US" sz="1600" dirty="0"/>
          </a:p>
        </p:txBody>
      </p:sp>
      <p:sp>
        <p:nvSpPr>
          <p:cNvPr id="10" name="Text 8"/>
          <p:cNvSpPr txBox="1"/>
          <p:nvPr/>
        </p:nvSpPr>
        <p:spPr>
          <a:xfrm>
            <a:off x="822960" y="4892040"/>
            <a:ext cx="5760720" cy="228600"/>
          </a:xfrm>
          <a:prstGeom prst="rect">
            <a:avLst/>
          </a:prstGeom>
          <a:noFill/>
          <a:ln/>
        </p:spPr>
        <p:txBody>
          <a:bodyPr wrap="square" lIns="0" tIns="0" rIns="0" bIns="0" rtlCol="0" anchor="t"/>
          <a:lstStyle/>
          <a:p>
            <a:pPr indent="0" marL="0">
              <a:buNone/>
            </a:pPr>
            <a:r>
              <a:rPr lang="en-US" sz="1100" b="1" spc="100" kern="0" dirty="0">
                <a:solidFill>
                  <a:schemeClr val="accent5"/>
                </a:solidFill>
              </a:rPr>
              <a:t>TOKENS</a:t>
            </a:r>
            <a:endParaRPr lang="en-US" sz="1100" dirty="0"/>
          </a:p>
        </p:txBody>
      </p:sp>
      <p:sp>
        <p:nvSpPr>
          <p:cNvPr id="11" name="Text 9"/>
          <p:cNvSpPr txBox="1"/>
          <p:nvPr/>
        </p:nvSpPr>
        <p:spPr>
          <a:xfrm>
            <a:off x="822960" y="5120640"/>
            <a:ext cx="5760720" cy="320040"/>
          </a:xfrm>
          <a:prstGeom prst="rect">
            <a:avLst/>
          </a:prstGeom>
          <a:noFill/>
          <a:ln/>
        </p:spPr>
        <p:txBody>
          <a:bodyPr wrap="square" lIns="0" tIns="0" rIns="0" bIns="0" rtlCol="0" anchor="t"/>
          <a:lstStyle/>
          <a:p>
            <a:pPr indent="0" marL="0">
              <a:buNone/>
            </a:pPr>
            <a:r>
              <a:rPr lang="en-US" sz="1400" dirty="0">
                <a:solidFill>
                  <a:schemeClr val="tx1"/>
                </a:solidFill>
                <a:latin typeface="Courier New" pitchFamily="34" charset="0"/>
                <a:ea typeface="Courier New" pitchFamily="34" charset="-122"/>
                <a:cs typeface="Courier New" pitchFamily="34" charset="-120"/>
              </a:rPr>
              <a:t>i · do · not · love · the · new · update</a:t>
            </a:r>
            <a:endParaRPr lang="en-US" sz="1400" dirty="0"/>
          </a:p>
        </p:txBody>
      </p:sp>
      <p:sp>
        <p:nvSpPr>
          <p:cNvPr id="12" name="Text 10"/>
          <p:cNvSpPr txBox="1"/>
          <p:nvPr/>
        </p:nvSpPr>
        <p:spPr>
          <a:xfrm>
            <a:off x="822960" y="5532120"/>
            <a:ext cx="5760720" cy="228600"/>
          </a:xfrm>
          <a:prstGeom prst="rect">
            <a:avLst/>
          </a:prstGeom>
          <a:noFill/>
          <a:ln/>
        </p:spPr>
        <p:txBody>
          <a:bodyPr wrap="square" lIns="0" tIns="0" rIns="0" bIns="0" rtlCol="0" anchor="t"/>
          <a:lstStyle/>
          <a:p>
            <a:pPr indent="0" marL="0">
              <a:buNone/>
            </a:pPr>
            <a:r>
              <a:rPr lang="en-US" sz="1100" b="1" spc="100" kern="0" dirty="0">
                <a:solidFill>
                  <a:schemeClr val="accent5"/>
                </a:solidFill>
              </a:rPr>
              <a:t>WORD FORMS</a:t>
            </a:r>
            <a:endParaRPr lang="en-US" sz="1100" dirty="0"/>
          </a:p>
        </p:txBody>
      </p:sp>
      <p:sp>
        <p:nvSpPr>
          <p:cNvPr id="13" name="Text 11"/>
          <p:cNvSpPr txBox="1"/>
          <p:nvPr/>
        </p:nvSpPr>
        <p:spPr>
          <a:xfrm>
            <a:off x="822960" y="5760720"/>
            <a:ext cx="5760720" cy="320040"/>
          </a:xfrm>
          <a:prstGeom prst="rect">
            <a:avLst/>
          </a:prstGeom>
          <a:noFill/>
          <a:ln/>
        </p:spPr>
        <p:txBody>
          <a:bodyPr wrap="square" lIns="0" tIns="0" rIns="0" bIns="0" rtlCol="0" anchor="t"/>
          <a:lstStyle/>
          <a:p>
            <a:pPr indent="0" marL="0">
              <a:buNone/>
            </a:pPr>
            <a:r>
              <a:rPr lang="en-US" sz="1400" dirty="0">
                <a:solidFill>
                  <a:schemeClr val="tx1"/>
                </a:solidFill>
              </a:rPr>
              <a:t>love = loved = loves  (light stemming)</a:t>
            </a:r>
            <a:endParaRPr lang="en-US" sz="1400" dirty="0"/>
          </a:p>
        </p:txBody>
      </p:sp>
      <p:sp>
        <p:nvSpPr>
          <p:cNvPr id="14" name="Text 12"/>
          <p:cNvSpPr txBox="1"/>
          <p:nvPr/>
        </p:nvSpPr>
        <p:spPr>
          <a:xfrm>
            <a:off x="7315200" y="1554480"/>
            <a:ext cx="4325112" cy="365760"/>
          </a:xfrm>
          <a:prstGeom prst="rect">
            <a:avLst/>
          </a:prstGeom>
          <a:noFill/>
          <a:ln/>
        </p:spPr>
        <p:txBody>
          <a:bodyPr wrap="square" lIns="0" tIns="0" rIns="0" bIns="0" rtlCol="0" anchor="t"/>
          <a:lstStyle/>
          <a:p>
            <a:pPr indent="0" marL="0">
              <a:buNone/>
            </a:pPr>
            <a:r>
              <a:rPr lang="en-US" sz="2000" b="1" dirty="0">
                <a:solidFill>
                  <a:schemeClr val="tx1"/>
                </a:solidFill>
              </a:rPr>
              <a:t>Processing steps</a:t>
            </a:r>
            <a:endParaRPr lang="en-US" sz="2000" dirty="0"/>
          </a:p>
        </p:txBody>
      </p:sp>
      <p:sp>
        <p:nvSpPr>
          <p:cNvPr id="15" name="Step 1"/>
          <p:cNvSpPr txBox="1"/>
          <p:nvPr/>
        </p:nvSpPr>
        <p:spPr>
          <a:xfrm>
            <a:off x="7315200" y="2194560"/>
            <a:ext cx="548640" cy="54864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6" name="Text 14"/>
          <p:cNvSpPr txBox="1"/>
          <p:nvPr/>
        </p:nvSpPr>
        <p:spPr>
          <a:xfrm>
            <a:off x="8092440" y="2176272"/>
            <a:ext cx="3566160" cy="274320"/>
          </a:xfrm>
          <a:prstGeom prst="rect">
            <a:avLst/>
          </a:prstGeom>
          <a:noFill/>
          <a:ln/>
        </p:spPr>
        <p:txBody>
          <a:bodyPr wrap="square" lIns="0" tIns="0" rIns="0" bIns="0" rtlCol="0" anchor="t"/>
          <a:lstStyle/>
          <a:p>
            <a:pPr indent="0" marL="0">
              <a:buNone/>
            </a:pPr>
            <a:r>
              <a:rPr lang="en-US" sz="1600" b="1" dirty="0">
                <a:solidFill>
                  <a:schemeClr val="tx1"/>
                </a:solidFill>
              </a:rPr>
              <a:t>Clean the text</a:t>
            </a:r>
            <a:endParaRPr lang="en-US" sz="1600" dirty="0"/>
          </a:p>
        </p:txBody>
      </p:sp>
      <p:sp>
        <p:nvSpPr>
          <p:cNvPr id="17" name="Text 15"/>
          <p:cNvSpPr txBox="1"/>
          <p:nvPr/>
        </p:nvSpPr>
        <p:spPr>
          <a:xfrm>
            <a:off x="8092440" y="2487168"/>
            <a:ext cx="3566160" cy="457200"/>
          </a:xfrm>
          <a:prstGeom prst="rect">
            <a:avLst/>
          </a:prstGeom>
          <a:noFill/>
          <a:ln/>
        </p:spPr>
        <p:txBody>
          <a:bodyPr wrap="square" lIns="0" tIns="0" rIns="0" bIns="0" rtlCol="0" anchor="t"/>
          <a:lstStyle/>
          <a:p>
            <a:pPr indent="0" marL="0">
              <a:buNone/>
            </a:pPr>
            <a:r>
              <a:rPr lang="en-US" sz="1400" dirty="0">
                <a:solidFill>
                  <a:schemeClr val="accent5"/>
                </a:solidFill>
              </a:rPr>
              <a:t>Lowercase and remove links</a:t>
            </a:r>
            <a:endParaRPr lang="en-US" sz="1400" dirty="0"/>
          </a:p>
        </p:txBody>
      </p:sp>
      <p:sp>
        <p:nvSpPr>
          <p:cNvPr id="18" name="Step 2"/>
          <p:cNvSpPr txBox="1"/>
          <p:nvPr/>
        </p:nvSpPr>
        <p:spPr>
          <a:xfrm>
            <a:off x="7315200" y="3154680"/>
            <a:ext cx="548640" cy="54864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9" name="Text 17"/>
          <p:cNvSpPr txBox="1"/>
          <p:nvPr/>
        </p:nvSpPr>
        <p:spPr>
          <a:xfrm>
            <a:off x="8092440" y="3136392"/>
            <a:ext cx="3566160" cy="274320"/>
          </a:xfrm>
          <a:prstGeom prst="rect">
            <a:avLst/>
          </a:prstGeom>
          <a:noFill/>
          <a:ln/>
        </p:spPr>
        <p:txBody>
          <a:bodyPr wrap="square" lIns="0" tIns="0" rIns="0" bIns="0" rtlCol="0" anchor="t"/>
          <a:lstStyle/>
          <a:p>
            <a:pPr indent="0" marL="0">
              <a:buNone/>
            </a:pPr>
            <a:r>
              <a:rPr lang="en-US" sz="1600" b="1" dirty="0">
                <a:solidFill>
                  <a:schemeClr val="tx1"/>
                </a:solidFill>
              </a:rPr>
              <a:t>Handle negation</a:t>
            </a:r>
            <a:endParaRPr lang="en-US" sz="1600" dirty="0"/>
          </a:p>
        </p:txBody>
      </p:sp>
      <p:sp>
        <p:nvSpPr>
          <p:cNvPr id="20" name="Text 18"/>
          <p:cNvSpPr txBox="1"/>
          <p:nvPr/>
        </p:nvSpPr>
        <p:spPr>
          <a:xfrm>
            <a:off x="8092440" y="3447288"/>
            <a:ext cx="3566160" cy="457200"/>
          </a:xfrm>
          <a:prstGeom prst="rect">
            <a:avLst/>
          </a:prstGeom>
          <a:noFill/>
          <a:ln/>
        </p:spPr>
        <p:txBody>
          <a:bodyPr wrap="square" lIns="0" tIns="0" rIns="0" bIns="0" rtlCol="0" anchor="t"/>
          <a:lstStyle/>
          <a:p>
            <a:pPr indent="0" marL="0">
              <a:buNone/>
            </a:pPr>
            <a:r>
              <a:rPr lang="en-US" sz="1400" dirty="0">
                <a:solidFill>
                  <a:schemeClr val="accent5"/>
                </a:solidFill>
              </a:rPr>
              <a:t>n't becomes not, so “don't love” flips</a:t>
            </a:r>
            <a:endParaRPr lang="en-US" sz="1400" dirty="0"/>
          </a:p>
        </p:txBody>
      </p:sp>
      <p:sp>
        <p:nvSpPr>
          <p:cNvPr id="21" name="Step 3"/>
          <p:cNvSpPr txBox="1"/>
          <p:nvPr/>
        </p:nvSpPr>
        <p:spPr>
          <a:xfrm>
            <a:off x="7315200" y="4114800"/>
            <a:ext cx="548640" cy="54864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2" name="Text 20"/>
          <p:cNvSpPr txBox="1"/>
          <p:nvPr/>
        </p:nvSpPr>
        <p:spPr>
          <a:xfrm>
            <a:off x="8092440" y="4096512"/>
            <a:ext cx="3566160" cy="274320"/>
          </a:xfrm>
          <a:prstGeom prst="rect">
            <a:avLst/>
          </a:prstGeom>
          <a:noFill/>
          <a:ln/>
        </p:spPr>
        <p:txBody>
          <a:bodyPr wrap="square" lIns="0" tIns="0" rIns="0" bIns="0" rtlCol="0" anchor="t"/>
          <a:lstStyle/>
          <a:p>
            <a:pPr indent="0" marL="0">
              <a:buNone/>
            </a:pPr>
            <a:r>
              <a:rPr lang="en-US" sz="1600" b="1" dirty="0">
                <a:solidFill>
                  <a:schemeClr val="tx1"/>
                </a:solidFill>
              </a:rPr>
              <a:t>Split into words</a:t>
            </a:r>
            <a:endParaRPr lang="en-US" sz="1600" dirty="0"/>
          </a:p>
        </p:txBody>
      </p:sp>
      <p:sp>
        <p:nvSpPr>
          <p:cNvPr id="23" name="Text 21"/>
          <p:cNvSpPr txBox="1"/>
          <p:nvPr/>
        </p:nvSpPr>
        <p:spPr>
          <a:xfrm>
            <a:off x="8092440" y="4407408"/>
            <a:ext cx="3566160" cy="457200"/>
          </a:xfrm>
          <a:prstGeom prst="rect">
            <a:avLst/>
          </a:prstGeom>
          <a:noFill/>
          <a:ln/>
        </p:spPr>
        <p:txBody>
          <a:bodyPr wrap="square" lIns="0" tIns="0" rIns="0" bIns="0" rtlCol="0" anchor="t"/>
          <a:lstStyle/>
          <a:p>
            <a:pPr indent="0" marL="0">
              <a:buNone/>
            </a:pPr>
            <a:r>
              <a:rPr lang="en-US" sz="1400" dirty="0">
                <a:solidFill>
                  <a:schemeClr val="accent5"/>
                </a:solidFill>
              </a:rPr>
              <a:t>Keep letters only: [a-z]+</a:t>
            </a:r>
            <a:endParaRPr lang="en-US" sz="1400" dirty="0"/>
          </a:p>
        </p:txBody>
      </p:sp>
      <p:sp>
        <p:nvSpPr>
          <p:cNvPr id="24" name="Step 4"/>
          <p:cNvSpPr txBox="1"/>
          <p:nvPr/>
        </p:nvSpPr>
        <p:spPr>
          <a:xfrm>
            <a:off x="7315200" y="5074920"/>
            <a:ext cx="548640" cy="54864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5" name="Text 23"/>
          <p:cNvSpPr txBox="1"/>
          <p:nvPr/>
        </p:nvSpPr>
        <p:spPr>
          <a:xfrm>
            <a:off x="8092440" y="5056632"/>
            <a:ext cx="3566160" cy="274320"/>
          </a:xfrm>
          <a:prstGeom prst="rect">
            <a:avLst/>
          </a:prstGeom>
          <a:noFill/>
          <a:ln/>
        </p:spPr>
        <p:txBody>
          <a:bodyPr wrap="square" lIns="0" tIns="0" rIns="0" bIns="0" rtlCol="0" anchor="t"/>
          <a:lstStyle/>
          <a:p>
            <a:pPr indent="0" marL="0">
              <a:buNone/>
            </a:pPr>
            <a:r>
              <a:rPr lang="en-US" sz="1600" b="1" dirty="0">
                <a:solidFill>
                  <a:schemeClr val="tx1"/>
                </a:solidFill>
              </a:rPr>
              <a:t>Match word forms</a:t>
            </a:r>
            <a:endParaRPr lang="en-US" sz="1600" dirty="0"/>
          </a:p>
        </p:txBody>
      </p:sp>
      <p:sp>
        <p:nvSpPr>
          <p:cNvPr id="26" name="Text 24"/>
          <p:cNvSpPr txBox="1"/>
          <p:nvPr/>
        </p:nvSpPr>
        <p:spPr>
          <a:xfrm>
            <a:off x="8092440" y="5367528"/>
            <a:ext cx="3566160" cy="457200"/>
          </a:xfrm>
          <a:prstGeom prst="rect">
            <a:avLst/>
          </a:prstGeom>
          <a:noFill/>
          <a:ln/>
        </p:spPr>
        <p:txBody>
          <a:bodyPr wrap="square" lIns="0" tIns="0" rIns="0" bIns="0" rtlCol="0" anchor="t"/>
          <a:lstStyle/>
          <a:p>
            <a:pPr indent="0" marL="0">
              <a:buNone/>
            </a:pPr>
            <a:r>
              <a:rPr lang="en-US" sz="1400" dirty="0">
                <a:solidFill>
                  <a:schemeClr val="accent5"/>
                </a:solidFill>
              </a:rPr>
              <a:t>loved, loves → love</a:t>
            </a:r>
            <a:endParaRPr lang="en-US" sz="1400" dirty="0"/>
          </a:p>
        </p:txBody>
      </p:sp>
      <p:sp>
        <p:nvSpPr>
          <p:cNvPr id="25" name="Slide Number Placeholder 0"/>
          <p:cNvSpPr>
            <a:spLocks noGrp="1"/>
          </p:cNvSpPr>
          <p:nvPr>
            <p:ph type="sldNum" sz="quarter" idx="4294967295"/>
          </p:nvPr>
        </p:nvSpPr>
        <p:spPr>
          <a:xfrm>
            <a:off x="11155680" y="6419088"/>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indent="0" marL="0">
              <a:buNone/>
            </a:pPr>
            <a:r>
              <a:rPr lang="en-US" sz="3600" b="1" dirty="0">
                <a:solidFill>
                  <a:schemeClr val="tx1"/>
                </a:solidFill>
              </a:rPr>
              <a:t>Sentiment analysis</a:t>
            </a:r>
            <a:endParaRPr lang="en-US" sz="3600" dirty="0"/>
          </a:p>
        </p:txBody>
      </p:sp>
      <p:sp>
        <p:nvSpPr>
          <p:cNvPr id="3" name="Word-list scoring circle"/>
          <p:cNvSpPr/>
          <p:nvPr/>
        </p:nvSpPr>
        <p:spPr>
          <a:xfrm>
            <a:off x="548640" y="1600200"/>
            <a:ext cx="731520" cy="731520"/>
          </a:xfrm>
          <a:prstGeom prst="ellipse">
            <a:avLst/>
          </a:prstGeom>
          <a:solidFill>
            <a:schemeClr val="accent1"/>
          </a:solidFill>
          <a:ln/>
        </p:spPr>
      </p:sp>
      <p:pic>
        <p:nvPicPr>
          <p:cNvPr id="4" name="Word-list scoring" descr="Word-list scoring">    </p:cNvPr>
          <p:cNvPicPr>
            <a:picLocks noChangeAspect="1"/>
          </p:cNvPicPr>
          <p:nvPr/>
        </p:nvPicPr>
        <p:blipFill>
          <a:blip r:embed="rId1"/>
          <a:stretch>
            <a:fillRect/>
          </a:stretch>
        </p:blipFill>
        <p:spPr>
          <a:xfrm>
            <a:off x="746150" y="1797710"/>
            <a:ext cx="336499" cy="336499"/>
          </a:xfrm>
          <a:prstGeom prst="rect">
            <a:avLst/>
          </a:prstGeom>
        </p:spPr>
      </p:pic>
      <p:sp>
        <p:nvSpPr>
          <p:cNvPr id="5" name="Text 2"/>
          <p:cNvSpPr txBox="1"/>
          <p:nvPr/>
        </p:nvSpPr>
        <p:spPr>
          <a:xfrm>
            <a:off x="1508760" y="1581912"/>
            <a:ext cx="4663440" cy="320040"/>
          </a:xfrm>
          <a:prstGeom prst="rect">
            <a:avLst/>
          </a:prstGeom>
          <a:noFill/>
          <a:ln/>
        </p:spPr>
        <p:txBody>
          <a:bodyPr wrap="square" lIns="0" tIns="0" rIns="0" bIns="0" rtlCol="0" anchor="t"/>
          <a:lstStyle/>
          <a:p>
            <a:pPr indent="0" marL="0">
              <a:buNone/>
            </a:pPr>
            <a:r>
              <a:rPr lang="en-US" sz="1800" b="1" dirty="0">
                <a:solidFill>
                  <a:schemeClr val="tx1"/>
                </a:solidFill>
              </a:rPr>
              <a:t>Word-list scoring</a:t>
            </a:r>
            <a:endParaRPr lang="en-US" sz="1800" dirty="0"/>
          </a:p>
        </p:txBody>
      </p:sp>
      <p:sp>
        <p:nvSpPr>
          <p:cNvPr id="6" name="Text 3"/>
          <p:cNvSpPr txBox="1"/>
          <p:nvPr/>
        </p:nvSpPr>
        <p:spPr>
          <a:xfrm>
            <a:off x="1508760" y="1947672"/>
            <a:ext cx="4663440" cy="640080"/>
          </a:xfrm>
          <a:prstGeom prst="rect">
            <a:avLst/>
          </a:prstGeom>
          <a:noFill/>
          <a:ln/>
        </p:spPr>
        <p:txBody>
          <a:bodyPr wrap="square" lIns="0" tIns="0" rIns="0" bIns="0" rtlCol="0" anchor="t"/>
          <a:lstStyle/>
          <a:p>
            <a:pPr indent="0" marL="0">
              <a:buNone/>
            </a:pPr>
            <a:r>
              <a:rPr lang="en-US" sz="1400" dirty="0">
                <a:solidFill>
                  <a:schemeClr val="accent5"/>
                </a:solidFill>
              </a:rPr>
              <a:t>Each word has a weight, from about −3.5 to +3. “great” +2.5, “terrible” −3.</a:t>
            </a:r>
            <a:endParaRPr lang="en-US" sz="1400" dirty="0"/>
          </a:p>
        </p:txBody>
      </p:sp>
      <p:sp>
        <p:nvSpPr>
          <p:cNvPr id="7" name="Negation circle"/>
          <p:cNvSpPr/>
          <p:nvPr/>
        </p:nvSpPr>
        <p:spPr>
          <a:xfrm>
            <a:off x="548640" y="2743200"/>
            <a:ext cx="731520" cy="731520"/>
          </a:xfrm>
          <a:prstGeom prst="ellipse">
            <a:avLst/>
          </a:prstGeom>
          <a:solidFill>
            <a:schemeClr val="accent2"/>
          </a:solidFill>
          <a:ln/>
        </p:spPr>
      </p:sp>
      <p:pic>
        <p:nvPicPr>
          <p:cNvPr id="8" name="Negation" descr="Negation">    </p:cNvPr>
          <p:cNvPicPr>
            <a:picLocks noChangeAspect="1"/>
          </p:cNvPicPr>
          <p:nvPr/>
        </p:nvPicPr>
        <p:blipFill>
          <a:blip r:embed="rId2"/>
          <a:stretch>
            <a:fillRect/>
          </a:stretch>
        </p:blipFill>
        <p:spPr>
          <a:xfrm>
            <a:off x="746150" y="2940710"/>
            <a:ext cx="336499" cy="336499"/>
          </a:xfrm>
          <a:prstGeom prst="rect">
            <a:avLst/>
          </a:prstGeom>
        </p:spPr>
      </p:pic>
      <p:sp>
        <p:nvSpPr>
          <p:cNvPr id="9" name="Text 5"/>
          <p:cNvSpPr txBox="1"/>
          <p:nvPr/>
        </p:nvSpPr>
        <p:spPr>
          <a:xfrm>
            <a:off x="1508760" y="2724912"/>
            <a:ext cx="4663440" cy="320040"/>
          </a:xfrm>
          <a:prstGeom prst="rect">
            <a:avLst/>
          </a:prstGeom>
          <a:noFill/>
          <a:ln/>
        </p:spPr>
        <p:txBody>
          <a:bodyPr wrap="square" lIns="0" tIns="0" rIns="0" bIns="0" rtlCol="0" anchor="t"/>
          <a:lstStyle/>
          <a:p>
            <a:pPr indent="0" marL="0">
              <a:buNone/>
            </a:pPr>
            <a:r>
              <a:rPr lang="en-US" sz="1800" b="1" dirty="0">
                <a:solidFill>
                  <a:schemeClr val="tx1"/>
                </a:solidFill>
              </a:rPr>
              <a:t>Negation</a:t>
            </a:r>
            <a:endParaRPr lang="en-US" sz="1800" dirty="0"/>
          </a:p>
        </p:txBody>
      </p:sp>
      <p:sp>
        <p:nvSpPr>
          <p:cNvPr id="10" name="Text 6"/>
          <p:cNvSpPr txBox="1"/>
          <p:nvPr/>
        </p:nvSpPr>
        <p:spPr>
          <a:xfrm>
            <a:off x="1508760" y="3090672"/>
            <a:ext cx="4663440" cy="640080"/>
          </a:xfrm>
          <a:prstGeom prst="rect">
            <a:avLst/>
          </a:prstGeom>
          <a:noFill/>
          <a:ln/>
        </p:spPr>
        <p:txBody>
          <a:bodyPr wrap="square" lIns="0" tIns="0" rIns="0" bIns="0" rtlCol="0" anchor="t"/>
          <a:lstStyle/>
          <a:p>
            <a:pPr indent="0" marL="0">
              <a:buNone/>
            </a:pPr>
            <a:r>
              <a:rPr lang="en-US" sz="1400" dirty="0">
                <a:solidFill>
                  <a:schemeClr val="accent5"/>
                </a:solidFill>
              </a:rPr>
              <a:t>“not good” flips the score and weakens it (× −0.75).</a:t>
            </a:r>
            <a:endParaRPr lang="en-US" sz="1400" dirty="0"/>
          </a:p>
        </p:txBody>
      </p:sp>
      <p:sp>
        <p:nvSpPr>
          <p:cNvPr id="11" name="Intensifiers circle"/>
          <p:cNvSpPr/>
          <p:nvPr/>
        </p:nvSpPr>
        <p:spPr>
          <a:xfrm>
            <a:off x="548640" y="3886200"/>
            <a:ext cx="731520" cy="731520"/>
          </a:xfrm>
          <a:prstGeom prst="ellipse">
            <a:avLst/>
          </a:prstGeom>
          <a:solidFill>
            <a:schemeClr val="accent3"/>
          </a:solidFill>
          <a:ln/>
        </p:spPr>
      </p:sp>
      <p:pic>
        <p:nvPicPr>
          <p:cNvPr id="12" name="Intensifiers" descr="Intensifiers">    </p:cNvPr>
          <p:cNvPicPr>
            <a:picLocks noChangeAspect="1"/>
          </p:cNvPicPr>
          <p:nvPr/>
        </p:nvPicPr>
        <p:blipFill>
          <a:blip r:embed="rId3"/>
          <a:stretch>
            <a:fillRect/>
          </a:stretch>
        </p:blipFill>
        <p:spPr>
          <a:xfrm>
            <a:off x="746150" y="4083710"/>
            <a:ext cx="336499" cy="336499"/>
          </a:xfrm>
          <a:prstGeom prst="rect">
            <a:avLst/>
          </a:prstGeom>
        </p:spPr>
      </p:pic>
      <p:sp>
        <p:nvSpPr>
          <p:cNvPr id="13" name="Text 8"/>
          <p:cNvSpPr txBox="1"/>
          <p:nvPr/>
        </p:nvSpPr>
        <p:spPr>
          <a:xfrm>
            <a:off x="1508760" y="3867912"/>
            <a:ext cx="4663440" cy="320040"/>
          </a:xfrm>
          <a:prstGeom prst="rect">
            <a:avLst/>
          </a:prstGeom>
          <a:noFill/>
          <a:ln/>
        </p:spPr>
        <p:txBody>
          <a:bodyPr wrap="square" lIns="0" tIns="0" rIns="0" bIns="0" rtlCol="0" anchor="t"/>
          <a:lstStyle/>
          <a:p>
            <a:pPr indent="0" marL="0">
              <a:buNone/>
            </a:pPr>
            <a:r>
              <a:rPr lang="en-US" sz="1800" b="1" dirty="0">
                <a:solidFill>
                  <a:schemeClr val="tx1"/>
                </a:solidFill>
              </a:rPr>
              <a:t>Intensifiers</a:t>
            </a:r>
            <a:endParaRPr lang="en-US" sz="1800" dirty="0"/>
          </a:p>
        </p:txBody>
      </p:sp>
      <p:sp>
        <p:nvSpPr>
          <p:cNvPr id="14" name="Text 9"/>
          <p:cNvSpPr txBox="1"/>
          <p:nvPr/>
        </p:nvSpPr>
        <p:spPr>
          <a:xfrm>
            <a:off x="1508760" y="4233672"/>
            <a:ext cx="4663440" cy="640080"/>
          </a:xfrm>
          <a:prstGeom prst="rect">
            <a:avLst/>
          </a:prstGeom>
          <a:noFill/>
          <a:ln/>
        </p:spPr>
        <p:txBody>
          <a:bodyPr wrap="square" lIns="0" tIns="0" rIns="0" bIns="0" rtlCol="0" anchor="t"/>
          <a:lstStyle/>
          <a:p>
            <a:pPr indent="0" marL="0">
              <a:buNone/>
            </a:pPr>
            <a:r>
              <a:rPr lang="en-US" sz="1400" dirty="0">
                <a:solidFill>
                  <a:schemeClr val="accent5"/>
                </a:solidFill>
              </a:rPr>
              <a:t>“very good” boosts the score (× 1.4). Exclamation marks add a little.</a:t>
            </a:r>
            <a:endParaRPr lang="en-US" sz="1400" dirty="0"/>
          </a:p>
        </p:txBody>
      </p:sp>
      <p:sp>
        <p:nvSpPr>
          <p:cNvPr id="15" name="Formula"/>
          <p:cNvSpPr txBox="1"/>
          <p:nvPr/>
        </p:nvSpPr>
        <p:spPr>
          <a:xfrm>
            <a:off x="548640" y="5120640"/>
            <a:ext cx="5669280" cy="822960"/>
          </a:xfrm>
          <a:prstGeom prst="roundRect">
            <a:avLst>
              <a:gd name="adj" fmla="val 13333"/>
            </a:avLst>
          </a:prstGeom>
          <a:solidFill>
            <a:schemeClr val="tx1"/>
          </a:solidFill>
          <a:ln/>
        </p:spPr>
        <p:txBody>
          <a:bodyPr wrap="square" lIns="0" tIns="2540" rIns="2540" bIns="0" rtlCol="0" anchor="ctr"/>
          <a:lstStyle/>
          <a:p>
            <a:pPr algn="ctr" indent="0" marL="0">
              <a:buNone/>
            </a:pPr>
            <a:r>
              <a:rPr lang="en-US" sz="1600" b="1" dirty="0">
                <a:solidFill>
                  <a:schemeClr val="bg1"/>
                </a:solidFill>
              </a:rPr>
              <a:t>score = total ÷ √(total² + 15), squashed into −1 … +1</a:t>
            </a:r>
            <a:endParaRPr lang="en-US" sz="1600" dirty="0"/>
          </a:p>
        </p:txBody>
      </p:sp>
      <p:sp>
        <p:nvSpPr>
          <p:cNvPr id="16" name="Text 11"/>
          <p:cNvSpPr txBox="1"/>
          <p:nvPr/>
        </p:nvSpPr>
        <p:spPr>
          <a:xfrm>
            <a:off x="6675120" y="1600200"/>
            <a:ext cx="4965192" cy="320040"/>
          </a:xfrm>
          <a:prstGeom prst="rect">
            <a:avLst/>
          </a:prstGeom>
          <a:noFill/>
          <a:ln/>
        </p:spPr>
        <p:txBody>
          <a:bodyPr wrap="square" lIns="0" tIns="0" rIns="0" bIns="0" rtlCol="0" anchor="t"/>
          <a:lstStyle/>
          <a:p>
            <a:pPr indent="0" marL="0">
              <a:buNone/>
            </a:pPr>
            <a:r>
              <a:rPr lang="en-US" sz="1800" b="1" dirty="0">
                <a:solidFill>
                  <a:schemeClr val="tx1"/>
                </a:solidFill>
              </a:rPr>
              <a:t>Decision thresholds</a:t>
            </a:r>
            <a:endParaRPr lang="en-US" sz="1800" dirty="0"/>
          </a:p>
        </p:txBody>
      </p:sp>
      <p:sp>
        <p:nvSpPr>
          <p:cNvPr id="17" name="NEGATIVE band"/>
          <p:cNvSpPr txBox="1"/>
          <p:nvPr/>
        </p:nvSpPr>
        <p:spPr>
          <a:xfrm>
            <a:off x="6675120" y="2057400"/>
            <a:ext cx="2112264" cy="548640"/>
          </a:xfrm>
          <a:prstGeom prst="rect">
            <a:avLst/>
          </a:prstGeom>
          <a:solidFill>
            <a:schemeClr val="accent3"/>
          </a:solidFill>
          <a:ln/>
        </p:spPr>
        <p:txBody>
          <a:bodyPr wrap="square" lIns="0" tIns="0" rIns="0" bIns="0" rtlCol="0" anchor="ctr"/>
          <a:lstStyle/>
          <a:p>
            <a:pPr algn="ctr" indent="0" marL="0">
              <a:buNone/>
            </a:pPr>
            <a:r>
              <a:rPr lang="en-US" sz="1300" b="1" dirty="0">
                <a:solidFill>
                  <a:schemeClr val="bg1"/>
                </a:solidFill>
              </a:rPr>
              <a:t>NEGATIVE</a:t>
            </a:r>
            <a:endParaRPr lang="en-US" sz="1300" dirty="0"/>
          </a:p>
        </p:txBody>
      </p:sp>
      <p:sp>
        <p:nvSpPr>
          <p:cNvPr id="18" name="NEUTRAL band"/>
          <p:cNvSpPr txBox="1"/>
          <p:nvPr/>
        </p:nvSpPr>
        <p:spPr>
          <a:xfrm>
            <a:off x="8787384" y="2057400"/>
            <a:ext cx="740664" cy="548640"/>
          </a:xfrm>
          <a:prstGeom prst="rect">
            <a:avLst/>
          </a:prstGeom>
          <a:solidFill>
            <a:schemeClr val="accent5"/>
          </a:solidFill>
          <a:ln/>
        </p:spPr>
        <p:txBody>
          <a:bodyPr wrap="square" lIns="0" tIns="0" rIns="0" bIns="0" rtlCol="0" anchor="ctr"/>
          <a:lstStyle/>
          <a:p>
            <a:pPr algn="ctr" indent="0" marL="0">
              <a:buNone/>
            </a:pPr>
            <a:r>
              <a:rPr lang="en-US" sz="1000" b="1" dirty="0">
                <a:solidFill>
                  <a:schemeClr val="bg1"/>
                </a:solidFill>
              </a:rPr>
              <a:t>NEUTRAL</a:t>
            </a:r>
            <a:endParaRPr lang="en-US" sz="1000" dirty="0"/>
          </a:p>
        </p:txBody>
      </p:sp>
      <p:sp>
        <p:nvSpPr>
          <p:cNvPr id="19" name="POSITIVE band"/>
          <p:cNvSpPr txBox="1"/>
          <p:nvPr/>
        </p:nvSpPr>
        <p:spPr>
          <a:xfrm>
            <a:off x="9528048" y="2057400"/>
            <a:ext cx="2112264" cy="548640"/>
          </a:xfrm>
          <a:prstGeom prst="rect">
            <a:avLst/>
          </a:prstGeom>
          <a:solidFill>
            <a:schemeClr val="accent1"/>
          </a:solidFill>
          <a:ln/>
        </p:spPr>
        <p:txBody>
          <a:bodyPr wrap="square" lIns="0" tIns="0" rIns="0" bIns="0" rtlCol="0" anchor="ctr"/>
          <a:lstStyle/>
          <a:p>
            <a:pPr algn="ctr" indent="0" marL="0">
              <a:buNone/>
            </a:pPr>
            <a:r>
              <a:rPr lang="en-US" sz="1300" b="1" dirty="0">
                <a:solidFill>
                  <a:schemeClr val="bg1"/>
                </a:solidFill>
              </a:rPr>
              <a:t>POSITIVE</a:t>
            </a:r>
            <a:endParaRPr lang="en-US" sz="1300" dirty="0"/>
          </a:p>
        </p:txBody>
      </p:sp>
      <p:sp>
        <p:nvSpPr>
          <p:cNvPr id="20" name="Text 15"/>
          <p:cNvSpPr txBox="1"/>
          <p:nvPr/>
        </p:nvSpPr>
        <p:spPr>
          <a:xfrm>
            <a:off x="6675120" y="2679192"/>
            <a:ext cx="457200" cy="274320"/>
          </a:xfrm>
          <a:prstGeom prst="rect">
            <a:avLst/>
          </a:prstGeom>
          <a:noFill/>
          <a:ln/>
        </p:spPr>
        <p:txBody>
          <a:bodyPr wrap="square" lIns="0" tIns="0" rIns="0" bIns="0" rtlCol="0" anchor="t"/>
          <a:lstStyle/>
          <a:p>
            <a:pPr algn="l" indent="0" marL="0">
              <a:buNone/>
            </a:pPr>
            <a:r>
              <a:rPr lang="en-US" sz="1200" dirty="0">
                <a:solidFill>
                  <a:schemeClr val="accent5"/>
                </a:solidFill>
              </a:rPr>
              <a:t>−1</a:t>
            </a:r>
            <a:endParaRPr lang="en-US" sz="1200" dirty="0"/>
          </a:p>
        </p:txBody>
      </p:sp>
      <p:sp>
        <p:nvSpPr>
          <p:cNvPr id="21" name="Text 16"/>
          <p:cNvSpPr txBox="1"/>
          <p:nvPr/>
        </p:nvSpPr>
        <p:spPr>
          <a:xfrm>
            <a:off x="8421624" y="2679192"/>
            <a:ext cx="731520" cy="274320"/>
          </a:xfrm>
          <a:prstGeom prst="rect">
            <a:avLst/>
          </a:prstGeom>
          <a:noFill/>
          <a:ln/>
        </p:spPr>
        <p:txBody>
          <a:bodyPr wrap="square" lIns="0" tIns="0" rIns="0" bIns="0" rtlCol="0" anchor="t"/>
          <a:lstStyle/>
          <a:p>
            <a:pPr algn="ctr" indent="0" marL="0">
              <a:buNone/>
            </a:pPr>
            <a:r>
              <a:rPr lang="en-US" sz="1200" dirty="0">
                <a:solidFill>
                  <a:schemeClr val="accent5"/>
                </a:solidFill>
              </a:rPr>
              <a:t>−0.15</a:t>
            </a:r>
            <a:endParaRPr lang="en-US" sz="1200" dirty="0"/>
          </a:p>
        </p:txBody>
      </p:sp>
      <p:sp>
        <p:nvSpPr>
          <p:cNvPr id="22" name="Text 17"/>
          <p:cNvSpPr txBox="1"/>
          <p:nvPr/>
        </p:nvSpPr>
        <p:spPr>
          <a:xfrm>
            <a:off x="9162288" y="2679192"/>
            <a:ext cx="731520" cy="274320"/>
          </a:xfrm>
          <a:prstGeom prst="rect">
            <a:avLst/>
          </a:prstGeom>
          <a:noFill/>
          <a:ln/>
        </p:spPr>
        <p:txBody>
          <a:bodyPr wrap="square" lIns="0" tIns="0" rIns="0" bIns="0" rtlCol="0" anchor="t"/>
          <a:lstStyle/>
          <a:p>
            <a:pPr algn="ctr" indent="0" marL="0">
              <a:buNone/>
            </a:pPr>
            <a:r>
              <a:rPr lang="en-US" sz="1200" dirty="0">
                <a:solidFill>
                  <a:schemeClr val="accent5"/>
                </a:solidFill>
              </a:rPr>
              <a:t>+0.15</a:t>
            </a:r>
            <a:endParaRPr lang="en-US" sz="1200" dirty="0"/>
          </a:p>
        </p:txBody>
      </p:sp>
      <p:sp>
        <p:nvSpPr>
          <p:cNvPr id="23" name="Text 18"/>
          <p:cNvSpPr txBox="1"/>
          <p:nvPr/>
        </p:nvSpPr>
        <p:spPr>
          <a:xfrm>
            <a:off x="11183112" y="2679192"/>
            <a:ext cx="457200" cy="274320"/>
          </a:xfrm>
          <a:prstGeom prst="rect">
            <a:avLst/>
          </a:prstGeom>
          <a:noFill/>
          <a:ln/>
        </p:spPr>
        <p:txBody>
          <a:bodyPr wrap="square" lIns="0" tIns="0" rIns="0" bIns="0" rtlCol="0" anchor="t"/>
          <a:lstStyle/>
          <a:p>
            <a:pPr algn="r" indent="0" marL="0">
              <a:buNone/>
            </a:pPr>
            <a:r>
              <a:rPr lang="en-US" sz="1200" dirty="0">
                <a:solidFill>
                  <a:schemeClr val="accent5"/>
                </a:solidFill>
              </a:rPr>
              <a:t>+1</a:t>
            </a:r>
            <a:endParaRPr lang="en-US" sz="1200" dirty="0"/>
          </a:p>
        </p:txBody>
      </p:sp>
      <p:sp>
        <p:nvSpPr>
          <p:cNvPr id="24" name="Text 19"/>
          <p:cNvSpPr txBox="1"/>
          <p:nvPr/>
        </p:nvSpPr>
        <p:spPr>
          <a:xfrm>
            <a:off x="6675120" y="3337560"/>
            <a:ext cx="4965192" cy="320040"/>
          </a:xfrm>
          <a:prstGeom prst="rect">
            <a:avLst/>
          </a:prstGeom>
          <a:noFill/>
          <a:ln/>
        </p:spPr>
        <p:txBody>
          <a:bodyPr wrap="square" lIns="0" tIns="0" rIns="0" bIns="0" rtlCol="0" anchor="t"/>
          <a:lstStyle/>
          <a:p>
            <a:pPr indent="0" marL="0">
              <a:buNone/>
            </a:pPr>
            <a:r>
              <a:rPr lang="en-US" sz="1800" b="1" dirty="0">
                <a:solidFill>
                  <a:schemeClr val="tx1"/>
                </a:solidFill>
              </a:rPr>
              <a:t>Two real results from the engine</a:t>
            </a:r>
            <a:endParaRPr lang="en-US" sz="1800" dirty="0"/>
          </a:p>
        </p:txBody>
      </p:sp>
      <p:sp>
        <p:nvSpPr>
          <p:cNvPr id="25" name="Example post 1"/>
          <p:cNvSpPr/>
          <p:nvPr/>
        </p:nvSpPr>
        <p:spPr>
          <a:xfrm>
            <a:off x="6675120" y="3840480"/>
            <a:ext cx="4965192" cy="1005840"/>
          </a:xfrm>
          <a:prstGeom prst="roundRect">
            <a:avLst>
              <a:gd name="adj" fmla="val 10909"/>
            </a:avLst>
          </a:prstGeom>
          <a:solidFill>
            <a:schemeClr val="bg2"/>
          </a:solidFill>
          <a:ln/>
        </p:spPr>
      </p:sp>
      <p:sp>
        <p:nvSpPr>
          <p:cNvPr id="26" name="Text 21"/>
          <p:cNvSpPr txBox="1"/>
          <p:nvPr/>
        </p:nvSpPr>
        <p:spPr>
          <a:xfrm>
            <a:off x="6903720" y="3931920"/>
            <a:ext cx="3017520" cy="822960"/>
          </a:xfrm>
          <a:prstGeom prst="rect">
            <a:avLst/>
          </a:prstGeom>
          <a:noFill/>
          <a:ln/>
        </p:spPr>
        <p:txBody>
          <a:bodyPr wrap="square" lIns="0" tIns="0" rIns="0" bIns="0" rtlCol="0" anchor="ctr"/>
          <a:lstStyle/>
          <a:p>
            <a:pPr indent="0" marL="0">
              <a:buNone/>
            </a:pPr>
            <a:r>
              <a:rPr lang="en-US" sz="1500" i="1" dirty="0">
                <a:solidFill>
                  <a:schemeClr val="tx1"/>
                </a:solidFill>
              </a:rPr>
              <a:t>“I do not love this, not good at all”</a:t>
            </a:r>
            <a:endParaRPr lang="en-US" sz="1500" dirty="0"/>
          </a:p>
        </p:txBody>
      </p:sp>
      <p:sp>
        <p:nvSpPr>
          <p:cNvPr id="27" name="Text 22"/>
          <p:cNvSpPr txBox="1"/>
          <p:nvPr/>
        </p:nvSpPr>
        <p:spPr>
          <a:xfrm>
            <a:off x="10104120" y="4023360"/>
            <a:ext cx="1280160" cy="640080"/>
          </a:xfrm>
          <a:prstGeom prst="roundRect">
            <a:avLst>
              <a:gd name="adj" fmla="val 28571"/>
            </a:avLst>
          </a:prstGeom>
          <a:solidFill>
            <a:schemeClr val="accent3"/>
          </a:solidFill>
          <a:ln/>
        </p:spPr>
        <p:txBody>
          <a:bodyPr wrap="square" lIns="0" tIns="0" rIns="0" bIns="0" rtlCol="0" anchor="ctr"/>
          <a:lstStyle/>
          <a:p>
            <a:pPr algn="ctr" indent="0" marL="0">
              <a:buNone/>
            </a:pPr>
            <a:r>
              <a:rPr lang="en-US" sz="1200" b="1" dirty="0">
                <a:solidFill>
                  <a:schemeClr val="bg1"/>
                </a:solidFill>
              </a:rPr>
              <a:t>NEGATIVE</a:t>
            </a:r>
            <a:endParaRPr lang="en-US" sz="1200" dirty="0"/>
          </a:p>
          <a:p>
            <a:pPr algn="ctr" indent="0" marL="0">
              <a:buNone/>
            </a:pPr>
            <a:r>
              <a:rPr lang="en-US" sz="1200" b="1" dirty="0">
                <a:solidFill>
                  <a:schemeClr val="bg1"/>
                </a:solidFill>
              </a:rPr>
              <a:t>−0.66</a:t>
            </a:r>
            <a:endParaRPr lang="en-US" sz="1200" dirty="0"/>
          </a:p>
        </p:txBody>
      </p:sp>
      <p:sp>
        <p:nvSpPr>
          <p:cNvPr id="28" name="Example post 2"/>
          <p:cNvSpPr/>
          <p:nvPr/>
        </p:nvSpPr>
        <p:spPr>
          <a:xfrm>
            <a:off x="6675120" y="5029200"/>
            <a:ext cx="4965192" cy="1005840"/>
          </a:xfrm>
          <a:prstGeom prst="roundRect">
            <a:avLst>
              <a:gd name="adj" fmla="val 10909"/>
            </a:avLst>
          </a:prstGeom>
          <a:solidFill>
            <a:schemeClr val="bg2"/>
          </a:solidFill>
          <a:ln/>
        </p:spPr>
      </p:sp>
      <p:sp>
        <p:nvSpPr>
          <p:cNvPr id="29" name="Text 24"/>
          <p:cNvSpPr txBox="1"/>
          <p:nvPr/>
        </p:nvSpPr>
        <p:spPr>
          <a:xfrm>
            <a:off x="6903720" y="5120640"/>
            <a:ext cx="3017520" cy="822960"/>
          </a:xfrm>
          <a:prstGeom prst="rect">
            <a:avLst/>
          </a:prstGeom>
          <a:noFill/>
          <a:ln/>
        </p:spPr>
        <p:txBody>
          <a:bodyPr wrap="square" lIns="0" tIns="0" rIns="0" bIns="0" rtlCol="0" anchor="ctr"/>
          <a:lstStyle/>
          <a:p>
            <a:pPr indent="0" marL="0">
              <a:buNone/>
            </a:pPr>
            <a:r>
              <a:rPr lang="en-US" sz="1500" i="1" dirty="0">
                <a:solidFill>
                  <a:schemeClr val="tx1"/>
                </a:solidFill>
              </a:rPr>
              <a:t>“Great news!! Amazing”</a:t>
            </a:r>
            <a:endParaRPr lang="en-US" sz="1500" dirty="0"/>
          </a:p>
        </p:txBody>
      </p:sp>
      <p:sp>
        <p:nvSpPr>
          <p:cNvPr id="30" name="Text 25"/>
          <p:cNvSpPr txBox="1"/>
          <p:nvPr/>
        </p:nvSpPr>
        <p:spPr>
          <a:xfrm>
            <a:off x="10104120" y="5212080"/>
            <a:ext cx="1280160" cy="640080"/>
          </a:xfrm>
          <a:prstGeom prst="roundRect">
            <a:avLst>
              <a:gd name="adj" fmla="val 28571"/>
            </a:avLst>
          </a:prstGeom>
          <a:solidFill>
            <a:schemeClr val="accent1"/>
          </a:solidFill>
          <a:ln/>
        </p:spPr>
        <p:txBody>
          <a:bodyPr wrap="square" lIns="0" tIns="0" rIns="0" bIns="0" rtlCol="0" anchor="ctr"/>
          <a:lstStyle/>
          <a:p>
            <a:pPr algn="ctr" indent="0" marL="0">
              <a:buNone/>
            </a:pPr>
            <a:r>
              <a:rPr lang="en-US" sz="1200" b="1" dirty="0">
                <a:solidFill>
                  <a:schemeClr val="bg1"/>
                </a:solidFill>
              </a:rPr>
              <a:t>POSITIVE</a:t>
            </a:r>
            <a:endParaRPr lang="en-US" sz="1200" dirty="0"/>
          </a:p>
          <a:p>
            <a:pPr algn="ctr" indent="0" marL="0">
              <a:buNone/>
            </a:pPr>
            <a:r>
              <a:rPr lang="en-US" sz="1200" b="1" dirty="0">
                <a:solidFill>
                  <a:schemeClr val="bg1"/>
                </a:solidFill>
              </a:rPr>
              <a:t>+0.84</a:t>
            </a:r>
            <a:endParaRPr lang="en-US" sz="1200" dirty="0"/>
          </a:p>
        </p:txBody>
      </p:sp>
      <p:sp>
        <p:nvSpPr>
          <p:cNvPr id="25" name="Slide Number Placeholder 0"/>
          <p:cNvSpPr>
            <a:spLocks noGrp="1"/>
          </p:cNvSpPr>
          <p:nvPr>
            <p:ph type="sldNum" sz="quarter" idx="4294967295"/>
          </p:nvPr>
        </p:nvSpPr>
        <p:spPr>
          <a:xfrm>
            <a:off x="11155680" y="6419088"/>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indent="0" marL="0">
              <a:buNone/>
            </a:pPr>
            <a:r>
              <a:rPr lang="en-US" sz="3600" b="1" dirty="0">
                <a:solidFill>
                  <a:schemeClr val="tx1"/>
                </a:solidFill>
              </a:rPr>
              <a:t>Topics and keywords</a:t>
            </a:r>
            <a:endParaRPr lang="en-US" sz="3600" dirty="0"/>
          </a:p>
        </p:txBody>
      </p:sp>
      <p:sp>
        <p:nvSpPr>
          <p:cNvPr id="3" name="Topic card"/>
          <p:cNvSpPr/>
          <p:nvPr/>
        </p:nvSpPr>
        <p:spPr>
          <a:xfrm>
            <a:off x="548640" y="1554480"/>
            <a:ext cx="5303520" cy="4526280"/>
          </a:xfrm>
          <a:prstGeom prst="roundRect">
            <a:avLst>
              <a:gd name="adj" fmla="val 2424"/>
            </a:avLst>
          </a:prstGeom>
          <a:solidFill>
            <a:schemeClr val="bg1"/>
          </a:solidFill>
          <a:ln/>
          <a:effectLst>
            <a:outerShdw sx="100000" sy="100000" kx="0" ky="0" algn="bl" rotWithShape="0" blurRad="127000" dist="25400" dir="5400000">
              <a:srgbClr val="000000">
                <a:alpha val="10000"/>
              </a:srgbClr>
            </a:outerShdw>
          </a:effectLst>
        </p:spPr>
      </p:sp>
      <p:sp>
        <p:nvSpPr>
          <p:cNvPr id="4" name="Text 2"/>
          <p:cNvSpPr txBox="1"/>
          <p:nvPr/>
        </p:nvSpPr>
        <p:spPr>
          <a:xfrm>
            <a:off x="822960" y="1737360"/>
            <a:ext cx="4754880" cy="365760"/>
          </a:xfrm>
          <a:prstGeom prst="rect">
            <a:avLst/>
          </a:prstGeom>
          <a:noFill/>
          <a:ln/>
        </p:spPr>
        <p:txBody>
          <a:bodyPr wrap="square" lIns="0" tIns="0" rIns="0" bIns="0" rtlCol="0" anchor="t"/>
          <a:lstStyle/>
          <a:p>
            <a:pPr indent="0" marL="0">
              <a:buNone/>
            </a:pPr>
            <a:r>
              <a:rPr lang="en-US" sz="2000" b="1" dirty="0">
                <a:solidFill>
                  <a:schemeClr val="tx1"/>
                </a:solidFill>
              </a:rPr>
              <a:t>Topic classification</a:t>
            </a:r>
            <a:endParaRPr lang="en-US" sz="2000" dirty="0"/>
          </a:p>
        </p:txBody>
      </p:sp>
      <p:sp>
        <p:nvSpPr>
          <p:cNvPr id="5" name="Text 3"/>
          <p:cNvSpPr txBox="1"/>
          <p:nvPr/>
        </p:nvSpPr>
        <p:spPr>
          <a:xfrm>
            <a:off x="822960" y="2194560"/>
            <a:ext cx="4754880" cy="731520"/>
          </a:xfrm>
          <a:prstGeom prst="rect">
            <a:avLst/>
          </a:prstGeom>
          <a:noFill/>
          <a:ln/>
        </p:spPr>
        <p:txBody>
          <a:bodyPr wrap="square" lIns="0" tIns="0" rIns="0" bIns="0" rtlCol="0" anchor="t"/>
          <a:lstStyle/>
          <a:p>
            <a:pPr indent="0" marL="0">
              <a:buNone/>
            </a:pPr>
            <a:r>
              <a:rPr lang="en-US" sz="1400" dirty="0">
                <a:solidFill>
                  <a:schemeClr val="accent5"/>
                </a:solidFill>
              </a:rPr>
              <a:t>Each topic has a set of related words. A post goes to the topic with the most matches.</a:t>
            </a:r>
            <a:endParaRPr lang="en-US" sz="1400" dirty="0"/>
          </a:p>
        </p:txBody>
      </p:sp>
      <p:sp>
        <p:nvSpPr>
          <p:cNvPr id="6" name="Text 4"/>
          <p:cNvSpPr txBox="1"/>
          <p:nvPr/>
        </p:nvSpPr>
        <p:spPr>
          <a:xfrm>
            <a:off x="822960" y="3154680"/>
            <a:ext cx="2286000" cy="502920"/>
          </a:xfrm>
          <a:prstGeom prst="roundRect">
            <a:avLst>
              <a:gd name="adj" fmla="val 36364"/>
            </a:avLst>
          </a:prstGeom>
          <a:solidFill>
            <a:schemeClr val="accent4"/>
          </a:solidFill>
          <a:ln/>
        </p:spPr>
        <p:txBody>
          <a:bodyPr wrap="square" lIns="0" tIns="0" rIns="0" bIns="0" rtlCol="0" anchor="ctr"/>
          <a:lstStyle/>
          <a:p>
            <a:pPr algn="ctr" indent="0" marL="0">
              <a:buNone/>
            </a:pPr>
            <a:r>
              <a:rPr lang="en-US" sz="1400" b="1" dirty="0">
                <a:solidFill>
                  <a:schemeClr val="tx1"/>
                </a:solidFill>
              </a:rPr>
              <a:t>Technology</a:t>
            </a:r>
            <a:endParaRPr lang="en-US" sz="1400" dirty="0"/>
          </a:p>
        </p:txBody>
      </p:sp>
      <p:sp>
        <p:nvSpPr>
          <p:cNvPr id="7" name="Text 5"/>
          <p:cNvSpPr txBox="1"/>
          <p:nvPr/>
        </p:nvSpPr>
        <p:spPr>
          <a:xfrm>
            <a:off x="3291840" y="3154680"/>
            <a:ext cx="2286000" cy="502920"/>
          </a:xfrm>
          <a:prstGeom prst="roundRect">
            <a:avLst>
              <a:gd name="adj" fmla="val 36364"/>
            </a:avLst>
          </a:prstGeom>
          <a:solidFill>
            <a:schemeClr val="accent4"/>
          </a:solidFill>
          <a:ln/>
        </p:spPr>
        <p:txBody>
          <a:bodyPr wrap="square" lIns="0" tIns="0" rIns="0" bIns="0" rtlCol="0" anchor="ctr"/>
          <a:lstStyle/>
          <a:p>
            <a:pPr algn="ctr" indent="0" marL="0">
              <a:buNone/>
            </a:pPr>
            <a:r>
              <a:rPr lang="en-US" sz="1400" b="1" dirty="0">
                <a:solidFill>
                  <a:schemeClr val="tx1"/>
                </a:solidFill>
              </a:rPr>
              <a:t>Business &amp; Economy</a:t>
            </a:r>
            <a:endParaRPr lang="en-US" sz="1400" dirty="0"/>
          </a:p>
        </p:txBody>
      </p:sp>
      <p:sp>
        <p:nvSpPr>
          <p:cNvPr id="8" name="Text 6"/>
          <p:cNvSpPr txBox="1"/>
          <p:nvPr/>
        </p:nvSpPr>
        <p:spPr>
          <a:xfrm>
            <a:off x="822960" y="3840480"/>
            <a:ext cx="2286000" cy="502920"/>
          </a:xfrm>
          <a:prstGeom prst="roundRect">
            <a:avLst>
              <a:gd name="adj" fmla="val 36364"/>
            </a:avLst>
          </a:prstGeom>
          <a:solidFill>
            <a:schemeClr val="accent4"/>
          </a:solidFill>
          <a:ln/>
        </p:spPr>
        <p:txBody>
          <a:bodyPr wrap="square" lIns="0" tIns="0" rIns="0" bIns="0" rtlCol="0" anchor="ctr"/>
          <a:lstStyle/>
          <a:p>
            <a:pPr algn="ctr" indent="0" marL="0">
              <a:buNone/>
            </a:pPr>
            <a:r>
              <a:rPr lang="en-US" sz="1400" b="1" dirty="0">
                <a:solidFill>
                  <a:schemeClr val="tx1"/>
                </a:solidFill>
              </a:rPr>
              <a:t>Politics</a:t>
            </a:r>
            <a:endParaRPr lang="en-US" sz="1400" dirty="0"/>
          </a:p>
        </p:txBody>
      </p:sp>
      <p:sp>
        <p:nvSpPr>
          <p:cNvPr id="9" name="Text 7"/>
          <p:cNvSpPr txBox="1"/>
          <p:nvPr/>
        </p:nvSpPr>
        <p:spPr>
          <a:xfrm>
            <a:off x="3291840" y="3840480"/>
            <a:ext cx="2286000" cy="502920"/>
          </a:xfrm>
          <a:prstGeom prst="roundRect">
            <a:avLst>
              <a:gd name="adj" fmla="val 36364"/>
            </a:avLst>
          </a:prstGeom>
          <a:solidFill>
            <a:schemeClr val="accent4"/>
          </a:solidFill>
          <a:ln/>
        </p:spPr>
        <p:txBody>
          <a:bodyPr wrap="square" lIns="0" tIns="0" rIns="0" bIns="0" rtlCol="0" anchor="ctr"/>
          <a:lstStyle/>
          <a:p>
            <a:pPr algn="ctr" indent="0" marL="0">
              <a:buNone/>
            </a:pPr>
            <a:r>
              <a:rPr lang="en-US" sz="1400" b="1" dirty="0">
                <a:solidFill>
                  <a:schemeClr val="tx1"/>
                </a:solidFill>
              </a:rPr>
              <a:t>Health</a:t>
            </a:r>
            <a:endParaRPr lang="en-US" sz="1400" dirty="0"/>
          </a:p>
        </p:txBody>
      </p:sp>
      <p:sp>
        <p:nvSpPr>
          <p:cNvPr id="10" name="Text 8"/>
          <p:cNvSpPr txBox="1"/>
          <p:nvPr/>
        </p:nvSpPr>
        <p:spPr>
          <a:xfrm>
            <a:off x="822960" y="4526280"/>
            <a:ext cx="2286000" cy="502920"/>
          </a:xfrm>
          <a:prstGeom prst="roundRect">
            <a:avLst>
              <a:gd name="adj" fmla="val 36364"/>
            </a:avLst>
          </a:prstGeom>
          <a:solidFill>
            <a:schemeClr val="accent4"/>
          </a:solidFill>
          <a:ln/>
        </p:spPr>
        <p:txBody>
          <a:bodyPr wrap="square" lIns="0" tIns="0" rIns="0" bIns="0" rtlCol="0" anchor="ctr"/>
          <a:lstStyle/>
          <a:p>
            <a:pPr algn="ctr" indent="0" marL="0">
              <a:buNone/>
            </a:pPr>
            <a:r>
              <a:rPr lang="en-US" sz="1400" b="1" dirty="0">
                <a:solidFill>
                  <a:schemeClr val="tx1"/>
                </a:solidFill>
              </a:rPr>
              <a:t>Sports</a:t>
            </a:r>
            <a:endParaRPr lang="en-US" sz="1400" dirty="0"/>
          </a:p>
        </p:txBody>
      </p:sp>
      <p:sp>
        <p:nvSpPr>
          <p:cNvPr id="11" name="Text 9"/>
          <p:cNvSpPr txBox="1"/>
          <p:nvPr/>
        </p:nvSpPr>
        <p:spPr>
          <a:xfrm>
            <a:off x="3291840" y="4526280"/>
            <a:ext cx="2286000" cy="502920"/>
          </a:xfrm>
          <a:prstGeom prst="roundRect">
            <a:avLst>
              <a:gd name="adj" fmla="val 36364"/>
            </a:avLst>
          </a:prstGeom>
          <a:solidFill>
            <a:schemeClr val="accent4"/>
          </a:solidFill>
          <a:ln/>
        </p:spPr>
        <p:txBody>
          <a:bodyPr wrap="square" lIns="0" tIns="0" rIns="0" bIns="0" rtlCol="0" anchor="ctr"/>
          <a:lstStyle/>
          <a:p>
            <a:pPr algn="ctr" indent="0" marL="0">
              <a:buNone/>
            </a:pPr>
            <a:r>
              <a:rPr lang="en-US" sz="1400" b="1" dirty="0">
                <a:solidFill>
                  <a:schemeClr val="tx1"/>
                </a:solidFill>
              </a:rPr>
              <a:t>Entertainment</a:t>
            </a:r>
            <a:endParaRPr lang="en-US" sz="1400" dirty="0"/>
          </a:p>
        </p:txBody>
      </p:sp>
      <p:sp>
        <p:nvSpPr>
          <p:cNvPr id="12" name="Text 10"/>
          <p:cNvSpPr txBox="1"/>
          <p:nvPr/>
        </p:nvSpPr>
        <p:spPr>
          <a:xfrm>
            <a:off x="822960" y="5212080"/>
            <a:ext cx="2286000" cy="502920"/>
          </a:xfrm>
          <a:prstGeom prst="roundRect">
            <a:avLst>
              <a:gd name="adj" fmla="val 36364"/>
            </a:avLst>
          </a:prstGeom>
          <a:solidFill>
            <a:schemeClr val="accent4"/>
          </a:solidFill>
          <a:ln/>
        </p:spPr>
        <p:txBody>
          <a:bodyPr wrap="square" lIns="0" tIns="0" rIns="0" bIns="0" rtlCol="0" anchor="ctr"/>
          <a:lstStyle/>
          <a:p>
            <a:pPr algn="ctr" indent="0" marL="0">
              <a:buNone/>
            </a:pPr>
            <a:r>
              <a:rPr lang="en-US" sz="1400" b="1" dirty="0">
                <a:solidFill>
                  <a:schemeClr val="tx1"/>
                </a:solidFill>
              </a:rPr>
              <a:t>Environment</a:t>
            </a:r>
            <a:endParaRPr lang="en-US" sz="1400" dirty="0"/>
          </a:p>
        </p:txBody>
      </p:sp>
      <p:sp>
        <p:nvSpPr>
          <p:cNvPr id="13" name="Text 11"/>
          <p:cNvSpPr txBox="1"/>
          <p:nvPr/>
        </p:nvSpPr>
        <p:spPr>
          <a:xfrm>
            <a:off x="3291840" y="5212080"/>
            <a:ext cx="2286000" cy="502920"/>
          </a:xfrm>
          <a:prstGeom prst="roundRect">
            <a:avLst>
              <a:gd name="adj" fmla="val 36364"/>
            </a:avLst>
          </a:prstGeom>
          <a:solidFill>
            <a:schemeClr val="accent4"/>
          </a:solidFill>
          <a:ln/>
        </p:spPr>
        <p:txBody>
          <a:bodyPr wrap="square" lIns="0" tIns="0" rIns="0" bIns="0" rtlCol="0" anchor="ctr"/>
          <a:lstStyle/>
          <a:p>
            <a:pPr algn="ctr" indent="0" marL="0">
              <a:buNone/>
            </a:pPr>
            <a:r>
              <a:rPr lang="en-US" sz="1400" b="1" dirty="0">
                <a:solidFill>
                  <a:schemeClr val="tx1"/>
                </a:solidFill>
              </a:rPr>
              <a:t>Education</a:t>
            </a:r>
            <a:endParaRPr lang="en-US" sz="1400" dirty="0"/>
          </a:p>
        </p:txBody>
      </p:sp>
      <p:sp>
        <p:nvSpPr>
          <p:cNvPr id="14" name="Keyword card"/>
          <p:cNvSpPr/>
          <p:nvPr/>
        </p:nvSpPr>
        <p:spPr>
          <a:xfrm>
            <a:off x="6126480" y="1554480"/>
            <a:ext cx="5513832" cy="4526280"/>
          </a:xfrm>
          <a:prstGeom prst="roundRect">
            <a:avLst>
              <a:gd name="adj" fmla="val 2424"/>
            </a:avLst>
          </a:prstGeom>
          <a:solidFill>
            <a:schemeClr val="bg1"/>
          </a:solidFill>
          <a:ln/>
          <a:effectLst>
            <a:outerShdw sx="100000" sy="100000" kx="0" ky="0" algn="bl" rotWithShape="0" blurRad="127000" dist="25400" dir="5400000">
              <a:srgbClr val="000000">
                <a:alpha val="10000"/>
              </a:srgbClr>
            </a:outerShdw>
          </a:effectLst>
        </p:spPr>
      </p:sp>
      <p:sp>
        <p:nvSpPr>
          <p:cNvPr id="15" name="Text 13"/>
          <p:cNvSpPr txBox="1"/>
          <p:nvPr/>
        </p:nvSpPr>
        <p:spPr>
          <a:xfrm>
            <a:off x="6400800" y="1737360"/>
            <a:ext cx="4937760" cy="365760"/>
          </a:xfrm>
          <a:prstGeom prst="rect">
            <a:avLst/>
          </a:prstGeom>
          <a:noFill/>
          <a:ln/>
        </p:spPr>
        <p:txBody>
          <a:bodyPr wrap="square" lIns="0" tIns="0" rIns="0" bIns="0" rtlCol="0" anchor="t"/>
          <a:lstStyle/>
          <a:p>
            <a:pPr indent="0" marL="0">
              <a:buNone/>
            </a:pPr>
            <a:r>
              <a:rPr lang="en-US" sz="2000" b="1" dirty="0">
                <a:solidFill>
                  <a:schemeClr val="tx1"/>
                </a:solidFill>
              </a:rPr>
              <a:t>Keyword extraction</a:t>
            </a:r>
            <a:endParaRPr lang="en-US" sz="2000" dirty="0"/>
          </a:p>
        </p:txBody>
      </p:sp>
      <p:sp>
        <p:nvSpPr>
          <p:cNvPr id="16" name="Text 14"/>
          <p:cNvSpPr txBox="1"/>
          <p:nvPr/>
        </p:nvSpPr>
        <p:spPr>
          <a:xfrm>
            <a:off x="6400800" y="2240280"/>
            <a:ext cx="4937760" cy="14630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Single words and two-word phrases, e.g. “ai regulation”</a:t>
            </a:r>
            <a:endParaRPr lang="en-US" sz="1400" dirty="0"/>
          </a:p>
          <a:p>
            <a:pPr marL="342900" indent="-342900">
              <a:spcAft>
                <a:spcPts val="800"/>
              </a:spcAft>
              <a:buSzPct val="100000"/>
              <a:buChar char="•"/>
            </a:pPr>
            <a:r>
              <a:rPr lang="en-US" sz="1400" dirty="0">
                <a:solidFill>
                  <a:schemeClr val="tx1"/>
                </a:solidFill>
              </a:rPr>
              <a:t>Count how many posts contain each term</a:t>
            </a:r>
            <a:endParaRPr lang="en-US" sz="1400" dirty="0"/>
          </a:p>
          <a:p>
            <a:pPr marL="342900" indent="-342900">
              <a:spcAft>
                <a:spcPts val="800"/>
              </a:spcAft>
              <a:buSzPct val="100000"/>
              <a:buChar char="•"/>
            </a:pPr>
            <a:r>
              <a:rPr lang="en-US" sz="1400" dirty="0">
                <a:solidFill>
                  <a:schemeClr val="tx1"/>
                </a:solidFill>
              </a:rPr>
              <a:t>A min-heap keeps only the top 24 terms</a:t>
            </a:r>
            <a:endParaRPr lang="en-US" sz="1400" dirty="0"/>
          </a:p>
        </p:txBody>
      </p:sp>
      <p:sp>
        <p:nvSpPr>
          <p:cNvPr id="17" name="Cloud panel"/>
          <p:cNvSpPr/>
          <p:nvPr/>
        </p:nvSpPr>
        <p:spPr>
          <a:xfrm>
            <a:off x="6400800" y="3840480"/>
            <a:ext cx="4965192" cy="1783080"/>
          </a:xfrm>
          <a:prstGeom prst="roundRect">
            <a:avLst>
              <a:gd name="adj" fmla="val 6154"/>
            </a:avLst>
          </a:prstGeom>
          <a:solidFill>
            <a:schemeClr val="bg2"/>
          </a:solidFill>
          <a:ln/>
        </p:spPr>
      </p:sp>
      <p:sp>
        <p:nvSpPr>
          <p:cNvPr id="18" name="Keyword cloud sample"/>
          <p:cNvSpPr txBox="1"/>
          <p:nvPr/>
        </p:nvSpPr>
        <p:spPr>
          <a:xfrm>
            <a:off x="6583680" y="3931920"/>
            <a:ext cx="4599432" cy="1600200"/>
          </a:xfrm>
          <a:prstGeom prst="rect">
            <a:avLst/>
          </a:prstGeom>
          <a:noFill/>
          <a:ln/>
        </p:spPr>
        <p:txBody>
          <a:bodyPr wrap="square" lIns="0" tIns="0" rIns="0" bIns="0" rtlCol="0" anchor="ctr"/>
          <a:lstStyle/>
          <a:p>
            <a:pPr algn="ctr" indent="0" marL="0">
              <a:buNone/>
            </a:pPr>
            <a:r>
              <a:rPr lang="en-US" sz="3200" b="1" dirty="0">
                <a:solidFill>
                  <a:schemeClr val="accent5"/>
                </a:solidFill>
              </a:rPr>
              <a:t>deepfake  </a:t>
            </a:r>
            <a:pPr algn="ctr" indent="0" marL="0">
              <a:buNone/>
            </a:pPr>
            <a:r>
              <a:rPr lang="en-US" sz="2200" b="1" dirty="0">
                <a:solidFill>
                  <a:schemeClr val="accent3"/>
                </a:solidFill>
              </a:rPr>
              <a:t>terrible  </a:t>
            </a:r>
            <a:pPr algn="ctr" indent="0" marL="0">
              <a:buNone/>
            </a:pPr>
            <a:r>
              <a:rPr lang="en-US" sz="2600" b="1" dirty="0">
                <a:solidFill>
                  <a:schemeClr val="accent5"/>
                </a:solidFill>
              </a:rPr>
              <a:t>ai regulation  </a:t>
            </a:r>
            <a:pPr algn="ctr" indent="0" marL="0">
              <a:buNone/>
            </a:pPr>
            <a:r>
              <a:rPr lang="en-US" sz="2400" b="1" dirty="0">
                <a:solidFill>
                  <a:schemeClr val="accent1"/>
                </a:solidFill>
              </a:rPr>
              <a:t>great  </a:t>
            </a:r>
            <a:pPr algn="ctr" indent="0" marL="0">
              <a:buNone/>
            </a:pPr>
            <a:r>
              <a:rPr lang="en-US" sz="1800" b="1" dirty="0">
                <a:solidFill>
                  <a:schemeClr val="accent3"/>
                </a:solidFill>
              </a:rPr>
              <a:t>angry  </a:t>
            </a:r>
            <a:pPr algn="ctr" indent="0" marL="0">
              <a:buNone/>
            </a:pPr>
            <a:r>
              <a:rPr lang="en-US" sz="2000" b="1" dirty="0">
                <a:solidFill>
                  <a:schemeClr val="accent1"/>
                </a:solidFill>
              </a:rPr>
              <a:t>progress  </a:t>
            </a:r>
            <a:pPr algn="ctr" indent="0" marL="0">
              <a:buNone/>
            </a:pPr>
            <a:r>
              <a:rPr lang="en-US" sz="1600" b="1" dirty="0">
                <a:solidFill>
                  <a:schemeClr val="accent1"/>
                </a:solidFill>
              </a:rPr>
              <a:t>detection tool</a:t>
            </a:r>
            <a:endParaRPr lang="en-US" sz="3200" dirty="0"/>
          </a:p>
        </p:txBody>
      </p:sp>
      <p:sp>
        <p:nvSpPr>
          <p:cNvPr id="19" name="Text 17"/>
          <p:cNvSpPr txBox="1"/>
          <p:nvPr/>
        </p:nvSpPr>
        <p:spPr>
          <a:xfrm>
            <a:off x="6400800" y="5687568"/>
            <a:ext cx="4965192" cy="274320"/>
          </a:xfrm>
          <a:prstGeom prst="rect">
            <a:avLst/>
          </a:prstGeom>
          <a:noFill/>
          <a:ln/>
        </p:spPr>
        <p:txBody>
          <a:bodyPr wrap="square" lIns="0" tIns="0" rIns="0" bIns="0" rtlCol="0" anchor="t"/>
          <a:lstStyle/>
          <a:p>
            <a:pPr indent="0" marL="0">
              <a:buNone/>
            </a:pPr>
            <a:r>
              <a:rPr lang="en-US" sz="1200" dirty="0">
                <a:solidFill>
                  <a:schemeClr val="accent5"/>
                </a:solidFill>
              </a:rPr>
              <a:t>Size = number of posts · colour = average sentiment</a:t>
            </a:r>
            <a:endParaRPr lang="en-US" sz="1200" dirty="0"/>
          </a:p>
        </p:txBody>
      </p:sp>
      <p:sp>
        <p:nvSpPr>
          <p:cNvPr id="25" name="Slide Number Placeholder 0"/>
          <p:cNvSpPr>
            <a:spLocks noGrp="1"/>
          </p:cNvSpPr>
          <p:nvPr>
            <p:ph type="sldNum" sz="quarter" idx="4294967295"/>
          </p:nvPr>
        </p:nvSpPr>
        <p:spPr>
          <a:xfrm>
            <a:off x="11155680" y="6419088"/>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indent="0" marL="0">
              <a:buNone/>
            </a:pPr>
            <a:r>
              <a:rPr lang="en-US" sz="3600" b="1" dirty="0">
                <a:solidFill>
                  <a:schemeClr val="tx1"/>
                </a:solidFill>
              </a:rPr>
              <a:t>Detecting emerging discussions</a:t>
            </a:r>
            <a:endParaRPr lang="en-US" sz="3600" dirty="0"/>
          </a:p>
        </p:txBody>
      </p:sp>
      <p:sp>
        <p:nvSpPr>
          <p:cNvPr id="3" name="Text 1"/>
          <p:cNvSpPr txBox="1"/>
          <p:nvPr/>
        </p:nvSpPr>
        <p:spPr>
          <a:xfrm>
            <a:off x="548640" y="1554480"/>
            <a:ext cx="5486400" cy="320040"/>
          </a:xfrm>
          <a:prstGeom prst="rect">
            <a:avLst/>
          </a:prstGeom>
          <a:noFill/>
          <a:ln/>
        </p:spPr>
        <p:txBody>
          <a:bodyPr wrap="square" lIns="0" tIns="0" rIns="0" bIns="0" rtlCol="0" anchor="t"/>
          <a:lstStyle/>
          <a:p>
            <a:pPr indent="0" marL="0">
              <a:buNone/>
            </a:pPr>
            <a:r>
              <a:rPr lang="en-US" sz="1600" b="1" dirty="0">
                <a:solidFill>
                  <a:schemeClr val="tx1"/>
                </a:solidFill>
              </a:rPr>
              <a:t>The date range is split in two</a:t>
            </a:r>
            <a:endParaRPr lang="en-US" sz="1600" dirty="0"/>
          </a:p>
        </p:txBody>
      </p:sp>
      <p:sp>
        <p:nvSpPr>
          <p:cNvPr id="4" name="Earlier window"/>
          <p:cNvSpPr txBox="1"/>
          <p:nvPr/>
        </p:nvSpPr>
        <p:spPr>
          <a:xfrm>
            <a:off x="548640" y="1965960"/>
            <a:ext cx="2697480" cy="640080"/>
          </a:xfrm>
          <a:prstGeom prst="rect">
            <a:avLst/>
          </a:prstGeom>
          <a:solidFill>
            <a:schemeClr val="accent5"/>
          </a:solidFill>
          <a:ln/>
        </p:spPr>
        <p:txBody>
          <a:bodyPr wrap="square" lIns="0" tIns="0" rIns="0" bIns="0" rtlCol="0" anchor="ctr"/>
          <a:lstStyle/>
          <a:p>
            <a:pPr algn="ctr" indent="0" marL="0">
              <a:buNone/>
            </a:pPr>
            <a:r>
              <a:rPr lang="en-US" sz="1300" b="1" dirty="0">
                <a:solidFill>
                  <a:schemeClr val="bg1"/>
                </a:solidFill>
              </a:rPr>
              <a:t>Earlier window · days 1–7</a:t>
            </a:r>
            <a:endParaRPr lang="en-US" sz="1300" dirty="0"/>
          </a:p>
        </p:txBody>
      </p:sp>
      <p:sp>
        <p:nvSpPr>
          <p:cNvPr id="5" name="Recent window"/>
          <p:cNvSpPr txBox="1"/>
          <p:nvPr/>
        </p:nvSpPr>
        <p:spPr>
          <a:xfrm>
            <a:off x="3337560" y="1965960"/>
            <a:ext cx="2697480" cy="640080"/>
          </a:xfrm>
          <a:prstGeom prst="rect">
            <a:avLst/>
          </a:prstGeom>
          <a:solidFill>
            <a:schemeClr val="accent1"/>
          </a:solidFill>
          <a:ln/>
        </p:spPr>
        <p:txBody>
          <a:bodyPr wrap="square" lIns="0" tIns="0" rIns="0" bIns="0" rtlCol="0" anchor="ctr"/>
          <a:lstStyle/>
          <a:p>
            <a:pPr algn="ctr" indent="0" marL="0">
              <a:buNone/>
            </a:pPr>
            <a:r>
              <a:rPr lang="en-US" sz="1300" b="1" dirty="0">
                <a:solidFill>
                  <a:schemeClr val="bg1"/>
                </a:solidFill>
              </a:rPr>
              <a:t>Recent window · days 8–14</a:t>
            </a:r>
            <a:endParaRPr lang="en-US" sz="1300" dirty="0"/>
          </a:p>
        </p:txBody>
      </p:sp>
      <p:sp>
        <p:nvSpPr>
          <p:cNvPr id="6" name="Formula card"/>
          <p:cNvSpPr/>
          <p:nvPr/>
        </p:nvSpPr>
        <p:spPr>
          <a:xfrm>
            <a:off x="548640" y="2880360"/>
            <a:ext cx="5486400" cy="1874520"/>
          </a:xfrm>
          <a:prstGeom prst="roundRect">
            <a:avLst>
              <a:gd name="adj" fmla="val 5854"/>
            </a:avLst>
          </a:prstGeom>
          <a:solidFill>
            <a:schemeClr val="bg2"/>
          </a:solidFill>
          <a:ln/>
        </p:spPr>
      </p:sp>
      <p:sp>
        <p:nvSpPr>
          <p:cNvPr id="7" name="Text 5"/>
          <p:cNvSpPr txBox="1"/>
          <p:nvPr/>
        </p:nvSpPr>
        <p:spPr>
          <a:xfrm>
            <a:off x="822960" y="3017520"/>
            <a:ext cx="4937760" cy="274320"/>
          </a:xfrm>
          <a:prstGeom prst="rect">
            <a:avLst/>
          </a:prstGeom>
          <a:noFill/>
          <a:ln/>
        </p:spPr>
        <p:txBody>
          <a:bodyPr wrap="square" lIns="0" tIns="0" rIns="0" bIns="0" rtlCol="0" anchor="t"/>
          <a:lstStyle/>
          <a:p>
            <a:pPr indent="0" marL="0">
              <a:buNone/>
            </a:pPr>
            <a:r>
              <a:rPr lang="en-US" sz="1600" b="1" dirty="0">
                <a:solidFill>
                  <a:schemeClr val="tx1"/>
                </a:solidFill>
              </a:rPr>
              <a:t>Growth score</a:t>
            </a:r>
            <a:endParaRPr lang="en-US" sz="1600" dirty="0"/>
          </a:p>
        </p:txBody>
      </p:sp>
      <p:sp>
        <p:nvSpPr>
          <p:cNvPr id="8" name="Text 6"/>
          <p:cNvSpPr txBox="1"/>
          <p:nvPr/>
        </p:nvSpPr>
        <p:spPr>
          <a:xfrm>
            <a:off x="822960" y="3383280"/>
            <a:ext cx="4937760" cy="68580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recent share = (recent + 1) ÷ N_recent</a:t>
            </a:r>
            <a:endParaRPr lang="en-US" sz="1400" dirty="0"/>
          </a:p>
          <a:p>
            <a:pPr indent="0" marL="0">
              <a:spcAft>
                <a:spcPts val="400"/>
              </a:spcAft>
              <a:buNone/>
            </a:pPr>
            <a:r>
              <a:rPr lang="en-US" sz="1400" dirty="0">
                <a:solidFill>
                  <a:schemeClr val="tx1"/>
                </a:solidFill>
              </a:rPr>
              <a:t>earlier share = (earlier + 1) ÷ N_earlier</a:t>
            </a:r>
            <a:endParaRPr lang="en-US" sz="1400" dirty="0"/>
          </a:p>
        </p:txBody>
      </p:sp>
      <p:sp>
        <p:nvSpPr>
          <p:cNvPr id="9" name="Text 7"/>
          <p:cNvSpPr txBox="1"/>
          <p:nvPr/>
        </p:nvSpPr>
        <p:spPr>
          <a:xfrm>
            <a:off x="822960" y="4206240"/>
            <a:ext cx="4937760" cy="365760"/>
          </a:xfrm>
          <a:prstGeom prst="rect">
            <a:avLst/>
          </a:prstGeom>
          <a:noFill/>
          <a:ln/>
        </p:spPr>
        <p:txBody>
          <a:bodyPr wrap="square" lIns="0" tIns="0" rIns="0" bIns="0" rtlCol="0" anchor="t"/>
          <a:lstStyle/>
          <a:p>
            <a:pPr indent="0" marL="0">
              <a:buNone/>
            </a:pPr>
            <a:r>
              <a:rPr lang="en-US" sz="1600" b="1" dirty="0">
                <a:solidFill>
                  <a:schemeClr val="accent1"/>
                </a:solidFill>
              </a:rPr>
              <a:t>growth = recent share ÷ earlier share</a:t>
            </a:r>
            <a:endParaRPr lang="en-US" sz="1600" dirty="0"/>
          </a:p>
        </p:txBody>
      </p:sp>
      <p:sp>
        <p:nvSpPr>
          <p:cNvPr id="10" name="Text 8"/>
          <p:cNvSpPr txBox="1"/>
          <p:nvPr/>
        </p:nvSpPr>
        <p:spPr>
          <a:xfrm>
            <a:off x="548640" y="4983480"/>
            <a:ext cx="5486400" cy="10058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Flag a term when growth ≥ 1.6 and it has 4+ recent posts</a:t>
            </a:r>
            <a:endParaRPr lang="en-US" sz="1400" dirty="0"/>
          </a:p>
          <a:p>
            <a:pPr marL="342900" indent="-342900">
              <a:spcAft>
                <a:spcPts val="800"/>
              </a:spcAft>
              <a:buSzPct val="100000"/>
              <a:buChar char="•"/>
            </a:pPr>
            <a:r>
              <a:rPr lang="en-US" sz="1400" dirty="0">
                <a:solidFill>
                  <a:schemeClr val="tx1"/>
                </a:solidFill>
              </a:rPr>
              <a:t>Rank by growth × √recent, so real stories beat one-off posts</a:t>
            </a:r>
            <a:endParaRPr lang="en-US" sz="1400" dirty="0"/>
          </a:p>
        </p:txBody>
      </p:sp>
      <p:graphicFrame>
        <p:nvGraphicFramePr>
          <p:cNvPr id="11" name="Chart 0" descr=""/>
          <p:cNvGraphicFramePr/>
          <p:nvPr/>
        </p:nvGraphicFramePr>
        <p:xfrm>
          <a:off x="6400800" y="1554480"/>
          <a:ext cx="5239512" cy="4297680"/>
        </p:xfrm>
        <a:graphic xmlns:a="http://schemas.openxmlformats.org/drawingml/2006/main">
          <a:graphicData uri="http://schemas.openxmlformats.org/drawingml/2006/chart">
            <c:chart xmlns:c="http://schemas.openxmlformats.org/drawingml/2006/chart" r:id="rId1"/>
          </a:graphicData>
        </a:graphic>
      </p:graphicFrame>
      <p:sp>
        <p:nvSpPr>
          <p:cNvPr id="12" name="Text 9"/>
          <p:cNvSpPr txBox="1"/>
          <p:nvPr/>
        </p:nvSpPr>
        <p:spPr>
          <a:xfrm>
            <a:off x="6400800" y="5897880"/>
            <a:ext cx="5239512" cy="274320"/>
          </a:xfrm>
          <a:prstGeom prst="rect">
            <a:avLst/>
          </a:prstGeom>
          <a:noFill/>
          <a:ln/>
        </p:spPr>
        <p:txBody>
          <a:bodyPr wrap="square" lIns="0" tIns="0" rIns="0" bIns="0" rtlCol="0" anchor="t"/>
          <a:lstStyle/>
          <a:p>
            <a:pPr algn="ctr" indent="0" marL="0">
              <a:buNone/>
            </a:pPr>
            <a:r>
              <a:rPr lang="en-US" sz="1200" dirty="0">
                <a:solidFill>
                  <a:schemeClr val="accent5"/>
                </a:solidFill>
              </a:rPr>
              <a:t>Demo data: an AI-regulation story builds up in the final week</a:t>
            </a:r>
            <a:endParaRPr lang="en-US" sz="1200" dirty="0"/>
          </a:p>
        </p:txBody>
      </p:sp>
      <p:sp>
        <p:nvSpPr>
          <p:cNvPr id="25" name="Slide Number Placeholder 0"/>
          <p:cNvSpPr>
            <a:spLocks noGrp="1"/>
          </p:cNvSpPr>
          <p:nvPr>
            <p:ph type="sldNum" sz="quarter" idx="4294967295"/>
          </p:nvPr>
        </p:nvSpPr>
        <p:spPr>
          <a:xfrm>
            <a:off x="11155680" y="6419088"/>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indent="0" marL="0">
              <a:buNone/>
            </a:pPr>
            <a:r>
              <a:rPr lang="en-US" sz="3600" b="1" dirty="0">
                <a:solidFill>
                  <a:schemeClr val="tx1"/>
                </a:solidFill>
              </a:rPr>
              <a:t>Data structures and algorithms used</a:t>
            </a:r>
            <a:endParaRPr lang="en-US" sz="3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2834640"/>
                <a:gridCol w="4846320"/>
                <a:gridCol w="3410712"/>
              </a:tblGrid>
              <a:tr h="457200">
                <a:tc>
                  <a:txBody>
                    <a:bodyPr/>
                    <a:lstStyle/>
                    <a:p>
                      <a:pPr indent="0" marL="0">
                        <a:buNone/>
                      </a:pPr>
                      <a:r>
                        <a:rPr lang="en-US" sz="1400" b="1" dirty="0">
                          <a:solidFill>
                            <a:srgbClr val="FFFFFF"/>
                          </a:solidFill>
                        </a:rPr>
                        <a:t>Concept</a:t>
                      </a:r>
                      <a:endParaRPr lang="en-US" sz="1400" dirty="0"/>
                    </a:p>
                  </a:txBody>
                  <a:tcPr marL="137160" marR="137160" marT="0" marB="0" anchor="ctr">
                    <a:lnL w="9525" cap="flat" cmpd="sng" algn="ctr">
                      <a:solidFill>
                        <a:srgbClr val="D9E4E2"/>
                      </a:solidFill>
                      <a:prstDash val="solid"/>
                      <a:round/>
                      <a:headEnd type="none" w="med" len="med"/>
                      <a:tailEnd type="none" w="med" len="med"/>
                    </a:lnL>
                    <a:lnR w="9525" cap="flat" cmpd="sng" algn="ctr">
                      <a:solidFill>
                        <a:srgbClr val="D9E4E2"/>
                      </a:solidFill>
                      <a:prstDash val="solid"/>
                      <a:round/>
                      <a:headEnd type="none" w="med" len="med"/>
                      <a:tailEnd type="none" w="med" len="med"/>
                    </a:lnR>
                    <a:lnT w="9525" cap="flat" cmpd="sng" algn="ctr">
                      <a:solidFill>
                        <a:srgbClr val="D9E4E2"/>
                      </a:solidFill>
                      <a:prstDash val="solid"/>
                      <a:round/>
                      <a:headEnd type="none" w="med" len="med"/>
                      <a:tailEnd type="none" w="med" len="med"/>
                    </a:lnT>
                    <a:lnB w="9525" cap="flat" cmpd="sng" algn="ctr">
                      <a:solidFill>
                        <a:srgbClr val="D9E4E2"/>
                      </a:solidFill>
                      <a:prstDash val="solid"/>
                      <a:round/>
                      <a:headEnd type="none" w="med" len="med"/>
                      <a:tailEnd type="none" w="med" len="med"/>
                    </a:lnB>
                    <a:solidFill>
                      <a:srgbClr val="087E83"/>
                    </a:solidFill>
                  </a:tcPr>
                </a:tc>
                <a:tc>
                  <a:txBody>
                    <a:bodyPr/>
                    <a:lstStyle/>
                    <a:p>
                      <a:pPr indent="0" marL="0">
                        <a:buNone/>
                      </a:pPr>
                      <a:r>
                        <a:rPr lang="en-US" sz="1400" b="1" dirty="0">
                          <a:solidFill>
                            <a:srgbClr val="FFFFFF"/>
                          </a:solidFill>
                        </a:rPr>
                        <a:t>Where we use it</a:t>
                      </a:r>
                      <a:endParaRPr lang="en-US" sz="1400" dirty="0"/>
                    </a:p>
                  </a:txBody>
                  <a:tcPr marL="137160" marR="137160" marT="0" marB="0" anchor="ctr">
                    <a:lnL w="9525" cap="flat" cmpd="sng" algn="ctr">
                      <a:solidFill>
                        <a:srgbClr val="D9E4E2"/>
                      </a:solidFill>
                      <a:prstDash val="solid"/>
                      <a:round/>
                      <a:headEnd type="none" w="med" len="med"/>
                      <a:tailEnd type="none" w="med" len="med"/>
                    </a:lnL>
                    <a:lnR w="9525" cap="flat" cmpd="sng" algn="ctr">
                      <a:solidFill>
                        <a:srgbClr val="D9E4E2"/>
                      </a:solidFill>
                      <a:prstDash val="solid"/>
                      <a:round/>
                      <a:headEnd type="none" w="med" len="med"/>
                      <a:tailEnd type="none" w="med" len="med"/>
                    </a:lnR>
                    <a:lnT w="9525" cap="flat" cmpd="sng" algn="ctr">
                      <a:solidFill>
                        <a:srgbClr val="D9E4E2"/>
                      </a:solidFill>
                      <a:prstDash val="solid"/>
                      <a:round/>
                      <a:headEnd type="none" w="med" len="med"/>
                      <a:tailEnd type="none" w="med" len="med"/>
                    </a:lnT>
                    <a:lnB w="9525" cap="flat" cmpd="sng" algn="ctr">
                      <a:solidFill>
                        <a:srgbClr val="D9E4E2"/>
                      </a:solidFill>
                      <a:prstDash val="solid"/>
                      <a:round/>
                      <a:headEnd type="none" w="med" len="med"/>
                      <a:tailEnd type="none" w="med" len="med"/>
                    </a:lnB>
                    <a:solidFill>
                      <a:srgbClr val="087E83"/>
                    </a:solidFill>
                  </a:tcPr>
                </a:tc>
                <a:tc>
                  <a:txBody>
                    <a:bodyPr/>
                    <a:lstStyle/>
                    <a:p>
                      <a:pPr indent="0" marL="0">
                        <a:buNone/>
                      </a:pPr>
                      <a:r>
                        <a:rPr lang="en-US" sz="1400" b="1" dirty="0">
                          <a:solidFill>
                            <a:srgbClr val="FFFFFF"/>
                          </a:solidFill>
                        </a:rPr>
                        <a:t>Why it helps</a:t>
                      </a:r>
                      <a:endParaRPr lang="en-US" sz="1400" dirty="0"/>
                    </a:p>
                  </a:txBody>
                  <a:tcPr marL="137160" marR="137160" marT="0" marB="0" anchor="ctr">
                    <a:lnL w="9525" cap="flat" cmpd="sng" algn="ctr">
                      <a:solidFill>
                        <a:srgbClr val="D9E4E2"/>
                      </a:solidFill>
                      <a:prstDash val="solid"/>
                      <a:round/>
                      <a:headEnd type="none" w="med" len="med"/>
                      <a:tailEnd type="none" w="med" len="med"/>
                    </a:lnL>
                    <a:lnR w="9525" cap="flat" cmpd="sng" algn="ctr">
                      <a:solidFill>
                        <a:srgbClr val="D9E4E2"/>
                      </a:solidFill>
                      <a:prstDash val="solid"/>
                      <a:round/>
                      <a:headEnd type="none" w="med" len="med"/>
                      <a:tailEnd type="none" w="med" len="med"/>
                    </a:lnR>
                    <a:lnT w="9525" cap="flat" cmpd="sng" algn="ctr">
                      <a:solidFill>
                        <a:srgbClr val="D9E4E2"/>
                      </a:solidFill>
                      <a:prstDash val="solid"/>
                      <a:round/>
                      <a:headEnd type="none" w="med" len="med"/>
                      <a:tailEnd type="none" w="med" len="med"/>
                    </a:lnT>
                    <a:lnB w="9525" cap="flat" cmpd="sng" algn="ctr">
                      <a:solidFill>
                        <a:srgbClr val="D9E4E2"/>
                      </a:solidFill>
                      <a:prstDash val="solid"/>
                      <a:round/>
                      <a:headEnd type="none" w="med" len="med"/>
                      <a:tailEnd type="none" w="med" len="med"/>
                    </a:lnB>
                    <a:solidFill>
                      <a:srgbClr val="087E83"/>
                    </a:solidFill>
                  </a:tcPr>
                </a:tc>
              </a:tr>
              <a:tr h="749808">
                <a:tc>
                  <a:txBody>
                    <a:bodyPr/>
                    <a:lstStyle/>
                    <a:p>
                      <a:pPr indent="0" marL="0">
                        <a:buNone/>
                      </a:pPr>
                      <a:r>
                        <a:rPr lang="en-US" sz="1400" b="1" dirty="0">
                          <a:solidFill>
                            <a:srgbClr val="087E83"/>
                          </a:solidFill>
                        </a:rPr>
                        <a:t>HashMap / HashSet</a:t>
                      </a:r>
                      <a:endParaRPr lang="en-US" sz="1400" dirty="0"/>
                    </a:p>
                  </a:txBody>
                  <a:tcPr marL="137160" marR="137160" marT="0" marB="0" anchor="ctr">
                    <a:lnL w="9525" cap="flat" cmpd="sng" algn="ctr">
                      <a:solidFill>
                        <a:srgbClr val="D9E4E2"/>
                      </a:solidFill>
                      <a:prstDash val="solid"/>
                      <a:round/>
                      <a:headEnd type="none" w="med" len="med"/>
                      <a:tailEnd type="none" w="med" len="med"/>
                    </a:lnL>
                    <a:lnR w="9525" cap="flat" cmpd="sng" algn="ctr">
                      <a:solidFill>
                        <a:srgbClr val="D9E4E2"/>
                      </a:solidFill>
                      <a:prstDash val="solid"/>
                      <a:round/>
                      <a:headEnd type="none" w="med" len="med"/>
                      <a:tailEnd type="none" w="med" len="med"/>
                    </a:lnR>
                    <a:lnT w="9525" cap="flat" cmpd="sng" algn="ctr">
                      <a:solidFill>
                        <a:srgbClr val="D9E4E2"/>
                      </a:solidFill>
                      <a:prstDash val="solid"/>
                      <a:round/>
                      <a:headEnd type="none" w="med" len="med"/>
                      <a:tailEnd type="none" w="med" len="med"/>
                    </a:lnT>
                    <a:lnB w="9525" cap="flat" cmpd="sng" algn="ctr">
                      <a:solidFill>
                        <a:srgbClr val="D9E4E2"/>
                      </a:solidFill>
                      <a:prstDash val="solid"/>
                      <a:round/>
                      <a:headEnd type="none" w="med" len="med"/>
                      <a:tailEnd type="none" w="med" len="med"/>
                    </a:lnB>
                    <a:solidFill>
                      <a:srgbClr val="FFFFFF"/>
                    </a:solidFill>
                  </a:tcPr>
                </a:tc>
                <a:tc>
                  <a:txBody>
                    <a:bodyPr/>
                    <a:lstStyle/>
                    <a:p>
                      <a:pPr indent="0" marL="0">
                        <a:buNone/>
                      </a:pPr>
                      <a:r>
                        <a:rPr lang="en-US" sz="1400" dirty="0">
                          <a:solidFill>
                            <a:srgbClr val="102B3F"/>
                          </a:solidFill>
                        </a:rPr>
                        <a:t>Sentiment lexicon, topic tables, stop words, term → posts index</a:t>
                      </a:r>
                      <a:endParaRPr lang="en-US" sz="1400" dirty="0"/>
                    </a:p>
                  </a:txBody>
                  <a:tcPr marL="137160" marR="137160" marT="0" marB="0" anchor="ctr">
                    <a:lnL w="9525" cap="flat" cmpd="sng" algn="ctr">
                      <a:solidFill>
                        <a:srgbClr val="D9E4E2"/>
                      </a:solidFill>
                      <a:prstDash val="solid"/>
                      <a:round/>
                      <a:headEnd type="none" w="med" len="med"/>
                      <a:tailEnd type="none" w="med" len="med"/>
                    </a:lnL>
                    <a:lnR w="9525" cap="flat" cmpd="sng" algn="ctr">
                      <a:solidFill>
                        <a:srgbClr val="D9E4E2"/>
                      </a:solidFill>
                      <a:prstDash val="solid"/>
                      <a:round/>
                      <a:headEnd type="none" w="med" len="med"/>
                      <a:tailEnd type="none" w="med" len="med"/>
                    </a:lnR>
                    <a:lnT w="9525" cap="flat" cmpd="sng" algn="ctr">
                      <a:solidFill>
                        <a:srgbClr val="D9E4E2"/>
                      </a:solidFill>
                      <a:prstDash val="solid"/>
                      <a:round/>
                      <a:headEnd type="none" w="med" len="med"/>
                      <a:tailEnd type="none" w="med" len="med"/>
                    </a:lnT>
                    <a:lnB w="9525" cap="flat" cmpd="sng" algn="ctr">
                      <a:solidFill>
                        <a:srgbClr val="D9E4E2"/>
                      </a:solidFill>
                      <a:prstDash val="solid"/>
                      <a:round/>
                      <a:headEnd type="none" w="med" len="med"/>
                      <a:tailEnd type="none" w="med" len="med"/>
                    </a:lnB>
                    <a:solidFill>
                      <a:srgbClr val="FFFFFF"/>
                    </a:solidFill>
                  </a:tcPr>
                </a:tc>
                <a:tc>
                  <a:txBody>
                    <a:bodyPr/>
                    <a:lstStyle/>
                    <a:p>
                      <a:pPr indent="0" marL="0">
                        <a:buNone/>
                      </a:pPr>
                      <a:r>
                        <a:rPr lang="en-US" sz="1400" dirty="0">
                          <a:solidFill>
                            <a:srgbClr val="102B3F"/>
                          </a:solidFill>
                        </a:rPr>
                        <a:t>O(1) average lookup</a:t>
                      </a:r>
                      <a:endParaRPr lang="en-US" sz="1400" dirty="0"/>
                    </a:p>
                  </a:txBody>
                  <a:tcPr marL="137160" marR="137160" marT="0" marB="0" anchor="ctr">
                    <a:lnL w="9525" cap="flat" cmpd="sng" algn="ctr">
                      <a:solidFill>
                        <a:srgbClr val="D9E4E2"/>
                      </a:solidFill>
                      <a:prstDash val="solid"/>
                      <a:round/>
                      <a:headEnd type="none" w="med" len="med"/>
                      <a:tailEnd type="none" w="med" len="med"/>
                    </a:lnL>
                    <a:lnR w="9525" cap="flat" cmpd="sng" algn="ctr">
                      <a:solidFill>
                        <a:srgbClr val="D9E4E2"/>
                      </a:solidFill>
                      <a:prstDash val="solid"/>
                      <a:round/>
                      <a:headEnd type="none" w="med" len="med"/>
                      <a:tailEnd type="none" w="med" len="med"/>
                    </a:lnR>
                    <a:lnT w="9525" cap="flat" cmpd="sng" algn="ctr">
                      <a:solidFill>
                        <a:srgbClr val="D9E4E2"/>
                      </a:solidFill>
                      <a:prstDash val="solid"/>
                      <a:round/>
                      <a:headEnd type="none" w="med" len="med"/>
                      <a:tailEnd type="none" w="med" len="med"/>
                    </a:lnT>
                    <a:lnB w="9525" cap="flat" cmpd="sng" algn="ctr">
                      <a:solidFill>
                        <a:srgbClr val="D9E4E2"/>
                      </a:solidFill>
                      <a:prstDash val="solid"/>
                      <a:round/>
                      <a:headEnd type="none" w="med" len="med"/>
                      <a:tailEnd type="none" w="med" len="med"/>
                    </a:lnB>
                    <a:solidFill>
                      <a:srgbClr val="FFFFFF"/>
                    </a:solidFill>
                  </a:tcPr>
                </a:tc>
              </a:tr>
              <a:tr h="749808">
                <a:tc>
                  <a:txBody>
                    <a:bodyPr/>
                    <a:lstStyle/>
                    <a:p>
                      <a:pPr indent="0" marL="0">
                        <a:buNone/>
                      </a:pPr>
                      <a:r>
                        <a:rPr lang="en-US" sz="1400" b="1" dirty="0">
                          <a:solidFill>
                            <a:srgbClr val="087E83"/>
                          </a:solidFill>
                        </a:rPr>
                        <a:t>PriorityQueue (min-heap)</a:t>
                      </a:r>
                      <a:endParaRPr lang="en-US" sz="1400" dirty="0"/>
                    </a:p>
                  </a:txBody>
                  <a:tcPr marL="137160" marR="137160" marT="0" marB="0" anchor="ctr">
                    <a:lnL w="9525" cap="flat" cmpd="sng" algn="ctr">
                      <a:solidFill>
                        <a:srgbClr val="D9E4E2"/>
                      </a:solidFill>
                      <a:prstDash val="solid"/>
                      <a:round/>
                      <a:headEnd type="none" w="med" len="med"/>
                      <a:tailEnd type="none" w="med" len="med"/>
                    </a:lnL>
                    <a:lnR w="9525" cap="flat" cmpd="sng" algn="ctr">
                      <a:solidFill>
                        <a:srgbClr val="D9E4E2"/>
                      </a:solidFill>
                      <a:prstDash val="solid"/>
                      <a:round/>
                      <a:headEnd type="none" w="med" len="med"/>
                      <a:tailEnd type="none" w="med" len="med"/>
                    </a:lnR>
                    <a:lnT w="9525" cap="flat" cmpd="sng" algn="ctr">
                      <a:solidFill>
                        <a:srgbClr val="D9E4E2"/>
                      </a:solidFill>
                      <a:prstDash val="solid"/>
                      <a:round/>
                      <a:headEnd type="none" w="med" len="med"/>
                      <a:tailEnd type="none" w="med" len="med"/>
                    </a:lnT>
                    <a:lnB w="9525" cap="flat" cmpd="sng" algn="ctr">
                      <a:solidFill>
                        <a:srgbClr val="D9E4E2"/>
                      </a:solidFill>
                      <a:prstDash val="solid"/>
                      <a:round/>
                      <a:headEnd type="none" w="med" len="med"/>
                      <a:tailEnd type="none" w="med" len="med"/>
                    </a:lnB>
                    <a:solidFill>
                      <a:srgbClr val="EAF3F2"/>
                    </a:solidFill>
                  </a:tcPr>
                </a:tc>
                <a:tc>
                  <a:txBody>
                    <a:bodyPr/>
                    <a:lstStyle/>
                    <a:p>
                      <a:pPr indent="0" marL="0">
                        <a:buNone/>
                      </a:pPr>
                      <a:r>
                        <a:rPr lang="en-US" sz="1400" dirty="0">
                          <a:solidFill>
                            <a:srgbClr val="102B3F"/>
                          </a:solidFill>
                        </a:rPr>
                        <a:t>Top-K keywords and top emerging terms</a:t>
                      </a:r>
                      <a:endParaRPr lang="en-US" sz="1400" dirty="0"/>
                    </a:p>
                  </a:txBody>
                  <a:tcPr marL="137160" marR="137160" marT="0" marB="0" anchor="ctr">
                    <a:lnL w="9525" cap="flat" cmpd="sng" algn="ctr">
                      <a:solidFill>
                        <a:srgbClr val="D9E4E2"/>
                      </a:solidFill>
                      <a:prstDash val="solid"/>
                      <a:round/>
                      <a:headEnd type="none" w="med" len="med"/>
                      <a:tailEnd type="none" w="med" len="med"/>
                    </a:lnL>
                    <a:lnR w="9525" cap="flat" cmpd="sng" algn="ctr">
                      <a:solidFill>
                        <a:srgbClr val="D9E4E2"/>
                      </a:solidFill>
                      <a:prstDash val="solid"/>
                      <a:round/>
                      <a:headEnd type="none" w="med" len="med"/>
                      <a:tailEnd type="none" w="med" len="med"/>
                    </a:lnR>
                    <a:lnT w="9525" cap="flat" cmpd="sng" algn="ctr">
                      <a:solidFill>
                        <a:srgbClr val="D9E4E2"/>
                      </a:solidFill>
                      <a:prstDash val="solid"/>
                      <a:round/>
                      <a:headEnd type="none" w="med" len="med"/>
                      <a:tailEnd type="none" w="med" len="med"/>
                    </a:lnT>
                    <a:lnB w="9525" cap="flat" cmpd="sng" algn="ctr">
                      <a:solidFill>
                        <a:srgbClr val="D9E4E2"/>
                      </a:solidFill>
                      <a:prstDash val="solid"/>
                      <a:round/>
                      <a:headEnd type="none" w="med" len="med"/>
                      <a:tailEnd type="none" w="med" len="med"/>
                    </a:lnB>
                    <a:solidFill>
                      <a:srgbClr val="EAF3F2"/>
                    </a:solidFill>
                  </a:tcPr>
                </a:tc>
                <a:tc>
                  <a:txBody>
                    <a:bodyPr/>
                    <a:lstStyle/>
                    <a:p>
                      <a:pPr indent="0" marL="0">
                        <a:buNone/>
                      </a:pPr>
                      <a:r>
                        <a:rPr lang="en-US" sz="1400" dirty="0">
                          <a:solidFill>
                            <a:srgbClr val="102B3F"/>
                          </a:solidFill>
                        </a:rPr>
                        <a:t>O(n log K) instead of sorting everything</a:t>
                      </a:r>
                      <a:endParaRPr lang="en-US" sz="1400" dirty="0"/>
                    </a:p>
                  </a:txBody>
                  <a:tcPr marL="137160" marR="137160" marT="0" marB="0" anchor="ctr">
                    <a:lnL w="9525" cap="flat" cmpd="sng" algn="ctr">
                      <a:solidFill>
                        <a:srgbClr val="D9E4E2"/>
                      </a:solidFill>
                      <a:prstDash val="solid"/>
                      <a:round/>
                      <a:headEnd type="none" w="med" len="med"/>
                      <a:tailEnd type="none" w="med" len="med"/>
                    </a:lnL>
                    <a:lnR w="9525" cap="flat" cmpd="sng" algn="ctr">
                      <a:solidFill>
                        <a:srgbClr val="D9E4E2"/>
                      </a:solidFill>
                      <a:prstDash val="solid"/>
                      <a:round/>
                      <a:headEnd type="none" w="med" len="med"/>
                      <a:tailEnd type="none" w="med" len="med"/>
                    </a:lnR>
                    <a:lnT w="9525" cap="flat" cmpd="sng" algn="ctr">
                      <a:solidFill>
                        <a:srgbClr val="D9E4E2"/>
                      </a:solidFill>
                      <a:prstDash val="solid"/>
                      <a:round/>
                      <a:headEnd type="none" w="med" len="med"/>
                      <a:tailEnd type="none" w="med" len="med"/>
                    </a:lnT>
                    <a:lnB w="9525" cap="flat" cmpd="sng" algn="ctr">
                      <a:solidFill>
                        <a:srgbClr val="D9E4E2"/>
                      </a:solidFill>
                      <a:prstDash val="solid"/>
                      <a:round/>
                      <a:headEnd type="none" w="med" len="med"/>
                      <a:tailEnd type="none" w="med" len="med"/>
                    </a:lnB>
                    <a:solidFill>
                      <a:srgbClr val="EAF3F2"/>
                    </a:solidFill>
                  </a:tcPr>
                </a:tc>
              </a:tr>
              <a:tr h="749808">
                <a:tc>
                  <a:txBody>
                    <a:bodyPr/>
                    <a:lstStyle/>
                    <a:p>
                      <a:pPr indent="0" marL="0">
                        <a:buNone/>
                      </a:pPr>
                      <a:r>
                        <a:rPr lang="en-US" sz="1400" b="1" dirty="0">
                          <a:solidFill>
                            <a:srgbClr val="087E83"/>
                          </a:solidFill>
                        </a:rPr>
                        <a:t>Two-window comparison</a:t>
                      </a:r>
                      <a:endParaRPr lang="en-US" sz="1400" dirty="0"/>
                    </a:p>
                  </a:txBody>
                  <a:tcPr marL="137160" marR="137160" marT="0" marB="0" anchor="ctr">
                    <a:lnL w="9525" cap="flat" cmpd="sng" algn="ctr">
                      <a:solidFill>
                        <a:srgbClr val="D9E4E2"/>
                      </a:solidFill>
                      <a:prstDash val="solid"/>
                      <a:round/>
                      <a:headEnd type="none" w="med" len="med"/>
                      <a:tailEnd type="none" w="med" len="med"/>
                    </a:lnL>
                    <a:lnR w="9525" cap="flat" cmpd="sng" algn="ctr">
                      <a:solidFill>
                        <a:srgbClr val="D9E4E2"/>
                      </a:solidFill>
                      <a:prstDash val="solid"/>
                      <a:round/>
                      <a:headEnd type="none" w="med" len="med"/>
                      <a:tailEnd type="none" w="med" len="med"/>
                    </a:lnR>
                    <a:lnT w="9525" cap="flat" cmpd="sng" algn="ctr">
                      <a:solidFill>
                        <a:srgbClr val="D9E4E2"/>
                      </a:solidFill>
                      <a:prstDash val="solid"/>
                      <a:round/>
                      <a:headEnd type="none" w="med" len="med"/>
                      <a:tailEnd type="none" w="med" len="med"/>
                    </a:lnT>
                    <a:lnB w="9525" cap="flat" cmpd="sng" algn="ctr">
                      <a:solidFill>
                        <a:srgbClr val="D9E4E2"/>
                      </a:solidFill>
                      <a:prstDash val="solid"/>
                      <a:round/>
                      <a:headEnd type="none" w="med" len="med"/>
                      <a:tailEnd type="none" w="med" len="med"/>
                    </a:lnB>
                    <a:solidFill>
                      <a:srgbClr val="FFFFFF"/>
                    </a:solidFill>
                  </a:tcPr>
                </a:tc>
                <a:tc>
                  <a:txBody>
                    <a:bodyPr/>
                    <a:lstStyle/>
                    <a:p>
                      <a:pPr indent="0" marL="0">
                        <a:buNone/>
                      </a:pPr>
                      <a:r>
                        <a:rPr lang="en-US" sz="1400" dirty="0">
                          <a:solidFill>
                            <a:srgbClr val="102B3F"/>
                          </a:solidFill>
                        </a:rPr>
                        <a:t>Earlier vs recent period for trend detection</a:t>
                      </a:r>
                      <a:endParaRPr lang="en-US" sz="1400" dirty="0"/>
                    </a:p>
                  </a:txBody>
                  <a:tcPr marL="137160" marR="137160" marT="0" marB="0" anchor="ctr">
                    <a:lnL w="9525" cap="flat" cmpd="sng" algn="ctr">
                      <a:solidFill>
                        <a:srgbClr val="D9E4E2"/>
                      </a:solidFill>
                      <a:prstDash val="solid"/>
                      <a:round/>
                      <a:headEnd type="none" w="med" len="med"/>
                      <a:tailEnd type="none" w="med" len="med"/>
                    </a:lnL>
                    <a:lnR w="9525" cap="flat" cmpd="sng" algn="ctr">
                      <a:solidFill>
                        <a:srgbClr val="D9E4E2"/>
                      </a:solidFill>
                      <a:prstDash val="solid"/>
                      <a:round/>
                      <a:headEnd type="none" w="med" len="med"/>
                      <a:tailEnd type="none" w="med" len="med"/>
                    </a:lnR>
                    <a:lnT w="9525" cap="flat" cmpd="sng" algn="ctr">
                      <a:solidFill>
                        <a:srgbClr val="D9E4E2"/>
                      </a:solidFill>
                      <a:prstDash val="solid"/>
                      <a:round/>
                      <a:headEnd type="none" w="med" len="med"/>
                      <a:tailEnd type="none" w="med" len="med"/>
                    </a:lnT>
                    <a:lnB w="9525" cap="flat" cmpd="sng" algn="ctr">
                      <a:solidFill>
                        <a:srgbClr val="D9E4E2"/>
                      </a:solidFill>
                      <a:prstDash val="solid"/>
                      <a:round/>
                      <a:headEnd type="none" w="med" len="med"/>
                      <a:tailEnd type="none" w="med" len="med"/>
                    </a:lnB>
                    <a:solidFill>
                      <a:srgbClr val="FFFFFF"/>
                    </a:solidFill>
                  </a:tcPr>
                </a:tc>
                <a:tc>
                  <a:txBody>
                    <a:bodyPr/>
                    <a:lstStyle/>
                    <a:p>
                      <a:pPr indent="0" marL="0">
                        <a:buNone/>
                      </a:pPr>
                      <a:r>
                        <a:rPr lang="en-US" sz="1400" dirty="0">
                          <a:solidFill>
                            <a:srgbClr val="102B3F"/>
                          </a:solidFill>
                        </a:rPr>
                        <a:t>One pass over the terms</a:t>
                      </a:r>
                      <a:endParaRPr lang="en-US" sz="1400" dirty="0"/>
                    </a:p>
                  </a:txBody>
                  <a:tcPr marL="137160" marR="137160" marT="0" marB="0" anchor="ctr">
                    <a:lnL w="9525" cap="flat" cmpd="sng" algn="ctr">
                      <a:solidFill>
                        <a:srgbClr val="D9E4E2"/>
                      </a:solidFill>
                      <a:prstDash val="solid"/>
                      <a:round/>
                      <a:headEnd type="none" w="med" len="med"/>
                      <a:tailEnd type="none" w="med" len="med"/>
                    </a:lnL>
                    <a:lnR w="9525" cap="flat" cmpd="sng" algn="ctr">
                      <a:solidFill>
                        <a:srgbClr val="D9E4E2"/>
                      </a:solidFill>
                      <a:prstDash val="solid"/>
                      <a:round/>
                      <a:headEnd type="none" w="med" len="med"/>
                      <a:tailEnd type="none" w="med" len="med"/>
                    </a:lnR>
                    <a:lnT w="9525" cap="flat" cmpd="sng" algn="ctr">
                      <a:solidFill>
                        <a:srgbClr val="D9E4E2"/>
                      </a:solidFill>
                      <a:prstDash val="solid"/>
                      <a:round/>
                      <a:headEnd type="none" w="med" len="med"/>
                      <a:tailEnd type="none" w="med" len="med"/>
                    </a:lnT>
                    <a:lnB w="9525" cap="flat" cmpd="sng" algn="ctr">
                      <a:solidFill>
                        <a:srgbClr val="D9E4E2"/>
                      </a:solidFill>
                      <a:prstDash val="solid"/>
                      <a:round/>
                      <a:headEnd type="none" w="med" len="med"/>
                      <a:tailEnd type="none" w="med" len="med"/>
                    </a:lnB>
                    <a:solidFill>
                      <a:srgbClr val="FFFFFF"/>
                    </a:solidFill>
                  </a:tcPr>
                </a:tc>
              </a:tr>
              <a:tr h="749808">
                <a:tc>
                  <a:txBody>
                    <a:bodyPr/>
                    <a:lstStyle/>
                    <a:p>
                      <a:pPr indent="0" marL="0">
                        <a:buNone/>
                      </a:pPr>
                      <a:r>
                        <a:rPr lang="en-US" sz="1400" b="1" dirty="0">
                          <a:solidFill>
                            <a:srgbClr val="087E83"/>
                          </a:solidFill>
                        </a:rPr>
                        <a:t>ArrayList / arrays</a:t>
                      </a:r>
                      <a:endParaRPr lang="en-US" sz="1400" dirty="0"/>
                    </a:p>
                  </a:txBody>
                  <a:tcPr marL="137160" marR="137160" marT="0" marB="0" anchor="ctr">
                    <a:lnL w="9525" cap="flat" cmpd="sng" algn="ctr">
                      <a:solidFill>
                        <a:srgbClr val="D9E4E2"/>
                      </a:solidFill>
                      <a:prstDash val="solid"/>
                      <a:round/>
                      <a:headEnd type="none" w="med" len="med"/>
                      <a:tailEnd type="none" w="med" len="med"/>
                    </a:lnL>
                    <a:lnR w="9525" cap="flat" cmpd="sng" algn="ctr">
                      <a:solidFill>
                        <a:srgbClr val="D9E4E2"/>
                      </a:solidFill>
                      <a:prstDash val="solid"/>
                      <a:round/>
                      <a:headEnd type="none" w="med" len="med"/>
                      <a:tailEnd type="none" w="med" len="med"/>
                    </a:lnR>
                    <a:lnT w="9525" cap="flat" cmpd="sng" algn="ctr">
                      <a:solidFill>
                        <a:srgbClr val="D9E4E2"/>
                      </a:solidFill>
                      <a:prstDash val="solid"/>
                      <a:round/>
                      <a:headEnd type="none" w="med" len="med"/>
                      <a:tailEnd type="none" w="med" len="med"/>
                    </a:lnT>
                    <a:lnB w="9525" cap="flat" cmpd="sng" algn="ctr">
                      <a:solidFill>
                        <a:srgbClr val="D9E4E2"/>
                      </a:solidFill>
                      <a:prstDash val="solid"/>
                      <a:round/>
                      <a:headEnd type="none" w="med" len="med"/>
                      <a:tailEnd type="none" w="med" len="med"/>
                    </a:lnB>
                    <a:solidFill>
                      <a:srgbClr val="EAF3F2"/>
                    </a:solidFill>
                  </a:tcPr>
                </a:tc>
                <a:tc>
                  <a:txBody>
                    <a:bodyPr/>
                    <a:lstStyle/>
                    <a:p>
                      <a:pPr indent="0" marL="0">
                        <a:buNone/>
                      </a:pPr>
                      <a:r>
                        <a:rPr lang="en-US" sz="1400" dirty="0">
                          <a:solidFill>
                            <a:srgbClr val="102B3F"/>
                          </a:solidFill>
                        </a:rPr>
                        <a:t>Tokens, per-day timeline, list of analysed posts</a:t>
                      </a:r>
                      <a:endParaRPr lang="en-US" sz="1400" dirty="0"/>
                    </a:p>
                  </a:txBody>
                  <a:tcPr marL="137160" marR="137160" marT="0" marB="0" anchor="ctr">
                    <a:lnL w="9525" cap="flat" cmpd="sng" algn="ctr">
                      <a:solidFill>
                        <a:srgbClr val="D9E4E2"/>
                      </a:solidFill>
                      <a:prstDash val="solid"/>
                      <a:round/>
                      <a:headEnd type="none" w="med" len="med"/>
                      <a:tailEnd type="none" w="med" len="med"/>
                    </a:lnL>
                    <a:lnR w="9525" cap="flat" cmpd="sng" algn="ctr">
                      <a:solidFill>
                        <a:srgbClr val="D9E4E2"/>
                      </a:solidFill>
                      <a:prstDash val="solid"/>
                      <a:round/>
                      <a:headEnd type="none" w="med" len="med"/>
                      <a:tailEnd type="none" w="med" len="med"/>
                    </a:lnR>
                    <a:lnT w="9525" cap="flat" cmpd="sng" algn="ctr">
                      <a:solidFill>
                        <a:srgbClr val="D9E4E2"/>
                      </a:solidFill>
                      <a:prstDash val="solid"/>
                      <a:round/>
                      <a:headEnd type="none" w="med" len="med"/>
                      <a:tailEnd type="none" w="med" len="med"/>
                    </a:lnT>
                    <a:lnB w="9525" cap="flat" cmpd="sng" algn="ctr">
                      <a:solidFill>
                        <a:srgbClr val="D9E4E2"/>
                      </a:solidFill>
                      <a:prstDash val="solid"/>
                      <a:round/>
                      <a:headEnd type="none" w="med" len="med"/>
                      <a:tailEnd type="none" w="med" len="med"/>
                    </a:lnB>
                    <a:solidFill>
                      <a:srgbClr val="EAF3F2"/>
                    </a:solidFill>
                  </a:tcPr>
                </a:tc>
                <a:tc>
                  <a:txBody>
                    <a:bodyPr/>
                    <a:lstStyle/>
                    <a:p>
                      <a:pPr indent="0" marL="0">
                        <a:buNone/>
                      </a:pPr>
                      <a:r>
                        <a:rPr lang="en-US" sz="1400" dirty="0">
                          <a:solidFill>
                            <a:srgbClr val="102B3F"/>
                          </a:solidFill>
                        </a:rPr>
                        <a:t>Ordered, indexed access</a:t>
                      </a:r>
                      <a:endParaRPr lang="en-US" sz="1400" dirty="0"/>
                    </a:p>
                  </a:txBody>
                  <a:tcPr marL="137160" marR="137160" marT="0" marB="0" anchor="ctr">
                    <a:lnL w="9525" cap="flat" cmpd="sng" algn="ctr">
                      <a:solidFill>
                        <a:srgbClr val="D9E4E2"/>
                      </a:solidFill>
                      <a:prstDash val="solid"/>
                      <a:round/>
                      <a:headEnd type="none" w="med" len="med"/>
                      <a:tailEnd type="none" w="med" len="med"/>
                    </a:lnL>
                    <a:lnR w="9525" cap="flat" cmpd="sng" algn="ctr">
                      <a:solidFill>
                        <a:srgbClr val="D9E4E2"/>
                      </a:solidFill>
                      <a:prstDash val="solid"/>
                      <a:round/>
                      <a:headEnd type="none" w="med" len="med"/>
                      <a:tailEnd type="none" w="med" len="med"/>
                    </a:lnR>
                    <a:lnT w="9525" cap="flat" cmpd="sng" algn="ctr">
                      <a:solidFill>
                        <a:srgbClr val="D9E4E2"/>
                      </a:solidFill>
                      <a:prstDash val="solid"/>
                      <a:round/>
                      <a:headEnd type="none" w="med" len="med"/>
                      <a:tailEnd type="none" w="med" len="med"/>
                    </a:lnT>
                    <a:lnB w="9525" cap="flat" cmpd="sng" algn="ctr">
                      <a:solidFill>
                        <a:srgbClr val="D9E4E2"/>
                      </a:solidFill>
                      <a:prstDash val="solid"/>
                      <a:round/>
                      <a:headEnd type="none" w="med" len="med"/>
                      <a:tailEnd type="none" w="med" len="med"/>
                    </a:lnB>
                    <a:solidFill>
                      <a:srgbClr val="EAF3F2"/>
                    </a:solidFill>
                  </a:tcPr>
                </a:tc>
              </a:tr>
              <a:tr h="749808">
                <a:tc>
                  <a:txBody>
                    <a:bodyPr/>
                    <a:lstStyle/>
                    <a:p>
                      <a:pPr indent="0" marL="0">
                        <a:buNone/>
                      </a:pPr>
                      <a:r>
                        <a:rPr lang="en-US" sz="1400" b="1" dirty="0">
                          <a:solidFill>
                            <a:srgbClr val="087E83"/>
                          </a:solidFill>
                        </a:rPr>
                        <a:t>Sorting</a:t>
                      </a:r>
                      <a:endParaRPr lang="en-US" sz="1400" dirty="0"/>
                    </a:p>
                  </a:txBody>
                  <a:tcPr marL="137160" marR="137160" marT="0" marB="0" anchor="ctr">
                    <a:lnL w="9525" cap="flat" cmpd="sng" algn="ctr">
                      <a:solidFill>
                        <a:srgbClr val="D9E4E2"/>
                      </a:solidFill>
                      <a:prstDash val="solid"/>
                      <a:round/>
                      <a:headEnd type="none" w="med" len="med"/>
                      <a:tailEnd type="none" w="med" len="med"/>
                    </a:lnL>
                    <a:lnR w="9525" cap="flat" cmpd="sng" algn="ctr">
                      <a:solidFill>
                        <a:srgbClr val="D9E4E2"/>
                      </a:solidFill>
                      <a:prstDash val="solid"/>
                      <a:round/>
                      <a:headEnd type="none" w="med" len="med"/>
                      <a:tailEnd type="none" w="med" len="med"/>
                    </a:lnR>
                    <a:lnT w="9525" cap="flat" cmpd="sng" algn="ctr">
                      <a:solidFill>
                        <a:srgbClr val="D9E4E2"/>
                      </a:solidFill>
                      <a:prstDash val="solid"/>
                      <a:round/>
                      <a:headEnd type="none" w="med" len="med"/>
                      <a:tailEnd type="none" w="med" len="med"/>
                    </a:lnT>
                    <a:lnB w="9525" cap="flat" cmpd="sng" algn="ctr">
                      <a:solidFill>
                        <a:srgbClr val="D9E4E2"/>
                      </a:solidFill>
                      <a:prstDash val="solid"/>
                      <a:round/>
                      <a:headEnd type="none" w="med" len="med"/>
                      <a:tailEnd type="none" w="med" len="med"/>
                    </a:lnB>
                    <a:solidFill>
                      <a:srgbClr val="FFFFFF"/>
                    </a:solidFill>
                  </a:tcPr>
                </a:tc>
                <a:tc>
                  <a:txBody>
                    <a:bodyPr/>
                    <a:lstStyle/>
                    <a:p>
                      <a:pPr indent="0" marL="0">
                        <a:buNone/>
                      </a:pPr>
                      <a:r>
                        <a:rPr lang="en-US" sz="1400" dirty="0">
                          <a:solidFill>
                            <a:srgbClr val="102B3F"/>
                          </a:solidFill>
                        </a:rPr>
                        <a:t>Topics by count, trending topics by share</a:t>
                      </a:r>
                      <a:endParaRPr lang="en-US" sz="1400" dirty="0"/>
                    </a:p>
                  </a:txBody>
                  <a:tcPr marL="137160" marR="137160" marT="0" marB="0" anchor="ctr">
                    <a:lnL w="9525" cap="flat" cmpd="sng" algn="ctr">
                      <a:solidFill>
                        <a:srgbClr val="D9E4E2"/>
                      </a:solidFill>
                      <a:prstDash val="solid"/>
                      <a:round/>
                      <a:headEnd type="none" w="med" len="med"/>
                      <a:tailEnd type="none" w="med" len="med"/>
                    </a:lnL>
                    <a:lnR w="9525" cap="flat" cmpd="sng" algn="ctr">
                      <a:solidFill>
                        <a:srgbClr val="D9E4E2"/>
                      </a:solidFill>
                      <a:prstDash val="solid"/>
                      <a:round/>
                      <a:headEnd type="none" w="med" len="med"/>
                      <a:tailEnd type="none" w="med" len="med"/>
                    </a:lnR>
                    <a:lnT w="9525" cap="flat" cmpd="sng" algn="ctr">
                      <a:solidFill>
                        <a:srgbClr val="D9E4E2"/>
                      </a:solidFill>
                      <a:prstDash val="solid"/>
                      <a:round/>
                      <a:headEnd type="none" w="med" len="med"/>
                      <a:tailEnd type="none" w="med" len="med"/>
                    </a:lnT>
                    <a:lnB w="9525" cap="flat" cmpd="sng" algn="ctr">
                      <a:solidFill>
                        <a:srgbClr val="D9E4E2"/>
                      </a:solidFill>
                      <a:prstDash val="solid"/>
                      <a:round/>
                      <a:headEnd type="none" w="med" len="med"/>
                      <a:tailEnd type="none" w="med" len="med"/>
                    </a:lnB>
                    <a:solidFill>
                      <a:srgbClr val="FFFFFF"/>
                    </a:solidFill>
                  </a:tcPr>
                </a:tc>
                <a:tc>
                  <a:txBody>
                    <a:bodyPr/>
                    <a:lstStyle/>
                    <a:p>
                      <a:pPr indent="0" marL="0">
                        <a:buNone/>
                      </a:pPr>
                      <a:r>
                        <a:rPr lang="en-US" sz="1400" dirty="0">
                          <a:solidFill>
                            <a:srgbClr val="102B3F"/>
                          </a:solidFill>
                        </a:rPr>
                        <a:t>O(n log n) on small lists</a:t>
                      </a:r>
                      <a:endParaRPr lang="en-US" sz="1400" dirty="0"/>
                    </a:p>
                  </a:txBody>
                  <a:tcPr marL="137160" marR="137160" marT="0" marB="0" anchor="ctr">
                    <a:lnL w="9525" cap="flat" cmpd="sng" algn="ctr">
                      <a:solidFill>
                        <a:srgbClr val="D9E4E2"/>
                      </a:solidFill>
                      <a:prstDash val="solid"/>
                      <a:round/>
                      <a:headEnd type="none" w="med" len="med"/>
                      <a:tailEnd type="none" w="med" len="med"/>
                    </a:lnL>
                    <a:lnR w="9525" cap="flat" cmpd="sng" algn="ctr">
                      <a:solidFill>
                        <a:srgbClr val="D9E4E2"/>
                      </a:solidFill>
                      <a:prstDash val="solid"/>
                      <a:round/>
                      <a:headEnd type="none" w="med" len="med"/>
                      <a:tailEnd type="none" w="med" len="med"/>
                    </a:lnR>
                    <a:lnT w="9525" cap="flat" cmpd="sng" algn="ctr">
                      <a:solidFill>
                        <a:srgbClr val="D9E4E2"/>
                      </a:solidFill>
                      <a:prstDash val="solid"/>
                      <a:round/>
                      <a:headEnd type="none" w="med" len="med"/>
                      <a:tailEnd type="none" w="med" len="med"/>
                    </a:lnT>
                    <a:lnB w="9525" cap="flat" cmpd="sng" algn="ctr">
                      <a:solidFill>
                        <a:srgbClr val="D9E4E2"/>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19088"/>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indent="0" marL="0">
              <a:buNone/>
            </a:pPr>
            <a:r>
              <a:rPr lang="en-US" sz="3600" b="1" dirty="0">
                <a:solidFill>
                  <a:schemeClr val="tx1"/>
                </a:solidFill>
              </a:rPr>
              <a:t>What the dashboard shows</a:t>
            </a:r>
            <a:endParaRPr lang="en-US" sz="3600" dirty="0"/>
          </a:p>
        </p:txBody>
      </p:sp>
      <p:sp>
        <p:nvSpPr>
          <p:cNvPr id="3" name="KPI Posts analysed"/>
          <p:cNvSpPr/>
          <p:nvPr/>
        </p:nvSpPr>
        <p:spPr>
          <a:xfrm>
            <a:off x="548640" y="1463040"/>
            <a:ext cx="2606040" cy="1188720"/>
          </a:xfrm>
          <a:prstGeom prst="roundRect">
            <a:avLst>
              <a:gd name="adj" fmla="val 9231"/>
            </a:avLst>
          </a:prstGeom>
          <a:solidFill>
            <a:schemeClr val="bg1"/>
          </a:solidFill>
          <a:ln/>
          <a:effectLst>
            <a:outerShdw sx="100000" sy="100000" kx="0" ky="0" algn="bl" rotWithShape="0" blurRad="127000" dist="25400" dir="5400000">
              <a:srgbClr val="000000">
                <a:alpha val="10000"/>
              </a:srgbClr>
            </a:outerShdw>
          </a:effectLst>
        </p:spPr>
      </p:sp>
      <p:sp>
        <p:nvSpPr>
          <p:cNvPr id="4" name="Text 2"/>
          <p:cNvSpPr txBox="1"/>
          <p:nvPr/>
        </p:nvSpPr>
        <p:spPr>
          <a:xfrm>
            <a:off x="822960" y="1554480"/>
            <a:ext cx="2103120" cy="640080"/>
          </a:xfrm>
          <a:prstGeom prst="rect">
            <a:avLst/>
          </a:prstGeom>
          <a:noFill/>
          <a:ln/>
        </p:spPr>
        <p:txBody>
          <a:bodyPr wrap="square" lIns="0" tIns="0" rIns="0" bIns="0" rtlCol="0" anchor="ctr"/>
          <a:lstStyle/>
          <a:p>
            <a:pPr indent="0" marL="0">
              <a:buNone/>
            </a:pPr>
            <a:r>
              <a:rPr lang="en-US" sz="4000" b="1" dirty="0">
                <a:solidFill>
                  <a:schemeClr val="tx1"/>
                </a:solidFill>
              </a:rPr>
              <a:t>131</a:t>
            </a:r>
            <a:endParaRPr lang="en-US" sz="4000" dirty="0"/>
          </a:p>
        </p:txBody>
      </p:sp>
      <p:sp>
        <p:nvSpPr>
          <p:cNvPr id="5" name="Text 3"/>
          <p:cNvSpPr txBox="1"/>
          <p:nvPr/>
        </p:nvSpPr>
        <p:spPr>
          <a:xfrm>
            <a:off x="822960" y="2240280"/>
            <a:ext cx="2103120" cy="274320"/>
          </a:xfrm>
          <a:prstGeom prst="rect">
            <a:avLst/>
          </a:prstGeom>
          <a:noFill/>
          <a:ln/>
        </p:spPr>
        <p:txBody>
          <a:bodyPr wrap="square" lIns="0" tIns="0" rIns="0" bIns="0" rtlCol="0" anchor="t"/>
          <a:lstStyle/>
          <a:p>
            <a:pPr indent="0" marL="0">
              <a:buNone/>
            </a:pPr>
            <a:r>
              <a:rPr lang="en-US" sz="1300" dirty="0">
                <a:solidFill>
                  <a:schemeClr val="accent5"/>
                </a:solidFill>
              </a:rPr>
              <a:t>Posts analysed</a:t>
            </a:r>
            <a:endParaRPr lang="en-US" sz="1300" dirty="0"/>
          </a:p>
        </p:txBody>
      </p:sp>
      <p:sp>
        <p:nvSpPr>
          <p:cNvPr id="6" name="KPI Positive"/>
          <p:cNvSpPr/>
          <p:nvPr/>
        </p:nvSpPr>
        <p:spPr>
          <a:xfrm>
            <a:off x="3374136" y="1463040"/>
            <a:ext cx="2606040" cy="1188720"/>
          </a:xfrm>
          <a:prstGeom prst="roundRect">
            <a:avLst>
              <a:gd name="adj" fmla="val 9231"/>
            </a:avLst>
          </a:prstGeom>
          <a:solidFill>
            <a:schemeClr val="bg1"/>
          </a:solidFill>
          <a:ln/>
          <a:effectLst>
            <a:outerShdw sx="100000" sy="100000" kx="0" ky="0" algn="bl" rotWithShape="0" blurRad="127000" dist="25400" dir="5400000">
              <a:srgbClr val="000000">
                <a:alpha val="10000"/>
              </a:srgbClr>
            </a:outerShdw>
          </a:effectLst>
        </p:spPr>
      </p:sp>
      <p:sp>
        <p:nvSpPr>
          <p:cNvPr id="7" name="Text 5"/>
          <p:cNvSpPr txBox="1"/>
          <p:nvPr/>
        </p:nvSpPr>
        <p:spPr>
          <a:xfrm>
            <a:off x="3648456" y="1554480"/>
            <a:ext cx="2103120" cy="640080"/>
          </a:xfrm>
          <a:prstGeom prst="rect">
            <a:avLst/>
          </a:prstGeom>
          <a:noFill/>
          <a:ln/>
        </p:spPr>
        <p:txBody>
          <a:bodyPr wrap="square" lIns="0" tIns="0" rIns="0" bIns="0" rtlCol="0" anchor="ctr"/>
          <a:lstStyle/>
          <a:p>
            <a:pPr indent="0" marL="0">
              <a:buNone/>
            </a:pPr>
            <a:r>
              <a:rPr lang="en-US" sz="4000" b="1" dirty="0">
                <a:solidFill>
                  <a:schemeClr val="accent1"/>
                </a:solidFill>
              </a:rPr>
              <a:t>42%</a:t>
            </a:r>
            <a:endParaRPr lang="en-US" sz="4000" dirty="0"/>
          </a:p>
        </p:txBody>
      </p:sp>
      <p:sp>
        <p:nvSpPr>
          <p:cNvPr id="8" name="Text 6"/>
          <p:cNvSpPr txBox="1"/>
          <p:nvPr/>
        </p:nvSpPr>
        <p:spPr>
          <a:xfrm>
            <a:off x="3648456" y="2240280"/>
            <a:ext cx="2103120" cy="274320"/>
          </a:xfrm>
          <a:prstGeom prst="rect">
            <a:avLst/>
          </a:prstGeom>
          <a:noFill/>
          <a:ln/>
        </p:spPr>
        <p:txBody>
          <a:bodyPr wrap="square" lIns="0" tIns="0" rIns="0" bIns="0" rtlCol="0" anchor="t"/>
          <a:lstStyle/>
          <a:p>
            <a:pPr indent="0" marL="0">
              <a:buNone/>
            </a:pPr>
            <a:r>
              <a:rPr lang="en-US" sz="1300" dirty="0">
                <a:solidFill>
                  <a:schemeClr val="accent5"/>
                </a:solidFill>
              </a:rPr>
              <a:t>Positive</a:t>
            </a:r>
            <a:endParaRPr lang="en-US" sz="1300" dirty="0"/>
          </a:p>
        </p:txBody>
      </p:sp>
      <p:sp>
        <p:nvSpPr>
          <p:cNvPr id="9" name="KPI Neutral"/>
          <p:cNvSpPr/>
          <p:nvPr/>
        </p:nvSpPr>
        <p:spPr>
          <a:xfrm>
            <a:off x="6199632" y="1463040"/>
            <a:ext cx="2606040" cy="1188720"/>
          </a:xfrm>
          <a:prstGeom prst="roundRect">
            <a:avLst>
              <a:gd name="adj" fmla="val 9231"/>
            </a:avLst>
          </a:prstGeom>
          <a:solidFill>
            <a:schemeClr val="bg1"/>
          </a:solidFill>
          <a:ln/>
          <a:effectLst>
            <a:outerShdw sx="100000" sy="100000" kx="0" ky="0" algn="bl" rotWithShape="0" blurRad="127000" dist="25400" dir="5400000">
              <a:srgbClr val="000000">
                <a:alpha val="10000"/>
              </a:srgbClr>
            </a:outerShdw>
          </a:effectLst>
        </p:spPr>
      </p:sp>
      <p:sp>
        <p:nvSpPr>
          <p:cNvPr id="10" name="Text 8"/>
          <p:cNvSpPr txBox="1"/>
          <p:nvPr/>
        </p:nvSpPr>
        <p:spPr>
          <a:xfrm>
            <a:off x="6473952" y="1554480"/>
            <a:ext cx="2103120" cy="640080"/>
          </a:xfrm>
          <a:prstGeom prst="rect">
            <a:avLst/>
          </a:prstGeom>
          <a:noFill/>
          <a:ln/>
        </p:spPr>
        <p:txBody>
          <a:bodyPr wrap="square" lIns="0" tIns="0" rIns="0" bIns="0" rtlCol="0" anchor="ctr"/>
          <a:lstStyle/>
          <a:p>
            <a:pPr indent="0" marL="0">
              <a:buNone/>
            </a:pPr>
            <a:r>
              <a:rPr lang="en-US" sz="4000" b="1" dirty="0">
                <a:solidFill>
                  <a:schemeClr val="accent5"/>
                </a:solidFill>
              </a:rPr>
              <a:t>25%</a:t>
            </a:r>
            <a:endParaRPr lang="en-US" sz="4000" dirty="0"/>
          </a:p>
        </p:txBody>
      </p:sp>
      <p:sp>
        <p:nvSpPr>
          <p:cNvPr id="11" name="Text 9"/>
          <p:cNvSpPr txBox="1"/>
          <p:nvPr/>
        </p:nvSpPr>
        <p:spPr>
          <a:xfrm>
            <a:off x="6473952" y="2240280"/>
            <a:ext cx="2103120" cy="274320"/>
          </a:xfrm>
          <a:prstGeom prst="rect">
            <a:avLst/>
          </a:prstGeom>
          <a:noFill/>
          <a:ln/>
        </p:spPr>
        <p:txBody>
          <a:bodyPr wrap="square" lIns="0" tIns="0" rIns="0" bIns="0" rtlCol="0" anchor="t"/>
          <a:lstStyle/>
          <a:p>
            <a:pPr indent="0" marL="0">
              <a:buNone/>
            </a:pPr>
            <a:r>
              <a:rPr lang="en-US" sz="1300" dirty="0">
                <a:solidFill>
                  <a:schemeClr val="accent5"/>
                </a:solidFill>
              </a:rPr>
              <a:t>Neutral</a:t>
            </a:r>
            <a:endParaRPr lang="en-US" sz="1300" dirty="0"/>
          </a:p>
        </p:txBody>
      </p:sp>
      <p:sp>
        <p:nvSpPr>
          <p:cNvPr id="12" name="KPI Negative"/>
          <p:cNvSpPr/>
          <p:nvPr/>
        </p:nvSpPr>
        <p:spPr>
          <a:xfrm>
            <a:off x="9025128" y="1463040"/>
            <a:ext cx="2606040" cy="1188720"/>
          </a:xfrm>
          <a:prstGeom prst="roundRect">
            <a:avLst>
              <a:gd name="adj" fmla="val 9231"/>
            </a:avLst>
          </a:prstGeom>
          <a:solidFill>
            <a:schemeClr val="bg1"/>
          </a:solidFill>
          <a:ln/>
          <a:effectLst>
            <a:outerShdw sx="100000" sy="100000" kx="0" ky="0" algn="bl" rotWithShape="0" blurRad="127000" dist="25400" dir="5400000">
              <a:srgbClr val="000000">
                <a:alpha val="10000"/>
              </a:srgbClr>
            </a:outerShdw>
          </a:effectLst>
        </p:spPr>
      </p:sp>
      <p:sp>
        <p:nvSpPr>
          <p:cNvPr id="13" name="Text 11"/>
          <p:cNvSpPr txBox="1"/>
          <p:nvPr/>
        </p:nvSpPr>
        <p:spPr>
          <a:xfrm>
            <a:off x="9299448" y="1554480"/>
            <a:ext cx="2103120" cy="640080"/>
          </a:xfrm>
          <a:prstGeom prst="rect">
            <a:avLst/>
          </a:prstGeom>
          <a:noFill/>
          <a:ln/>
        </p:spPr>
        <p:txBody>
          <a:bodyPr wrap="square" lIns="0" tIns="0" rIns="0" bIns="0" rtlCol="0" anchor="ctr"/>
          <a:lstStyle/>
          <a:p>
            <a:pPr indent="0" marL="0">
              <a:buNone/>
            </a:pPr>
            <a:r>
              <a:rPr lang="en-US" sz="4000" b="1" dirty="0">
                <a:solidFill>
                  <a:schemeClr val="accent3"/>
                </a:solidFill>
              </a:rPr>
              <a:t>33%</a:t>
            </a:r>
            <a:endParaRPr lang="en-US" sz="4000" dirty="0"/>
          </a:p>
        </p:txBody>
      </p:sp>
      <p:sp>
        <p:nvSpPr>
          <p:cNvPr id="14" name="Text 12"/>
          <p:cNvSpPr txBox="1"/>
          <p:nvPr/>
        </p:nvSpPr>
        <p:spPr>
          <a:xfrm>
            <a:off x="9299448" y="2240280"/>
            <a:ext cx="2103120" cy="274320"/>
          </a:xfrm>
          <a:prstGeom prst="rect">
            <a:avLst/>
          </a:prstGeom>
          <a:noFill/>
          <a:ln/>
        </p:spPr>
        <p:txBody>
          <a:bodyPr wrap="square" lIns="0" tIns="0" rIns="0" bIns="0" rtlCol="0" anchor="t"/>
          <a:lstStyle/>
          <a:p>
            <a:pPr indent="0" marL="0">
              <a:buNone/>
            </a:pPr>
            <a:r>
              <a:rPr lang="en-US" sz="1300" dirty="0">
                <a:solidFill>
                  <a:schemeClr val="accent5"/>
                </a:solidFill>
              </a:rPr>
              <a:t>Negative</a:t>
            </a:r>
            <a:endParaRPr lang="en-US" sz="1300" dirty="0"/>
          </a:p>
        </p:txBody>
      </p:sp>
      <p:sp>
        <p:nvSpPr>
          <p:cNvPr id="15" name="Donut card"/>
          <p:cNvSpPr/>
          <p:nvPr/>
        </p:nvSpPr>
        <p:spPr>
          <a:xfrm>
            <a:off x="548640" y="2834640"/>
            <a:ext cx="4754880" cy="3017520"/>
          </a:xfrm>
          <a:prstGeom prst="roundRect">
            <a:avLst>
              <a:gd name="adj" fmla="val 3636"/>
            </a:avLst>
          </a:prstGeom>
          <a:solidFill>
            <a:schemeClr val="bg1"/>
          </a:solidFill>
          <a:ln/>
          <a:effectLst>
            <a:outerShdw sx="100000" sy="100000" kx="0" ky="0" algn="bl" rotWithShape="0" blurRad="127000" dist="25400" dir="5400000">
              <a:srgbClr val="000000">
                <a:alpha val="10000"/>
              </a:srgbClr>
            </a:outerShdw>
          </a:effectLst>
        </p:spPr>
      </p:sp>
      <p:graphicFrame>
        <p:nvGraphicFramePr>
          <p:cNvPr id="16" name="Chart 0" descr=""/>
          <p:cNvGraphicFramePr/>
          <p:nvPr/>
        </p:nvGraphicFramePr>
        <p:xfrm>
          <a:off x="640080" y="2880360"/>
          <a:ext cx="4572000" cy="2926080"/>
        </p:xfrm>
        <a:graphic xmlns:a="http://schemas.openxmlformats.org/drawingml/2006/main">
          <a:graphicData uri="http://schemas.openxmlformats.org/drawingml/2006/chart">
            <c:chart xmlns:c="http://schemas.openxmlformats.org/drawingml/2006/chart" r:id="rId1"/>
          </a:graphicData>
        </a:graphic>
      </p:graphicFrame>
      <p:sp>
        <p:nvSpPr>
          <p:cNvPr id="17" name="Topic bar card"/>
          <p:cNvSpPr/>
          <p:nvPr/>
        </p:nvSpPr>
        <p:spPr>
          <a:xfrm>
            <a:off x="5577840" y="2834640"/>
            <a:ext cx="6062472" cy="3017520"/>
          </a:xfrm>
          <a:prstGeom prst="roundRect">
            <a:avLst>
              <a:gd name="adj" fmla="val 3636"/>
            </a:avLst>
          </a:prstGeom>
          <a:solidFill>
            <a:schemeClr val="bg1"/>
          </a:solidFill>
          <a:ln/>
          <a:effectLst>
            <a:outerShdw sx="100000" sy="100000" kx="0" ky="0" algn="bl" rotWithShape="0" blurRad="127000" dist="25400" dir="5400000">
              <a:srgbClr val="000000">
                <a:alpha val="10000"/>
              </a:srgbClr>
            </a:outerShdw>
          </a:effectLst>
        </p:spPr>
      </p:sp>
      <p:graphicFrame>
        <p:nvGraphicFramePr>
          <p:cNvPr id="18" name="Chart 1" descr=""/>
          <p:cNvGraphicFramePr/>
          <p:nvPr/>
        </p:nvGraphicFramePr>
        <p:xfrm>
          <a:off x="5669280" y="2880360"/>
          <a:ext cx="5879592" cy="2926080"/>
        </p:xfrm>
        <a:graphic xmlns:a="http://schemas.openxmlformats.org/drawingml/2006/main">
          <a:graphicData uri="http://schemas.openxmlformats.org/drawingml/2006/chart">
            <c:chart xmlns:c="http://schemas.openxmlformats.org/drawingml/2006/chart" r:id="rId2"/>
          </a:graphicData>
        </a:graphic>
      </p:graphicFrame>
      <p:sp>
        <p:nvSpPr>
          <p:cNvPr id="19" name="Text 15"/>
          <p:cNvSpPr txBox="1"/>
          <p:nvPr/>
        </p:nvSpPr>
        <p:spPr>
          <a:xfrm>
            <a:off x="548640" y="5943600"/>
            <a:ext cx="11091672" cy="411480"/>
          </a:xfrm>
          <a:prstGeom prst="rect">
            <a:avLst/>
          </a:prstGeom>
          <a:noFill/>
          <a:ln/>
        </p:spPr>
        <p:txBody>
          <a:bodyPr wrap="square" lIns="0" tIns="0" rIns="0" bIns="0" rtlCol="0" anchor="t"/>
          <a:lstStyle/>
          <a:p>
            <a:pPr indent="0" marL="0">
              <a:buNone/>
            </a:pPr>
            <a:r>
              <a:rPr lang="en-US" sz="1200" dirty="0">
                <a:solidFill>
                  <a:schemeClr val="accent5"/>
                </a:solidFill>
              </a:rPr>
              <a:t>Also on the dashboard: topic-volume line chart, keyword cloud, emerging discussions and a filterable post table. Figures are from the simulated demo dataset.</a:t>
            </a:r>
            <a:endParaRPr lang="en-US" sz="1200" dirty="0"/>
          </a:p>
        </p:txBody>
      </p:sp>
      <p:sp>
        <p:nvSpPr>
          <p:cNvPr id="25" name="Slide Number Placeholder 0"/>
          <p:cNvSpPr>
            <a:spLocks noGrp="1"/>
          </p:cNvSpPr>
          <p:nvPr>
            <p:ph type="sldNum" sz="quarter" idx="4294967295"/>
          </p:nvPr>
        </p:nvSpPr>
        <p:spPr>
          <a:xfrm>
            <a:off x="11155680" y="6419088"/>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indent="0" marL="0">
              <a:buNone/>
            </a:pPr>
            <a:r>
              <a:rPr lang="en-US" sz="3600" b="1" dirty="0">
                <a:solidFill>
                  <a:schemeClr val="tx1"/>
                </a:solidFill>
              </a:rPr>
              <a:t>Live demo: run and use it</a:t>
            </a:r>
            <a:endParaRPr lang="en-US" sz="3600" dirty="0"/>
          </a:p>
        </p:txBody>
      </p:sp>
      <p:sp>
        <p:nvSpPr>
          <p:cNvPr id="3" name="Step 1"/>
          <p:cNvSpPr txBox="1"/>
          <p:nvPr/>
        </p:nvSpPr>
        <p:spPr>
          <a:xfrm>
            <a:off x="548640" y="1600200"/>
            <a:ext cx="640080" cy="64008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4" name="Text 2"/>
          <p:cNvSpPr txBox="1"/>
          <p:nvPr/>
        </p:nvSpPr>
        <p:spPr>
          <a:xfrm>
            <a:off x="1417320" y="1581912"/>
            <a:ext cx="5120640" cy="320040"/>
          </a:xfrm>
          <a:prstGeom prst="rect">
            <a:avLst/>
          </a:prstGeom>
          <a:noFill/>
          <a:ln/>
        </p:spPr>
        <p:txBody>
          <a:bodyPr wrap="square" lIns="0" tIns="0" rIns="0" bIns="0" rtlCol="0" anchor="t"/>
          <a:lstStyle/>
          <a:p>
            <a:pPr indent="0" marL="0">
              <a:buNone/>
            </a:pPr>
            <a:r>
              <a:rPr lang="en-US" sz="1800" b="1" dirty="0">
                <a:solidFill>
                  <a:schemeClr val="tx1"/>
                </a:solidFill>
              </a:rPr>
              <a:t>Open the project folder</a:t>
            </a:r>
            <a:endParaRPr lang="en-US" sz="1800" dirty="0"/>
          </a:p>
        </p:txBody>
      </p:sp>
      <p:sp>
        <p:nvSpPr>
          <p:cNvPr id="5" name="Text 3"/>
          <p:cNvSpPr txBox="1"/>
          <p:nvPr/>
        </p:nvSpPr>
        <p:spPr>
          <a:xfrm>
            <a:off x="1417320" y="1965960"/>
            <a:ext cx="5120640" cy="548640"/>
          </a:xfrm>
          <a:prstGeom prst="rect">
            <a:avLst/>
          </a:prstGeom>
          <a:noFill/>
          <a:ln/>
        </p:spPr>
        <p:txBody>
          <a:bodyPr wrap="square" lIns="0" tIns="0" rIns="0" bIns="0" rtlCol="0" anchor="t"/>
          <a:lstStyle/>
          <a:p>
            <a:pPr indent="0" marL="0">
              <a:buNone/>
            </a:pPr>
            <a:r>
              <a:rPr lang="en-US" sz="1400" dirty="0">
                <a:solidFill>
                  <a:schemeClr val="accent5"/>
                </a:solidFill>
              </a:rPr>
              <a:t>VS Code: File → Open Folder → news-social-analytics-engine-java</a:t>
            </a:r>
            <a:endParaRPr lang="en-US" sz="1400" dirty="0"/>
          </a:p>
        </p:txBody>
      </p:sp>
      <p:sp>
        <p:nvSpPr>
          <p:cNvPr id="6" name="Step 2"/>
          <p:cNvSpPr txBox="1"/>
          <p:nvPr/>
        </p:nvSpPr>
        <p:spPr>
          <a:xfrm>
            <a:off x="548640" y="2697480"/>
            <a:ext cx="640080" cy="64008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7" name="Text 5"/>
          <p:cNvSpPr txBox="1"/>
          <p:nvPr/>
        </p:nvSpPr>
        <p:spPr>
          <a:xfrm>
            <a:off x="1417320" y="2679192"/>
            <a:ext cx="5120640" cy="320040"/>
          </a:xfrm>
          <a:prstGeom prst="rect">
            <a:avLst/>
          </a:prstGeom>
          <a:noFill/>
          <a:ln/>
        </p:spPr>
        <p:txBody>
          <a:bodyPr wrap="square" lIns="0" tIns="0" rIns="0" bIns="0" rtlCol="0" anchor="t"/>
          <a:lstStyle/>
          <a:p>
            <a:pPr indent="0" marL="0">
              <a:buNone/>
            </a:pPr>
            <a:r>
              <a:rPr lang="en-US" sz="1800" b="1" dirty="0">
                <a:solidFill>
                  <a:schemeClr val="tx1"/>
                </a:solidFill>
              </a:rPr>
              <a:t>Run the server</a:t>
            </a:r>
            <a:endParaRPr lang="en-US" sz="1800" dirty="0"/>
          </a:p>
        </p:txBody>
      </p:sp>
      <p:sp>
        <p:nvSpPr>
          <p:cNvPr id="8" name="Text 6"/>
          <p:cNvSpPr txBox="1"/>
          <p:nvPr/>
        </p:nvSpPr>
        <p:spPr>
          <a:xfrm>
            <a:off x="1417320" y="3063240"/>
            <a:ext cx="5120640" cy="548640"/>
          </a:xfrm>
          <a:prstGeom prst="rect">
            <a:avLst/>
          </a:prstGeom>
          <a:noFill/>
          <a:ln/>
        </p:spPr>
        <p:txBody>
          <a:bodyPr wrap="square" lIns="0" tIns="0" rIns="0" bIns="0" rtlCol="0" anchor="t"/>
          <a:lstStyle/>
          <a:p>
            <a:pPr indent="0" marL="0">
              <a:buNone/>
            </a:pPr>
            <a:r>
              <a:rPr lang="en-US" sz="1400" dirty="0">
                <a:solidFill>
                  <a:schemeClr val="accent5"/>
                </a:solidFill>
              </a:rPr>
              <a:t>Open src/Main.java and click Run, or type .\run.bat</a:t>
            </a:r>
            <a:endParaRPr lang="en-US" sz="1400" dirty="0"/>
          </a:p>
        </p:txBody>
      </p:sp>
      <p:sp>
        <p:nvSpPr>
          <p:cNvPr id="9" name="Step 3"/>
          <p:cNvSpPr txBox="1"/>
          <p:nvPr/>
        </p:nvSpPr>
        <p:spPr>
          <a:xfrm>
            <a:off x="548640" y="3794760"/>
            <a:ext cx="640080" cy="64008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0" name="Text 8"/>
          <p:cNvSpPr txBox="1"/>
          <p:nvPr/>
        </p:nvSpPr>
        <p:spPr>
          <a:xfrm>
            <a:off x="1417320" y="3776472"/>
            <a:ext cx="5120640" cy="320040"/>
          </a:xfrm>
          <a:prstGeom prst="rect">
            <a:avLst/>
          </a:prstGeom>
          <a:noFill/>
          <a:ln/>
        </p:spPr>
        <p:txBody>
          <a:bodyPr wrap="square" lIns="0" tIns="0" rIns="0" bIns="0" rtlCol="0" anchor="t"/>
          <a:lstStyle/>
          <a:p>
            <a:pPr indent="0" marL="0">
              <a:buNone/>
            </a:pPr>
            <a:r>
              <a:rPr lang="en-US" sz="1800" b="1" dirty="0">
                <a:solidFill>
                  <a:schemeClr val="tx1"/>
                </a:solidFill>
              </a:rPr>
              <a:t>Open the dashboard</a:t>
            </a:r>
            <a:endParaRPr lang="en-US" sz="1800" dirty="0"/>
          </a:p>
        </p:txBody>
      </p:sp>
      <p:sp>
        <p:nvSpPr>
          <p:cNvPr id="11" name="Text 9"/>
          <p:cNvSpPr txBox="1"/>
          <p:nvPr/>
        </p:nvSpPr>
        <p:spPr>
          <a:xfrm>
            <a:off x="1417320" y="4160520"/>
            <a:ext cx="5120640" cy="548640"/>
          </a:xfrm>
          <a:prstGeom prst="rect">
            <a:avLst/>
          </a:prstGeom>
          <a:noFill/>
          <a:ln/>
        </p:spPr>
        <p:txBody>
          <a:bodyPr wrap="square" lIns="0" tIns="0" rIns="0" bIns="0" rtlCol="0" anchor="t"/>
          <a:lstStyle/>
          <a:p>
            <a:pPr indent="0" marL="0">
              <a:buNone/>
            </a:pPr>
            <a:r>
              <a:rPr lang="en-US" sz="1400" dirty="0">
                <a:solidFill>
                  <a:schemeClr val="accent5"/>
                </a:solidFill>
              </a:rPr>
              <a:t>The browser opens at http://localhost:8080</a:t>
            </a:r>
            <a:endParaRPr lang="en-US" sz="1400" dirty="0"/>
          </a:p>
        </p:txBody>
      </p:sp>
      <p:sp>
        <p:nvSpPr>
          <p:cNvPr id="12" name="Step 4"/>
          <p:cNvSpPr txBox="1"/>
          <p:nvPr/>
        </p:nvSpPr>
        <p:spPr>
          <a:xfrm>
            <a:off x="548640" y="4892040"/>
            <a:ext cx="640080" cy="64008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3" name="Text 11"/>
          <p:cNvSpPr txBox="1"/>
          <p:nvPr/>
        </p:nvSpPr>
        <p:spPr>
          <a:xfrm>
            <a:off x="1417320" y="4873752"/>
            <a:ext cx="5120640" cy="320040"/>
          </a:xfrm>
          <a:prstGeom prst="rect">
            <a:avLst/>
          </a:prstGeom>
          <a:noFill/>
          <a:ln/>
        </p:spPr>
        <p:txBody>
          <a:bodyPr wrap="square" lIns="0" tIns="0" rIns="0" bIns="0" rtlCol="0" anchor="t"/>
          <a:lstStyle/>
          <a:p>
            <a:pPr indent="0" marL="0">
              <a:buNone/>
            </a:pPr>
            <a:r>
              <a:rPr lang="en-US" sz="1800" b="1" dirty="0">
                <a:solidFill>
                  <a:schemeClr val="tx1"/>
                </a:solidFill>
              </a:rPr>
              <a:t>Analyze your own text</a:t>
            </a:r>
            <a:endParaRPr lang="en-US" sz="1800" dirty="0"/>
          </a:p>
        </p:txBody>
      </p:sp>
      <p:sp>
        <p:nvSpPr>
          <p:cNvPr id="14" name="Text 12"/>
          <p:cNvSpPr txBox="1"/>
          <p:nvPr/>
        </p:nvSpPr>
        <p:spPr>
          <a:xfrm>
            <a:off x="1417320" y="5257800"/>
            <a:ext cx="5120640" cy="548640"/>
          </a:xfrm>
          <a:prstGeom prst="rect">
            <a:avLst/>
          </a:prstGeom>
          <a:noFill/>
          <a:ln/>
        </p:spPr>
        <p:txBody>
          <a:bodyPr wrap="square" lIns="0" tIns="0" rIns="0" bIns="0" rtlCol="0" anchor="t"/>
          <a:lstStyle/>
          <a:p>
            <a:pPr indent="0" marL="0">
              <a:buNone/>
            </a:pPr>
            <a:r>
              <a:rPr lang="en-US" sz="1400" dirty="0">
                <a:solidFill>
                  <a:schemeClr val="accent5"/>
                </a:solidFill>
              </a:rPr>
              <a:t>Paste posts (optional: date | source | text) and click Analyze</a:t>
            </a:r>
            <a:endParaRPr lang="en-US" sz="1400" dirty="0"/>
          </a:p>
        </p:txBody>
      </p:sp>
      <p:sp>
        <p:nvSpPr>
          <p:cNvPr id="15" name="Terminal card"/>
          <p:cNvSpPr/>
          <p:nvPr/>
        </p:nvSpPr>
        <p:spPr>
          <a:xfrm>
            <a:off x="7040880" y="1600200"/>
            <a:ext cx="4599432" cy="2194560"/>
          </a:xfrm>
          <a:prstGeom prst="roundRect">
            <a:avLst>
              <a:gd name="adj" fmla="val 5000"/>
            </a:avLst>
          </a:prstGeom>
          <a:solidFill>
            <a:schemeClr val="tx1"/>
          </a:solidFill>
          <a:ln/>
        </p:spPr>
      </p:sp>
      <p:sp>
        <p:nvSpPr>
          <p:cNvPr id="16" name="Terminal dot 1"/>
          <p:cNvSpPr/>
          <p:nvPr/>
        </p:nvSpPr>
        <p:spPr>
          <a:xfrm>
            <a:off x="7269480" y="1801368"/>
            <a:ext cx="164592" cy="164592"/>
          </a:xfrm>
          <a:prstGeom prst="ellipse">
            <a:avLst/>
          </a:prstGeom>
          <a:solidFill>
            <a:schemeClr val="accent3"/>
          </a:solidFill>
          <a:ln/>
        </p:spPr>
      </p:sp>
      <p:sp>
        <p:nvSpPr>
          <p:cNvPr id="17" name="Terminal dot 2"/>
          <p:cNvSpPr/>
          <p:nvPr/>
        </p:nvSpPr>
        <p:spPr>
          <a:xfrm>
            <a:off x="7525512" y="1801368"/>
            <a:ext cx="164592" cy="164592"/>
          </a:xfrm>
          <a:prstGeom prst="ellipse">
            <a:avLst/>
          </a:prstGeom>
          <a:solidFill>
            <a:schemeClr val="accent2"/>
          </a:solidFill>
          <a:ln/>
        </p:spPr>
      </p:sp>
      <p:sp>
        <p:nvSpPr>
          <p:cNvPr id="18" name="Terminal dot 3"/>
          <p:cNvSpPr/>
          <p:nvPr/>
        </p:nvSpPr>
        <p:spPr>
          <a:xfrm>
            <a:off x="7781544" y="1801368"/>
            <a:ext cx="164592" cy="164592"/>
          </a:xfrm>
          <a:prstGeom prst="ellipse">
            <a:avLst/>
          </a:prstGeom>
          <a:solidFill>
            <a:schemeClr val="accent1"/>
          </a:solidFill>
          <a:ln/>
        </p:spPr>
      </p:sp>
      <p:sp>
        <p:nvSpPr>
          <p:cNvPr id="19" name="Text 17"/>
          <p:cNvSpPr txBox="1"/>
          <p:nvPr/>
        </p:nvSpPr>
        <p:spPr>
          <a:xfrm>
            <a:off x="7269480" y="2194560"/>
            <a:ext cx="4160520" cy="1371600"/>
          </a:xfrm>
          <a:prstGeom prst="rect">
            <a:avLst/>
          </a:prstGeom>
          <a:noFill/>
          <a:ln/>
        </p:spPr>
        <p:txBody>
          <a:bodyPr wrap="square" lIns="0" tIns="0" rIns="0" bIns="0" rtlCol="0" anchor="t"/>
          <a:lstStyle/>
          <a:p>
            <a:pPr indent="0" marL="0">
              <a:buNone/>
            </a:pPr>
            <a:r>
              <a:rPr lang="en-US" sz="1300" dirty="0">
                <a:solidFill>
                  <a:schemeClr val="accent4"/>
                </a:solidFill>
                <a:latin typeface="Courier New" pitchFamily="34" charset="0"/>
                <a:ea typeface="Courier New" pitchFamily="34" charset="-122"/>
                <a:cs typeface="Courier New" pitchFamily="34" charset="-120"/>
              </a:rPr>
              <a:t>PS&gt; .\run.bat</a:t>
            </a:r>
            <a:endParaRPr lang="en-US" sz="1300" dirty="0"/>
          </a:p>
          <a:p>
            <a:pPr indent="0" marL="0">
              <a:buNone/>
            </a:pPr>
            <a:endParaRPr lang="en-US" sz="1300" dirty="0"/>
          </a:p>
          <a:p>
            <a:pPr indent="0" marL="0">
              <a:buNone/>
            </a:pPr>
            <a:r>
              <a:rPr lang="en-US" sz="1300" dirty="0">
                <a:solidFill>
                  <a:schemeClr val="accent4"/>
                </a:solidFill>
                <a:latin typeface="Courier New" pitchFamily="34" charset="0"/>
                <a:ea typeface="Courier New" pitchFamily="34" charset="-122"/>
                <a:cs typeface="Courier New" pitchFamily="34" charset="-120"/>
              </a:rPr>
              <a:t>News &amp; Social Media Analytics Engine</a:t>
            </a:r>
            <a:endParaRPr lang="en-US" sz="1300" dirty="0"/>
          </a:p>
          <a:p>
            <a:pPr indent="0" marL="0">
              <a:buNone/>
            </a:pPr>
            <a:r>
              <a:rPr lang="en-US" sz="1300" dirty="0">
                <a:solidFill>
                  <a:schemeClr val="accent4"/>
                </a:solidFill>
                <a:latin typeface="Courier New" pitchFamily="34" charset="0"/>
                <a:ea typeface="Courier New" pitchFamily="34" charset="-122"/>
                <a:cs typeface="Courier New" pitchFamily="34" charset="-120"/>
              </a:rPr>
              <a:t>running at http://localhost:8080</a:t>
            </a:r>
            <a:endParaRPr lang="en-US" sz="1300" dirty="0"/>
          </a:p>
        </p:txBody>
      </p:sp>
      <p:sp>
        <p:nvSpPr>
          <p:cNvPr id="20" name="API card"/>
          <p:cNvSpPr/>
          <p:nvPr/>
        </p:nvSpPr>
        <p:spPr>
          <a:xfrm>
            <a:off x="7040880" y="4023360"/>
            <a:ext cx="4599432" cy="2103120"/>
          </a:xfrm>
          <a:prstGeom prst="roundRect">
            <a:avLst>
              <a:gd name="adj" fmla="val 5217"/>
            </a:avLst>
          </a:prstGeom>
          <a:solidFill>
            <a:schemeClr val="bg2"/>
          </a:solidFill>
          <a:ln/>
        </p:spPr>
      </p:sp>
      <p:sp>
        <p:nvSpPr>
          <p:cNvPr id="21" name="Text 19"/>
          <p:cNvSpPr txBox="1"/>
          <p:nvPr/>
        </p:nvSpPr>
        <p:spPr>
          <a:xfrm>
            <a:off x="7269480" y="4160520"/>
            <a:ext cx="4114800" cy="320040"/>
          </a:xfrm>
          <a:prstGeom prst="rect">
            <a:avLst/>
          </a:prstGeom>
          <a:noFill/>
          <a:ln/>
        </p:spPr>
        <p:txBody>
          <a:bodyPr wrap="square" lIns="0" tIns="0" rIns="0" bIns="0" rtlCol="0" anchor="t"/>
          <a:lstStyle/>
          <a:p>
            <a:pPr indent="0" marL="0">
              <a:buNone/>
            </a:pPr>
            <a:r>
              <a:rPr lang="en-US" sz="1600" b="1" dirty="0">
                <a:solidFill>
                  <a:schemeClr val="tx1"/>
                </a:solidFill>
              </a:rPr>
              <a:t>API endpoints</a:t>
            </a:r>
            <a:endParaRPr lang="en-US" sz="1600" dirty="0"/>
          </a:p>
        </p:txBody>
      </p:sp>
      <p:sp>
        <p:nvSpPr>
          <p:cNvPr id="22" name="Text 20"/>
          <p:cNvSpPr txBox="1"/>
          <p:nvPr/>
        </p:nvSpPr>
        <p:spPr>
          <a:xfrm>
            <a:off x="7269480" y="4663440"/>
            <a:ext cx="2651760" cy="274320"/>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GET  /api/sample</a:t>
            </a:r>
            <a:endParaRPr lang="en-US" sz="1300" dirty="0"/>
          </a:p>
        </p:txBody>
      </p:sp>
      <p:sp>
        <p:nvSpPr>
          <p:cNvPr id="23" name="Text 21"/>
          <p:cNvSpPr txBox="1"/>
          <p:nvPr/>
        </p:nvSpPr>
        <p:spPr>
          <a:xfrm>
            <a:off x="9966960" y="4663440"/>
            <a:ext cx="1554480" cy="274320"/>
          </a:xfrm>
          <a:prstGeom prst="rect">
            <a:avLst/>
          </a:prstGeom>
          <a:noFill/>
          <a:ln/>
        </p:spPr>
        <p:txBody>
          <a:bodyPr wrap="square" lIns="0" tIns="0" rIns="0" bIns="0" rtlCol="0" anchor="t"/>
          <a:lstStyle/>
          <a:p>
            <a:pPr indent="0" marL="0">
              <a:buNone/>
            </a:pPr>
            <a:r>
              <a:rPr lang="en-US" sz="1300" dirty="0">
                <a:solidFill>
                  <a:schemeClr val="accent5"/>
                </a:solidFill>
              </a:rPr>
              <a:t>demo analysis</a:t>
            </a:r>
            <a:endParaRPr lang="en-US" sz="1300" dirty="0"/>
          </a:p>
        </p:txBody>
      </p:sp>
      <p:sp>
        <p:nvSpPr>
          <p:cNvPr id="24" name="Text 22"/>
          <p:cNvSpPr txBox="1"/>
          <p:nvPr/>
        </p:nvSpPr>
        <p:spPr>
          <a:xfrm>
            <a:off x="7269480" y="5138928"/>
            <a:ext cx="2651760" cy="274320"/>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GET  /api/sample-text</a:t>
            </a:r>
            <a:endParaRPr lang="en-US" sz="1300" dirty="0"/>
          </a:p>
        </p:txBody>
      </p:sp>
      <p:sp>
        <p:nvSpPr>
          <p:cNvPr id="25" name="Text 23"/>
          <p:cNvSpPr txBox="1"/>
          <p:nvPr/>
        </p:nvSpPr>
        <p:spPr>
          <a:xfrm>
            <a:off x="9966960" y="5138928"/>
            <a:ext cx="1554480" cy="274320"/>
          </a:xfrm>
          <a:prstGeom prst="rect">
            <a:avLst/>
          </a:prstGeom>
          <a:noFill/>
          <a:ln/>
        </p:spPr>
        <p:txBody>
          <a:bodyPr wrap="square" lIns="0" tIns="0" rIns="0" bIns="0" rtlCol="0" anchor="t"/>
          <a:lstStyle/>
          <a:p>
            <a:pPr indent="0" marL="0">
              <a:buNone/>
            </a:pPr>
            <a:r>
              <a:rPr lang="en-US" sz="1300" dirty="0">
                <a:solidFill>
                  <a:schemeClr val="accent5"/>
                </a:solidFill>
              </a:rPr>
              <a:t>demo text</a:t>
            </a:r>
            <a:endParaRPr lang="en-US" sz="1300" dirty="0"/>
          </a:p>
        </p:txBody>
      </p:sp>
      <p:sp>
        <p:nvSpPr>
          <p:cNvPr id="26" name="Text 24"/>
          <p:cNvSpPr txBox="1"/>
          <p:nvPr/>
        </p:nvSpPr>
        <p:spPr>
          <a:xfrm>
            <a:off x="7269480" y="5614416"/>
            <a:ext cx="2651760" cy="274320"/>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POST /api/analyze</a:t>
            </a:r>
            <a:endParaRPr lang="en-US" sz="1300" dirty="0"/>
          </a:p>
        </p:txBody>
      </p:sp>
      <p:sp>
        <p:nvSpPr>
          <p:cNvPr id="27" name="Text 25"/>
          <p:cNvSpPr txBox="1"/>
          <p:nvPr/>
        </p:nvSpPr>
        <p:spPr>
          <a:xfrm>
            <a:off x="9966960" y="5614416"/>
            <a:ext cx="1554480" cy="274320"/>
          </a:xfrm>
          <a:prstGeom prst="rect">
            <a:avLst/>
          </a:prstGeom>
          <a:noFill/>
          <a:ln/>
        </p:spPr>
        <p:txBody>
          <a:bodyPr wrap="square" lIns="0" tIns="0" rIns="0" bIns="0" rtlCol="0" anchor="t"/>
          <a:lstStyle/>
          <a:p>
            <a:pPr indent="0" marL="0">
              <a:buNone/>
            </a:pPr>
            <a:r>
              <a:rPr lang="en-US" sz="1300" dirty="0">
                <a:solidFill>
                  <a:schemeClr val="accent5"/>
                </a:solidFill>
              </a:rPr>
              <a:t>your own text</a:t>
            </a:r>
            <a:endParaRPr lang="en-US" sz="1300" dirty="0"/>
          </a:p>
        </p:txBody>
      </p:sp>
      <p:sp>
        <p:nvSpPr>
          <p:cNvPr id="25" name="Slide Number Placeholder 0"/>
          <p:cNvSpPr>
            <a:spLocks noGrp="1"/>
          </p:cNvSpPr>
          <p:nvPr>
            <p:ph type="sldNum" sz="quarter" idx="4294967295"/>
          </p:nvPr>
        </p:nvSpPr>
        <p:spPr>
          <a:xfrm>
            <a:off x="11155680" y="6419088"/>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indent="0" marL="0">
              <a:buNone/>
            </a:pPr>
            <a:r>
              <a:rPr lang="en-US" sz="3600" b="1" dirty="0">
                <a:solidFill>
                  <a:schemeClr val="tx1"/>
                </a:solidFill>
              </a:rPr>
              <a:t>Who can use it</a:t>
            </a:r>
            <a:endParaRPr lang="en-US" sz="3600" dirty="0"/>
          </a:p>
        </p:txBody>
      </p:sp>
      <p:sp>
        <p:nvSpPr>
          <p:cNvPr id="3" name="Businesses card"/>
          <p:cNvSpPr/>
          <p:nvPr/>
        </p:nvSpPr>
        <p:spPr>
          <a:xfrm>
            <a:off x="548640" y="1554480"/>
            <a:ext cx="3456432" cy="3200400"/>
          </a:xfrm>
          <a:prstGeom prst="roundRect">
            <a:avLst>
              <a:gd name="adj" fmla="val 3429"/>
            </a:avLst>
          </a:prstGeom>
          <a:solidFill>
            <a:schemeClr val="bg1"/>
          </a:solidFill>
          <a:ln/>
          <a:effectLst>
            <a:outerShdw sx="100000" sy="100000" kx="0" ky="0" algn="bl" rotWithShape="0" blurRad="127000" dist="25400" dir="5400000">
              <a:srgbClr val="000000">
                <a:alpha val="10000"/>
              </a:srgbClr>
            </a:outerShdw>
          </a:effectLst>
        </p:spPr>
      </p:sp>
      <p:sp>
        <p:nvSpPr>
          <p:cNvPr id="4" name="Businesses circle"/>
          <p:cNvSpPr/>
          <p:nvPr/>
        </p:nvSpPr>
        <p:spPr>
          <a:xfrm>
            <a:off x="868680" y="1828800"/>
            <a:ext cx="822960" cy="822960"/>
          </a:xfrm>
          <a:prstGeom prst="ellipse">
            <a:avLst/>
          </a:prstGeom>
          <a:solidFill>
            <a:schemeClr val="accent1"/>
          </a:solidFill>
          <a:ln/>
        </p:spPr>
      </p:sp>
      <p:pic>
        <p:nvPicPr>
          <p:cNvPr id="5" name="Businesses" descr="Businesses">    </p:cNvPr>
          <p:cNvPicPr>
            <a:picLocks noChangeAspect="1"/>
          </p:cNvPicPr>
          <p:nvPr/>
        </p:nvPicPr>
        <p:blipFill>
          <a:blip r:embed="rId1"/>
          <a:stretch>
            <a:fillRect/>
          </a:stretch>
        </p:blipFill>
        <p:spPr>
          <a:xfrm>
            <a:off x="1090879" y="2050999"/>
            <a:ext cx="378562" cy="378562"/>
          </a:xfrm>
          <a:prstGeom prst="rect">
            <a:avLst/>
          </a:prstGeom>
        </p:spPr>
      </p:pic>
      <p:sp>
        <p:nvSpPr>
          <p:cNvPr id="6" name="Text 3"/>
          <p:cNvSpPr txBox="1"/>
          <p:nvPr/>
        </p:nvSpPr>
        <p:spPr>
          <a:xfrm>
            <a:off x="868680" y="2834640"/>
            <a:ext cx="2834640" cy="365760"/>
          </a:xfrm>
          <a:prstGeom prst="rect">
            <a:avLst/>
          </a:prstGeom>
          <a:noFill/>
          <a:ln/>
        </p:spPr>
        <p:txBody>
          <a:bodyPr wrap="square" lIns="0" tIns="0" rIns="0" bIns="0" rtlCol="0" anchor="t"/>
          <a:lstStyle/>
          <a:p>
            <a:pPr indent="0" marL="0">
              <a:buNone/>
            </a:pPr>
            <a:r>
              <a:rPr lang="en-US" sz="2000" b="1" dirty="0">
                <a:solidFill>
                  <a:schemeClr val="tx1"/>
                </a:solidFill>
              </a:rPr>
              <a:t>Businesses</a:t>
            </a:r>
            <a:endParaRPr lang="en-US" sz="2000" dirty="0"/>
          </a:p>
        </p:txBody>
      </p:sp>
      <p:sp>
        <p:nvSpPr>
          <p:cNvPr id="7" name="Text 4"/>
          <p:cNvSpPr txBox="1"/>
          <p:nvPr/>
        </p:nvSpPr>
        <p:spPr>
          <a:xfrm>
            <a:off x="868680" y="3337560"/>
            <a:ext cx="2834640" cy="12801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Analyze customer opinions</a:t>
            </a:r>
            <a:endParaRPr lang="en-US" sz="1500" dirty="0"/>
          </a:p>
          <a:p>
            <a:pPr marL="342900" indent="-342900">
              <a:spcAft>
                <a:spcPts val="800"/>
              </a:spcAft>
              <a:buSzPct val="100000"/>
              <a:buChar char="•"/>
            </a:pPr>
            <a:r>
              <a:rPr lang="en-US" sz="1500" dirty="0">
                <a:solidFill>
                  <a:schemeClr val="tx1"/>
                </a:solidFill>
              </a:rPr>
              <a:t>Identify market trends</a:t>
            </a:r>
            <a:endParaRPr lang="en-US" sz="1500" dirty="0"/>
          </a:p>
          <a:p>
            <a:pPr marL="342900" indent="-342900">
              <a:spcAft>
                <a:spcPts val="800"/>
              </a:spcAft>
              <a:buSzPct val="100000"/>
              <a:buChar char="•"/>
            </a:pPr>
            <a:r>
              <a:rPr lang="en-US" sz="1500" dirty="0">
                <a:solidFill>
                  <a:schemeClr val="tx1"/>
                </a:solidFill>
              </a:rPr>
              <a:t>Understand changing consumer preferences</a:t>
            </a:r>
            <a:endParaRPr lang="en-US" sz="1500" dirty="0"/>
          </a:p>
        </p:txBody>
      </p:sp>
      <p:sp>
        <p:nvSpPr>
          <p:cNvPr id="8" name="Researchers card"/>
          <p:cNvSpPr/>
          <p:nvPr/>
        </p:nvSpPr>
        <p:spPr>
          <a:xfrm>
            <a:off x="4370832" y="1554480"/>
            <a:ext cx="3456432" cy="3200400"/>
          </a:xfrm>
          <a:prstGeom prst="roundRect">
            <a:avLst>
              <a:gd name="adj" fmla="val 3429"/>
            </a:avLst>
          </a:prstGeom>
          <a:solidFill>
            <a:schemeClr val="bg1"/>
          </a:solidFill>
          <a:ln/>
          <a:effectLst>
            <a:outerShdw sx="100000" sy="100000" kx="0" ky="0" algn="bl" rotWithShape="0" blurRad="127000" dist="25400" dir="5400000">
              <a:srgbClr val="000000">
                <a:alpha val="10000"/>
              </a:srgbClr>
            </a:outerShdw>
          </a:effectLst>
        </p:spPr>
      </p:sp>
      <p:sp>
        <p:nvSpPr>
          <p:cNvPr id="9" name="Researchers circle"/>
          <p:cNvSpPr/>
          <p:nvPr/>
        </p:nvSpPr>
        <p:spPr>
          <a:xfrm>
            <a:off x="4690872" y="1828800"/>
            <a:ext cx="822960" cy="822960"/>
          </a:xfrm>
          <a:prstGeom prst="ellipse">
            <a:avLst/>
          </a:prstGeom>
          <a:solidFill>
            <a:schemeClr val="accent2"/>
          </a:solidFill>
          <a:ln/>
        </p:spPr>
      </p:sp>
      <p:pic>
        <p:nvPicPr>
          <p:cNvPr id="10" name="Researchers" descr="Researchers">    </p:cNvPr>
          <p:cNvPicPr>
            <a:picLocks noChangeAspect="1"/>
          </p:cNvPicPr>
          <p:nvPr/>
        </p:nvPicPr>
        <p:blipFill>
          <a:blip r:embed="rId2"/>
          <a:stretch>
            <a:fillRect/>
          </a:stretch>
        </p:blipFill>
        <p:spPr>
          <a:xfrm>
            <a:off x="4913071" y="2050999"/>
            <a:ext cx="378562" cy="378562"/>
          </a:xfrm>
          <a:prstGeom prst="rect">
            <a:avLst/>
          </a:prstGeom>
        </p:spPr>
      </p:pic>
      <p:sp>
        <p:nvSpPr>
          <p:cNvPr id="11" name="Text 7"/>
          <p:cNvSpPr txBox="1"/>
          <p:nvPr/>
        </p:nvSpPr>
        <p:spPr>
          <a:xfrm>
            <a:off x="4690872" y="2834640"/>
            <a:ext cx="2834640" cy="365760"/>
          </a:xfrm>
          <a:prstGeom prst="rect">
            <a:avLst/>
          </a:prstGeom>
          <a:noFill/>
          <a:ln/>
        </p:spPr>
        <p:txBody>
          <a:bodyPr wrap="square" lIns="0" tIns="0" rIns="0" bIns="0" rtlCol="0" anchor="t"/>
          <a:lstStyle/>
          <a:p>
            <a:pPr indent="0" marL="0">
              <a:buNone/>
            </a:pPr>
            <a:r>
              <a:rPr lang="en-US" sz="2000" b="1" dirty="0">
                <a:solidFill>
                  <a:schemeClr val="tx1"/>
                </a:solidFill>
              </a:rPr>
              <a:t>Researchers</a:t>
            </a:r>
            <a:endParaRPr lang="en-US" sz="2000" dirty="0"/>
          </a:p>
        </p:txBody>
      </p:sp>
      <p:sp>
        <p:nvSpPr>
          <p:cNvPr id="12" name="Text 8"/>
          <p:cNvSpPr txBox="1"/>
          <p:nvPr/>
        </p:nvSpPr>
        <p:spPr>
          <a:xfrm>
            <a:off x="4690872" y="3337560"/>
            <a:ext cx="2834640" cy="12801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Monitor public sentiment</a:t>
            </a:r>
            <a:endParaRPr lang="en-US" sz="1500" dirty="0"/>
          </a:p>
          <a:p>
            <a:pPr marL="342900" indent="-342900">
              <a:spcAft>
                <a:spcPts val="800"/>
              </a:spcAft>
              <a:buSzPct val="100000"/>
              <a:buChar char="•"/>
            </a:pPr>
            <a:r>
              <a:rPr lang="en-US" sz="1500" dirty="0">
                <a:solidFill>
                  <a:schemeClr val="tx1"/>
                </a:solidFill>
              </a:rPr>
              <a:t>Track important events</a:t>
            </a:r>
            <a:endParaRPr lang="en-US" sz="1500" dirty="0"/>
          </a:p>
          <a:p>
            <a:pPr marL="342900" indent="-342900">
              <a:spcAft>
                <a:spcPts val="800"/>
              </a:spcAft>
              <a:buSzPct val="100000"/>
              <a:buChar char="•"/>
            </a:pPr>
            <a:r>
              <a:rPr lang="en-US" sz="1500" dirty="0">
                <a:solidFill>
                  <a:schemeClr val="tx1"/>
                </a:solidFill>
              </a:rPr>
              <a:t>Identify emerging topics</a:t>
            </a:r>
            <a:endParaRPr lang="en-US" sz="1500" dirty="0"/>
          </a:p>
        </p:txBody>
      </p:sp>
      <p:sp>
        <p:nvSpPr>
          <p:cNvPr id="13" name="Media organizations card"/>
          <p:cNvSpPr/>
          <p:nvPr/>
        </p:nvSpPr>
        <p:spPr>
          <a:xfrm>
            <a:off x="8193024" y="1554480"/>
            <a:ext cx="3456432" cy="3200400"/>
          </a:xfrm>
          <a:prstGeom prst="roundRect">
            <a:avLst>
              <a:gd name="adj" fmla="val 3429"/>
            </a:avLst>
          </a:prstGeom>
          <a:solidFill>
            <a:schemeClr val="bg1"/>
          </a:solidFill>
          <a:ln/>
          <a:effectLst>
            <a:outerShdw sx="100000" sy="100000" kx="0" ky="0" algn="bl" rotWithShape="0" blurRad="127000" dist="25400" dir="5400000">
              <a:srgbClr val="000000">
                <a:alpha val="10000"/>
              </a:srgbClr>
            </a:outerShdw>
          </a:effectLst>
        </p:spPr>
      </p:sp>
      <p:sp>
        <p:nvSpPr>
          <p:cNvPr id="14" name="Media organizations circle"/>
          <p:cNvSpPr/>
          <p:nvPr/>
        </p:nvSpPr>
        <p:spPr>
          <a:xfrm>
            <a:off x="8513064" y="1828800"/>
            <a:ext cx="822960" cy="822960"/>
          </a:xfrm>
          <a:prstGeom prst="ellipse">
            <a:avLst/>
          </a:prstGeom>
          <a:solidFill>
            <a:schemeClr val="accent3"/>
          </a:solidFill>
          <a:ln/>
        </p:spPr>
      </p:sp>
      <p:pic>
        <p:nvPicPr>
          <p:cNvPr id="15" name="Media organizations" descr="Media organizations">    </p:cNvPr>
          <p:cNvPicPr>
            <a:picLocks noChangeAspect="1"/>
          </p:cNvPicPr>
          <p:nvPr/>
        </p:nvPicPr>
        <p:blipFill>
          <a:blip r:embed="rId3"/>
          <a:stretch>
            <a:fillRect/>
          </a:stretch>
        </p:blipFill>
        <p:spPr>
          <a:xfrm>
            <a:off x="8735263" y="2050999"/>
            <a:ext cx="378562" cy="378562"/>
          </a:xfrm>
          <a:prstGeom prst="rect">
            <a:avLst/>
          </a:prstGeom>
        </p:spPr>
      </p:pic>
      <p:sp>
        <p:nvSpPr>
          <p:cNvPr id="16" name="Text 11"/>
          <p:cNvSpPr txBox="1"/>
          <p:nvPr/>
        </p:nvSpPr>
        <p:spPr>
          <a:xfrm>
            <a:off x="8513064" y="2834640"/>
            <a:ext cx="2834640" cy="365760"/>
          </a:xfrm>
          <a:prstGeom prst="rect">
            <a:avLst/>
          </a:prstGeom>
          <a:noFill/>
          <a:ln/>
        </p:spPr>
        <p:txBody>
          <a:bodyPr wrap="square" lIns="0" tIns="0" rIns="0" bIns="0" rtlCol="0" anchor="t"/>
          <a:lstStyle/>
          <a:p>
            <a:pPr indent="0" marL="0">
              <a:buNone/>
            </a:pPr>
            <a:r>
              <a:rPr lang="en-US" sz="2000" b="1" dirty="0">
                <a:solidFill>
                  <a:schemeClr val="tx1"/>
                </a:solidFill>
              </a:rPr>
              <a:t>Media organizations</a:t>
            </a:r>
            <a:endParaRPr lang="en-US" sz="2000" dirty="0"/>
          </a:p>
        </p:txBody>
      </p:sp>
      <p:sp>
        <p:nvSpPr>
          <p:cNvPr id="17" name="Text 12"/>
          <p:cNvSpPr txBox="1"/>
          <p:nvPr/>
        </p:nvSpPr>
        <p:spPr>
          <a:xfrm>
            <a:off x="8513064" y="3337560"/>
            <a:ext cx="2834640" cy="12801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Monitor public sentiment</a:t>
            </a:r>
            <a:endParaRPr lang="en-US" sz="1500" dirty="0"/>
          </a:p>
          <a:p>
            <a:pPr marL="342900" indent="-342900">
              <a:spcAft>
                <a:spcPts val="800"/>
              </a:spcAft>
              <a:buSzPct val="100000"/>
              <a:buChar char="•"/>
            </a:pPr>
            <a:r>
              <a:rPr lang="en-US" sz="1500" dirty="0">
                <a:solidFill>
                  <a:schemeClr val="tx1"/>
                </a:solidFill>
              </a:rPr>
              <a:t>Track important events</a:t>
            </a:r>
            <a:endParaRPr lang="en-US" sz="1500" dirty="0"/>
          </a:p>
          <a:p>
            <a:pPr marL="342900" indent="-342900">
              <a:spcAft>
                <a:spcPts val="800"/>
              </a:spcAft>
              <a:buSzPct val="100000"/>
              <a:buChar char="•"/>
            </a:pPr>
            <a:r>
              <a:rPr lang="en-US" sz="1500" dirty="0">
                <a:solidFill>
                  <a:schemeClr val="tx1"/>
                </a:solidFill>
              </a:rPr>
              <a:t>Identify emerging topics</a:t>
            </a:r>
            <a:endParaRPr lang="en-US" sz="1500" dirty="0"/>
          </a:p>
        </p:txBody>
      </p:sp>
      <p:sp>
        <p:nvSpPr>
          <p:cNvPr id="18" name="Advantages banner"/>
          <p:cNvSpPr txBox="1"/>
          <p:nvPr/>
        </p:nvSpPr>
        <p:spPr>
          <a:xfrm>
            <a:off x="548640" y="5029200"/>
            <a:ext cx="11091672" cy="914400"/>
          </a:xfrm>
          <a:prstGeom prst="roundRect">
            <a:avLst>
              <a:gd name="adj" fmla="val 12000"/>
            </a:avLst>
          </a:prstGeom>
          <a:solidFill>
            <a:schemeClr val="tx1"/>
          </a:solidFill>
          <a:ln/>
        </p:spPr>
        <p:txBody>
          <a:bodyPr wrap="square" lIns="1016" tIns="5080" rIns="5080" bIns="1016" rtlCol="0" anchor="ctr"/>
          <a:lstStyle/>
          <a:p>
            <a:pPr indent="0" marL="0">
              <a:buNone/>
            </a:pPr>
            <a:r>
              <a:rPr lang="en-US" sz="1200" b="1" spc="200" kern="0" dirty="0">
                <a:solidFill>
                  <a:schemeClr val="accent2"/>
                </a:solidFill>
              </a:rPr>
              <a:t>ADVANTAGES</a:t>
            </a:r>
            <a:endParaRPr lang="en-US" sz="1200" dirty="0"/>
          </a:p>
          <a:p>
            <a:pPr indent="0" marL="0">
              <a:buNone/>
            </a:pPr>
            <a:r>
              <a:rPr lang="en-US" sz="1500" b="1" dirty="0">
                <a:solidFill>
                  <a:schemeClr val="bg1"/>
                </a:solidFill>
              </a:rPr>
              <a:t>Centralized solution  ·  Clearer understanding  ·  Faster decisions  ·  More useful insights</a:t>
            </a:r>
            <a:endParaRPr lang="en-US" sz="1200" dirty="0"/>
          </a:p>
        </p:txBody>
      </p:sp>
      <p:sp>
        <p:nvSpPr>
          <p:cNvPr id="25" name="Slide Number Placeholder 0"/>
          <p:cNvSpPr>
            <a:spLocks noGrp="1"/>
          </p:cNvSpPr>
          <p:nvPr>
            <p:ph type="sldNum" sz="quarter" idx="4294967295"/>
          </p:nvPr>
        </p:nvSpPr>
        <p:spPr>
          <a:xfrm>
            <a:off x="11155680" y="6419088"/>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indent="0" marL="0">
              <a:buNone/>
            </a:pPr>
            <a:r>
              <a:rPr lang="en-US" sz="3600" b="1" dirty="0">
                <a:solidFill>
                  <a:schemeClr val="tx1"/>
                </a:solidFill>
              </a:rPr>
              <a:t>Limitations and future scope</a:t>
            </a:r>
            <a:endParaRPr lang="en-US" sz="3600" dirty="0"/>
          </a:p>
        </p:txBody>
      </p:sp>
      <p:sp>
        <p:nvSpPr>
          <p:cNvPr id="3" name="Current limitations card"/>
          <p:cNvSpPr/>
          <p:nvPr/>
        </p:nvSpPr>
        <p:spPr>
          <a:xfrm>
            <a:off x="548640" y="1554480"/>
            <a:ext cx="5440680" cy="4297680"/>
          </a:xfrm>
          <a:prstGeom prst="roundRect">
            <a:avLst>
              <a:gd name="adj" fmla="val 2553"/>
            </a:avLst>
          </a:prstGeom>
          <a:solidFill>
            <a:schemeClr val="bg2"/>
          </a:solidFill>
          <a:ln/>
        </p:spPr>
      </p:sp>
      <p:sp>
        <p:nvSpPr>
          <p:cNvPr id="4" name="Current limitations circle"/>
          <p:cNvSpPr/>
          <p:nvPr/>
        </p:nvSpPr>
        <p:spPr>
          <a:xfrm>
            <a:off x="914400" y="1783080"/>
            <a:ext cx="731520" cy="731520"/>
          </a:xfrm>
          <a:prstGeom prst="ellipse">
            <a:avLst/>
          </a:prstGeom>
          <a:solidFill>
            <a:schemeClr val="accent3"/>
          </a:solidFill>
          <a:ln/>
        </p:spPr>
      </p:sp>
      <p:pic>
        <p:nvPicPr>
          <p:cNvPr id="5" name="Current limitations" descr="Current limitations">    </p:cNvPr>
          <p:cNvPicPr>
            <a:picLocks noChangeAspect="1"/>
          </p:cNvPicPr>
          <p:nvPr/>
        </p:nvPicPr>
        <p:blipFill>
          <a:blip r:embed="rId1"/>
          <a:stretch>
            <a:fillRect/>
          </a:stretch>
        </p:blipFill>
        <p:spPr>
          <a:xfrm>
            <a:off x="1111910" y="1980590"/>
            <a:ext cx="336499" cy="336499"/>
          </a:xfrm>
          <a:prstGeom prst="rect">
            <a:avLst/>
          </a:prstGeom>
        </p:spPr>
      </p:pic>
      <p:sp>
        <p:nvSpPr>
          <p:cNvPr id="6" name="Text 3"/>
          <p:cNvSpPr txBox="1"/>
          <p:nvPr/>
        </p:nvSpPr>
        <p:spPr>
          <a:xfrm>
            <a:off x="1874520" y="1874520"/>
            <a:ext cx="3840480" cy="548640"/>
          </a:xfrm>
          <a:prstGeom prst="rect">
            <a:avLst/>
          </a:prstGeom>
          <a:noFill/>
          <a:ln/>
        </p:spPr>
        <p:txBody>
          <a:bodyPr wrap="square" lIns="0" tIns="0" rIns="0" bIns="0" rtlCol="0" anchor="ctr"/>
          <a:lstStyle/>
          <a:p>
            <a:pPr indent="0" marL="0">
              <a:buNone/>
            </a:pPr>
            <a:r>
              <a:rPr lang="en-US" sz="2200" b="1" dirty="0">
                <a:solidFill>
                  <a:schemeClr val="tx1"/>
                </a:solidFill>
              </a:rPr>
              <a:t>Current limitations</a:t>
            </a:r>
            <a:endParaRPr lang="en-US" sz="2200" dirty="0"/>
          </a:p>
        </p:txBody>
      </p:sp>
      <p:sp>
        <p:nvSpPr>
          <p:cNvPr id="7" name="Text 4"/>
          <p:cNvSpPr txBox="1"/>
          <p:nvPr/>
        </p:nvSpPr>
        <p:spPr>
          <a:xfrm>
            <a:off x="960120" y="2926080"/>
            <a:ext cx="4663440" cy="265176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tx1"/>
                </a:solidFill>
              </a:rPr>
              <a:t>Word-list sentiment can miss sarcasm and slang</a:t>
            </a:r>
            <a:endParaRPr lang="en-US" sz="1600" dirty="0"/>
          </a:p>
          <a:p>
            <a:pPr marL="342900" indent="-342900">
              <a:spcAft>
                <a:spcPts val="1200"/>
              </a:spcAft>
              <a:buSzPct val="100000"/>
              <a:buChar char="•"/>
            </a:pPr>
            <a:r>
              <a:rPr lang="en-US" sz="1600" dirty="0">
                <a:solidFill>
                  <a:schemeClr val="tx1"/>
                </a:solidFill>
              </a:rPr>
              <a:t>Topics come from keyword matching, not a trained model</a:t>
            </a:r>
            <a:endParaRPr lang="en-US" sz="1600" dirty="0"/>
          </a:p>
          <a:p>
            <a:pPr marL="342900" indent="-342900">
              <a:spcAft>
                <a:spcPts val="1200"/>
              </a:spcAft>
              <a:buSzPct val="100000"/>
              <a:buChar char="•"/>
            </a:pPr>
            <a:r>
              <a:rPr lang="en-US" sz="1600" dirty="0">
                <a:solidFill>
                  <a:schemeClr val="tx1"/>
                </a:solidFill>
              </a:rPr>
              <a:t>The demo uses simulated posts, not live news feeds</a:t>
            </a:r>
            <a:endParaRPr lang="en-US" sz="1600" dirty="0"/>
          </a:p>
        </p:txBody>
      </p:sp>
      <p:sp>
        <p:nvSpPr>
          <p:cNvPr id="8" name="Future scope card"/>
          <p:cNvSpPr/>
          <p:nvPr/>
        </p:nvSpPr>
        <p:spPr>
          <a:xfrm>
            <a:off x="6199632" y="1554480"/>
            <a:ext cx="5440680" cy="4297680"/>
          </a:xfrm>
          <a:prstGeom prst="roundRect">
            <a:avLst>
              <a:gd name="adj" fmla="val 2553"/>
            </a:avLst>
          </a:prstGeom>
          <a:solidFill>
            <a:schemeClr val="bg2"/>
          </a:solidFill>
          <a:ln/>
        </p:spPr>
      </p:sp>
      <p:sp>
        <p:nvSpPr>
          <p:cNvPr id="9" name="Future scope circle"/>
          <p:cNvSpPr/>
          <p:nvPr/>
        </p:nvSpPr>
        <p:spPr>
          <a:xfrm>
            <a:off x="6565392" y="1783080"/>
            <a:ext cx="731520" cy="731520"/>
          </a:xfrm>
          <a:prstGeom prst="ellipse">
            <a:avLst/>
          </a:prstGeom>
          <a:solidFill>
            <a:schemeClr val="accent1"/>
          </a:solidFill>
          <a:ln/>
        </p:spPr>
      </p:sp>
      <p:pic>
        <p:nvPicPr>
          <p:cNvPr id="10" name="Future scope" descr="Future scope">    </p:cNvPr>
          <p:cNvPicPr>
            <a:picLocks noChangeAspect="1"/>
          </p:cNvPicPr>
          <p:nvPr/>
        </p:nvPicPr>
        <p:blipFill>
          <a:blip r:embed="rId2"/>
          <a:stretch>
            <a:fillRect/>
          </a:stretch>
        </p:blipFill>
        <p:spPr>
          <a:xfrm>
            <a:off x="6762902" y="1980590"/>
            <a:ext cx="336499" cy="336499"/>
          </a:xfrm>
          <a:prstGeom prst="rect">
            <a:avLst/>
          </a:prstGeom>
        </p:spPr>
      </p:pic>
      <p:sp>
        <p:nvSpPr>
          <p:cNvPr id="11" name="Text 7"/>
          <p:cNvSpPr txBox="1"/>
          <p:nvPr/>
        </p:nvSpPr>
        <p:spPr>
          <a:xfrm>
            <a:off x="7525512" y="1874520"/>
            <a:ext cx="3840480" cy="548640"/>
          </a:xfrm>
          <a:prstGeom prst="rect">
            <a:avLst/>
          </a:prstGeom>
          <a:noFill/>
          <a:ln/>
        </p:spPr>
        <p:txBody>
          <a:bodyPr wrap="square" lIns="0" tIns="0" rIns="0" bIns="0" rtlCol="0" anchor="ctr"/>
          <a:lstStyle/>
          <a:p>
            <a:pPr indent="0" marL="0">
              <a:buNone/>
            </a:pPr>
            <a:r>
              <a:rPr lang="en-US" sz="2200" b="1" dirty="0">
                <a:solidFill>
                  <a:schemeClr val="tx1"/>
                </a:solidFill>
              </a:rPr>
              <a:t>Future scope</a:t>
            </a:r>
            <a:endParaRPr lang="en-US" sz="2200" dirty="0"/>
          </a:p>
        </p:txBody>
      </p:sp>
      <p:sp>
        <p:nvSpPr>
          <p:cNvPr id="12" name="Text 8"/>
          <p:cNvSpPr txBox="1"/>
          <p:nvPr/>
        </p:nvSpPr>
        <p:spPr>
          <a:xfrm>
            <a:off x="6611112" y="2926080"/>
            <a:ext cx="4663440" cy="265176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tx1"/>
                </a:solidFill>
              </a:rPr>
              <a:t>Trained sentiment models such as VADER or transformers</a:t>
            </a:r>
            <a:endParaRPr lang="en-US" sz="1600" dirty="0"/>
          </a:p>
          <a:p>
            <a:pPr marL="342900" indent="-342900">
              <a:spcAft>
                <a:spcPts val="1200"/>
              </a:spcAft>
              <a:buSzPct val="100000"/>
              <a:buChar char="•"/>
            </a:pPr>
            <a:r>
              <a:rPr lang="en-US" sz="1600" dirty="0">
                <a:solidFill>
                  <a:schemeClr val="tx1"/>
                </a:solidFill>
              </a:rPr>
              <a:t>Live data from NewsAPI and the Reddit API</a:t>
            </a:r>
            <a:endParaRPr lang="en-US" sz="1600" dirty="0"/>
          </a:p>
          <a:p>
            <a:pPr marL="342900" indent="-342900">
              <a:spcAft>
                <a:spcPts val="1200"/>
              </a:spcAft>
              <a:buSzPct val="100000"/>
              <a:buChar char="•"/>
            </a:pPr>
            <a:r>
              <a:rPr lang="en-US" sz="1600" dirty="0">
                <a:solidFill>
                  <a:schemeClr val="tx1"/>
                </a:solidFill>
              </a:rPr>
              <a:t>Store results in a database (SQLite via JDBC)</a:t>
            </a:r>
            <a:endParaRPr lang="en-US" sz="1600" dirty="0"/>
          </a:p>
          <a:p>
            <a:pPr marL="342900" indent="-342900">
              <a:spcAft>
                <a:spcPts val="1200"/>
              </a:spcAft>
              <a:buSzPct val="100000"/>
              <a:buChar char="•"/>
            </a:pPr>
            <a:r>
              <a:rPr lang="en-US" sz="1600" dirty="0">
                <a:solidFill>
                  <a:schemeClr val="tx1"/>
                </a:solidFill>
              </a:rPr>
              <a:t>More languages and richer topic categories</a:t>
            </a:r>
            <a:endParaRPr lang="en-US" sz="1600" dirty="0"/>
          </a:p>
        </p:txBody>
      </p:sp>
      <p:sp>
        <p:nvSpPr>
          <p:cNvPr id="25" name="Slide Number Placeholder 0"/>
          <p:cNvSpPr>
            <a:spLocks noGrp="1"/>
          </p:cNvSpPr>
          <p:nvPr>
            <p:ph type="sldNum" sz="quarter" idx="4294967295"/>
          </p:nvPr>
        </p:nvSpPr>
        <p:spPr>
          <a:xfrm>
            <a:off x="11155680" y="6419088"/>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731520" y="777240"/>
            <a:ext cx="7315200" cy="320040"/>
          </a:xfrm>
          <a:prstGeom prst="rect">
            <a:avLst/>
          </a:prstGeom>
          <a:noFill/>
          <a:ln/>
        </p:spPr>
        <p:txBody>
          <a:bodyPr wrap="square" lIns="0" tIns="0" rIns="0" bIns="0" rtlCol="0" anchor="t"/>
          <a:lstStyle/>
          <a:p>
            <a:pPr indent="0" marL="0">
              <a:buNone/>
            </a:pPr>
            <a:r>
              <a:rPr lang="en-US" sz="1200" b="1" spc="200" kern="0" dirty="0">
                <a:solidFill>
                  <a:schemeClr val="accent2"/>
                </a:solidFill>
              </a:rPr>
              <a:t>CONCLUSION</a:t>
            </a:r>
            <a:endParaRPr lang="en-US" sz="1200" dirty="0"/>
          </a:p>
        </p:txBody>
      </p:sp>
      <p:sp>
        <p:nvSpPr>
          <p:cNvPr id="3" name="Text 0"/>
          <p:cNvSpPr/>
          <p:nvPr>
            <p:ph idx="100" type="title" hasCustomPrompt="1"/>
          </p:nvPr>
        </p:nvSpPr>
        <p:spPr>
          <a:xfrm>
            <a:off x="731520" y="1371600"/>
            <a:ext cx="7223760" cy="2103120"/>
          </a:xfrm>
          <a:prstGeom prst="rect">
            <a:avLst/>
          </a:prstGeom>
          <a:noFill/>
          <a:ln/>
        </p:spPr>
        <p:txBody>
          <a:bodyPr wrap="square" lIns="0" tIns="0" rIns="0" bIns="0" rtlCol="0" anchor="t"/>
          <a:lstStyle/>
          <a:p>
            <a:pPr indent="0" marL="0">
              <a:buNone/>
            </a:pPr>
            <a:r>
              <a:rPr lang="en-US" sz="4800" b="1" dirty="0">
                <a:solidFill>
                  <a:schemeClr val="bg1"/>
                </a:solidFill>
              </a:rPr>
              <a:t>Turning online content</a:t>
            </a:r>
            <a:endParaRPr lang="en-US" sz="4800" dirty="0"/>
          </a:p>
          <a:p>
            <a:pPr indent="0" marL="0">
              <a:buNone/>
            </a:pPr>
            <a:r>
              <a:rPr lang="en-US" sz="4800" b="1" dirty="0">
                <a:solidFill>
                  <a:schemeClr val="bg1"/>
                </a:solidFill>
              </a:rPr>
              <a:t>into useful insight</a:t>
            </a:r>
            <a:endParaRPr lang="en-US" sz="4800" dirty="0"/>
          </a:p>
        </p:txBody>
      </p:sp>
      <p:sp>
        <p:nvSpPr>
          <p:cNvPr id="4" name="Text 0"/>
          <p:cNvSpPr/>
          <p:nvPr>
            <p:ph idx="101" type="body" hasCustomPrompt="1"/>
          </p:nvPr>
        </p:nvSpPr>
        <p:spPr>
          <a:xfrm>
            <a:off x="731520" y="3611880"/>
            <a:ext cx="7223760" cy="1005840"/>
          </a:xfrm>
          <a:prstGeom prst="rect">
            <a:avLst/>
          </a:prstGeom>
          <a:noFill/>
          <a:ln/>
        </p:spPr>
        <p:txBody>
          <a:bodyPr wrap="square" lIns="0" tIns="0" rIns="0" bIns="0" rtlCol="0" anchor="t"/>
          <a:lstStyle/>
          <a:p>
            <a:pPr indent="0" marL="0">
              <a:buNone/>
            </a:pPr>
            <a:r>
              <a:rPr lang="en-US" sz="2000" dirty="0">
                <a:solidFill>
                  <a:schemeClr val="accent4"/>
                </a:solidFill>
              </a:rPr>
              <a:t>One platform that collects, processes, analyzes and presents online content, for faster, data-driven decisions.</a:t>
            </a:r>
            <a:endParaRPr lang="en-US" sz="2000" dirty="0"/>
          </a:p>
        </p:txBody>
      </p:sp>
      <p:sp>
        <p:nvSpPr>
          <p:cNvPr id="5" name="Text 3"/>
          <p:cNvSpPr txBox="1"/>
          <p:nvPr/>
        </p:nvSpPr>
        <p:spPr>
          <a:xfrm>
            <a:off x="731520" y="4846320"/>
            <a:ext cx="1645920" cy="457200"/>
          </a:xfrm>
          <a:prstGeom prst="roundRect">
            <a:avLst>
              <a:gd name="adj" fmla="val 40000"/>
            </a:avLst>
          </a:prstGeom>
          <a:solidFill>
            <a:schemeClr val="accent6"/>
          </a:solidFill>
          <a:ln/>
        </p:spPr>
        <p:txBody>
          <a:bodyPr wrap="square" lIns="0" tIns="0" rIns="0" bIns="0" rtlCol="0" anchor="ctr"/>
          <a:lstStyle/>
          <a:p>
            <a:pPr algn="ctr" indent="0" marL="0">
              <a:buNone/>
            </a:pPr>
            <a:r>
              <a:rPr lang="en-US" sz="1400" b="1" dirty="0">
                <a:solidFill>
                  <a:schemeClr val="bg1"/>
                </a:solidFill>
              </a:rPr>
              <a:t>Businesses</a:t>
            </a:r>
            <a:endParaRPr lang="en-US" sz="1400" dirty="0"/>
          </a:p>
        </p:txBody>
      </p:sp>
      <p:sp>
        <p:nvSpPr>
          <p:cNvPr id="6" name="Text 4"/>
          <p:cNvSpPr txBox="1"/>
          <p:nvPr/>
        </p:nvSpPr>
        <p:spPr>
          <a:xfrm>
            <a:off x="2560320" y="4846320"/>
            <a:ext cx="1828800" cy="457200"/>
          </a:xfrm>
          <a:prstGeom prst="roundRect">
            <a:avLst>
              <a:gd name="adj" fmla="val 40000"/>
            </a:avLst>
          </a:prstGeom>
          <a:solidFill>
            <a:schemeClr val="accent6"/>
          </a:solidFill>
          <a:ln/>
        </p:spPr>
        <p:txBody>
          <a:bodyPr wrap="square" lIns="0" tIns="0" rIns="0" bIns="0" rtlCol="0" anchor="ctr"/>
          <a:lstStyle/>
          <a:p>
            <a:pPr algn="ctr" indent="0" marL="0">
              <a:buNone/>
            </a:pPr>
            <a:r>
              <a:rPr lang="en-US" sz="1400" b="1" dirty="0">
                <a:solidFill>
                  <a:schemeClr val="bg1"/>
                </a:solidFill>
              </a:rPr>
              <a:t>Researchers</a:t>
            </a:r>
            <a:endParaRPr lang="en-US" sz="1400" dirty="0"/>
          </a:p>
        </p:txBody>
      </p:sp>
      <p:sp>
        <p:nvSpPr>
          <p:cNvPr id="7" name="Text 5"/>
          <p:cNvSpPr txBox="1"/>
          <p:nvPr/>
        </p:nvSpPr>
        <p:spPr>
          <a:xfrm>
            <a:off x="4572000" y="4846320"/>
            <a:ext cx="2560320" cy="457200"/>
          </a:xfrm>
          <a:prstGeom prst="roundRect">
            <a:avLst>
              <a:gd name="adj" fmla="val 40000"/>
            </a:avLst>
          </a:prstGeom>
          <a:solidFill>
            <a:schemeClr val="accent6"/>
          </a:solidFill>
          <a:ln/>
        </p:spPr>
        <p:txBody>
          <a:bodyPr wrap="square" lIns="0" tIns="0" rIns="0" bIns="0" rtlCol="0" anchor="ctr"/>
          <a:lstStyle/>
          <a:p>
            <a:pPr algn="ctr" indent="0" marL="0">
              <a:buNone/>
            </a:pPr>
            <a:r>
              <a:rPr lang="en-US" sz="1400" b="1" dirty="0">
                <a:solidFill>
                  <a:schemeClr val="bg1"/>
                </a:solidFill>
              </a:rPr>
              <a:t>Media organizations</a:t>
            </a:r>
            <a:endParaRPr lang="en-US" sz="1400" dirty="0"/>
          </a:p>
        </p:txBody>
      </p:sp>
      <p:sp>
        <p:nvSpPr>
          <p:cNvPr id="8" name="Text 6"/>
          <p:cNvSpPr txBox="1"/>
          <p:nvPr/>
        </p:nvSpPr>
        <p:spPr>
          <a:xfrm>
            <a:off x="731520" y="5669280"/>
            <a:ext cx="7223760" cy="594360"/>
          </a:xfrm>
          <a:prstGeom prst="rect">
            <a:avLst/>
          </a:prstGeom>
          <a:noFill/>
          <a:ln/>
        </p:spPr>
        <p:txBody>
          <a:bodyPr wrap="square" lIns="0" tIns="0" rIns="0" bIns="0" rtlCol="0" anchor="ctr"/>
          <a:lstStyle/>
          <a:p>
            <a:pPr indent="0" marL="0">
              <a:buNone/>
            </a:pPr>
            <a:r>
              <a:rPr lang="en-US" sz="3000" b="1" dirty="0">
                <a:solidFill>
                  <a:schemeClr val="accent2"/>
                </a:solidFill>
              </a:rPr>
              <a:t>Thank you  ·  Questions?</a:t>
            </a:r>
            <a:endParaRPr lang="en-US" sz="3000" dirty="0"/>
          </a:p>
        </p:txBody>
      </p:sp>
      <p:sp>
        <p:nvSpPr>
          <p:cNvPr id="9" name="Connector 1"/>
          <p:cNvSpPr/>
          <p:nvPr/>
        </p:nvSpPr>
        <p:spPr>
          <a:xfrm>
            <a:off x="9052560" y="1883664"/>
            <a:ext cx="0" cy="301752"/>
          </a:xfrm>
          <a:prstGeom prst="line">
            <a:avLst/>
          </a:prstGeom>
          <a:noFill/>
          <a:ln w="25400">
            <a:solidFill>
              <a:schemeClr val="accent6"/>
            </a:solidFill>
            <a:prstDash val="solid"/>
          </a:ln>
        </p:spPr>
      </p:sp>
      <p:sp>
        <p:nvSpPr>
          <p:cNvPr id="10" name="COLLECT icon circle"/>
          <p:cNvSpPr/>
          <p:nvPr/>
        </p:nvSpPr>
        <p:spPr>
          <a:xfrm>
            <a:off x="8595360" y="914400"/>
            <a:ext cx="914400" cy="914400"/>
          </a:xfrm>
          <a:prstGeom prst="ellipse">
            <a:avLst/>
          </a:prstGeom>
          <a:solidFill>
            <a:schemeClr val="accent1"/>
          </a:solidFill>
          <a:ln/>
        </p:spPr>
      </p:sp>
      <p:pic>
        <p:nvPicPr>
          <p:cNvPr id="11" name="COLLECT icon" descr="COLLECT icon">    </p:cNvPr>
          <p:cNvPicPr>
            <a:picLocks noChangeAspect="1"/>
          </p:cNvPicPr>
          <p:nvPr/>
        </p:nvPicPr>
        <p:blipFill>
          <a:blip r:embed="rId1"/>
          <a:stretch>
            <a:fillRect/>
          </a:stretch>
        </p:blipFill>
        <p:spPr>
          <a:xfrm>
            <a:off x="8842248" y="1161288"/>
            <a:ext cx="420624" cy="420624"/>
          </a:xfrm>
          <a:prstGeom prst="rect">
            <a:avLst/>
          </a:prstGeom>
        </p:spPr>
      </p:pic>
      <p:sp>
        <p:nvSpPr>
          <p:cNvPr id="12" name="Text 9"/>
          <p:cNvSpPr txBox="1"/>
          <p:nvPr/>
        </p:nvSpPr>
        <p:spPr>
          <a:xfrm>
            <a:off x="9784080" y="1170432"/>
            <a:ext cx="2011680" cy="411480"/>
          </a:xfrm>
          <a:prstGeom prst="rect">
            <a:avLst/>
          </a:prstGeom>
          <a:noFill/>
          <a:ln/>
        </p:spPr>
        <p:txBody>
          <a:bodyPr wrap="square" lIns="0" tIns="0" rIns="0" bIns="0" rtlCol="0" anchor="ctr"/>
          <a:lstStyle/>
          <a:p>
            <a:pPr indent="0" marL="0">
              <a:buNone/>
            </a:pPr>
            <a:r>
              <a:rPr lang="en-US" sz="1800" b="1" spc="200" kern="0" dirty="0">
                <a:solidFill>
                  <a:schemeClr val="bg1"/>
                </a:solidFill>
              </a:rPr>
              <a:t>COLLECT</a:t>
            </a:r>
            <a:endParaRPr lang="en-US" sz="1800" dirty="0"/>
          </a:p>
        </p:txBody>
      </p:sp>
      <p:sp>
        <p:nvSpPr>
          <p:cNvPr id="13" name="Connector 2"/>
          <p:cNvSpPr/>
          <p:nvPr/>
        </p:nvSpPr>
        <p:spPr>
          <a:xfrm>
            <a:off x="9052560" y="3209544"/>
            <a:ext cx="0" cy="301752"/>
          </a:xfrm>
          <a:prstGeom prst="line">
            <a:avLst/>
          </a:prstGeom>
          <a:noFill/>
          <a:ln w="25400">
            <a:solidFill>
              <a:schemeClr val="accent6"/>
            </a:solidFill>
            <a:prstDash val="solid"/>
          </a:ln>
        </p:spPr>
      </p:sp>
      <p:sp>
        <p:nvSpPr>
          <p:cNvPr id="14" name="PROCESS icon circle"/>
          <p:cNvSpPr/>
          <p:nvPr/>
        </p:nvSpPr>
        <p:spPr>
          <a:xfrm>
            <a:off x="8595360" y="2240280"/>
            <a:ext cx="914400" cy="914400"/>
          </a:xfrm>
          <a:prstGeom prst="ellipse">
            <a:avLst/>
          </a:prstGeom>
          <a:solidFill>
            <a:schemeClr val="accent2"/>
          </a:solidFill>
          <a:ln/>
        </p:spPr>
      </p:sp>
      <p:pic>
        <p:nvPicPr>
          <p:cNvPr id="15" name="PROCESS icon" descr="PROCESS icon">    </p:cNvPr>
          <p:cNvPicPr>
            <a:picLocks noChangeAspect="1"/>
          </p:cNvPicPr>
          <p:nvPr/>
        </p:nvPicPr>
        <p:blipFill>
          <a:blip r:embed="rId2"/>
          <a:stretch>
            <a:fillRect/>
          </a:stretch>
        </p:blipFill>
        <p:spPr>
          <a:xfrm>
            <a:off x="8842248" y="2487168"/>
            <a:ext cx="420624" cy="420624"/>
          </a:xfrm>
          <a:prstGeom prst="rect">
            <a:avLst/>
          </a:prstGeom>
        </p:spPr>
      </p:pic>
      <p:sp>
        <p:nvSpPr>
          <p:cNvPr id="16" name="Text 12"/>
          <p:cNvSpPr txBox="1"/>
          <p:nvPr/>
        </p:nvSpPr>
        <p:spPr>
          <a:xfrm>
            <a:off x="9784080" y="2496312"/>
            <a:ext cx="2011680" cy="411480"/>
          </a:xfrm>
          <a:prstGeom prst="rect">
            <a:avLst/>
          </a:prstGeom>
          <a:noFill/>
          <a:ln/>
        </p:spPr>
        <p:txBody>
          <a:bodyPr wrap="square" lIns="0" tIns="0" rIns="0" bIns="0" rtlCol="0" anchor="ctr"/>
          <a:lstStyle/>
          <a:p>
            <a:pPr indent="0" marL="0">
              <a:buNone/>
            </a:pPr>
            <a:r>
              <a:rPr lang="en-US" sz="1800" b="1" spc="200" kern="0" dirty="0">
                <a:solidFill>
                  <a:schemeClr val="bg1"/>
                </a:solidFill>
              </a:rPr>
              <a:t>PROCESS</a:t>
            </a:r>
            <a:endParaRPr lang="en-US" sz="1800" dirty="0"/>
          </a:p>
        </p:txBody>
      </p:sp>
      <p:sp>
        <p:nvSpPr>
          <p:cNvPr id="17" name="Connector 3"/>
          <p:cNvSpPr/>
          <p:nvPr/>
        </p:nvSpPr>
        <p:spPr>
          <a:xfrm>
            <a:off x="9052560" y="4535424"/>
            <a:ext cx="0" cy="301752"/>
          </a:xfrm>
          <a:prstGeom prst="line">
            <a:avLst/>
          </a:prstGeom>
          <a:noFill/>
          <a:ln w="25400">
            <a:solidFill>
              <a:schemeClr val="accent6"/>
            </a:solidFill>
            <a:prstDash val="solid"/>
          </a:ln>
        </p:spPr>
      </p:sp>
      <p:sp>
        <p:nvSpPr>
          <p:cNvPr id="18" name="ANALYZE icon circle"/>
          <p:cNvSpPr/>
          <p:nvPr/>
        </p:nvSpPr>
        <p:spPr>
          <a:xfrm>
            <a:off x="8595360" y="3566160"/>
            <a:ext cx="914400" cy="914400"/>
          </a:xfrm>
          <a:prstGeom prst="ellipse">
            <a:avLst/>
          </a:prstGeom>
          <a:solidFill>
            <a:schemeClr val="accent3"/>
          </a:solidFill>
          <a:ln/>
        </p:spPr>
      </p:sp>
      <p:pic>
        <p:nvPicPr>
          <p:cNvPr id="19" name="ANALYZE icon" descr="ANALYZE icon">    </p:cNvPr>
          <p:cNvPicPr>
            <a:picLocks noChangeAspect="1"/>
          </p:cNvPicPr>
          <p:nvPr/>
        </p:nvPicPr>
        <p:blipFill>
          <a:blip r:embed="rId3"/>
          <a:stretch>
            <a:fillRect/>
          </a:stretch>
        </p:blipFill>
        <p:spPr>
          <a:xfrm>
            <a:off x="8842248" y="3813048"/>
            <a:ext cx="420624" cy="420624"/>
          </a:xfrm>
          <a:prstGeom prst="rect">
            <a:avLst/>
          </a:prstGeom>
        </p:spPr>
      </p:pic>
      <p:sp>
        <p:nvSpPr>
          <p:cNvPr id="20" name="Text 15"/>
          <p:cNvSpPr txBox="1"/>
          <p:nvPr/>
        </p:nvSpPr>
        <p:spPr>
          <a:xfrm>
            <a:off x="9784080" y="3822192"/>
            <a:ext cx="2011680" cy="411480"/>
          </a:xfrm>
          <a:prstGeom prst="rect">
            <a:avLst/>
          </a:prstGeom>
          <a:noFill/>
          <a:ln/>
        </p:spPr>
        <p:txBody>
          <a:bodyPr wrap="square" lIns="0" tIns="0" rIns="0" bIns="0" rtlCol="0" anchor="ctr"/>
          <a:lstStyle/>
          <a:p>
            <a:pPr indent="0" marL="0">
              <a:buNone/>
            </a:pPr>
            <a:r>
              <a:rPr lang="en-US" sz="1800" b="1" spc="200" kern="0" dirty="0">
                <a:solidFill>
                  <a:schemeClr val="bg1"/>
                </a:solidFill>
              </a:rPr>
              <a:t>ANALYZE</a:t>
            </a:r>
            <a:endParaRPr lang="en-US" sz="1800" dirty="0"/>
          </a:p>
        </p:txBody>
      </p:sp>
      <p:sp>
        <p:nvSpPr>
          <p:cNvPr id="21" name="PRESENT icon circle"/>
          <p:cNvSpPr/>
          <p:nvPr/>
        </p:nvSpPr>
        <p:spPr>
          <a:xfrm>
            <a:off x="8595360" y="4892040"/>
            <a:ext cx="914400" cy="914400"/>
          </a:xfrm>
          <a:prstGeom prst="ellipse">
            <a:avLst/>
          </a:prstGeom>
          <a:solidFill>
            <a:schemeClr val="accent4"/>
          </a:solidFill>
          <a:ln/>
        </p:spPr>
      </p:sp>
      <p:pic>
        <p:nvPicPr>
          <p:cNvPr id="22" name="PRESENT icon" descr="PRESENT icon">    </p:cNvPr>
          <p:cNvPicPr>
            <a:picLocks noChangeAspect="1"/>
          </p:cNvPicPr>
          <p:nvPr/>
        </p:nvPicPr>
        <p:blipFill>
          <a:blip r:embed="rId4"/>
          <a:stretch>
            <a:fillRect/>
          </a:stretch>
        </p:blipFill>
        <p:spPr>
          <a:xfrm>
            <a:off x="8842248" y="5138928"/>
            <a:ext cx="420624" cy="420624"/>
          </a:xfrm>
          <a:prstGeom prst="rect">
            <a:avLst/>
          </a:prstGeom>
        </p:spPr>
      </p:pic>
      <p:sp>
        <p:nvSpPr>
          <p:cNvPr id="23" name="Text 17"/>
          <p:cNvSpPr txBox="1"/>
          <p:nvPr/>
        </p:nvSpPr>
        <p:spPr>
          <a:xfrm>
            <a:off x="9784080" y="5148072"/>
            <a:ext cx="2011680" cy="411480"/>
          </a:xfrm>
          <a:prstGeom prst="rect">
            <a:avLst/>
          </a:prstGeom>
          <a:noFill/>
          <a:ln/>
        </p:spPr>
        <p:txBody>
          <a:bodyPr wrap="square" lIns="0" tIns="0" rIns="0" bIns="0" rtlCol="0" anchor="ctr"/>
          <a:lstStyle/>
          <a:p>
            <a:pPr indent="0" marL="0">
              <a:buNone/>
            </a:pPr>
            <a:r>
              <a:rPr lang="en-US" sz="1800" b="1" spc="200" kern="0" dirty="0">
                <a:solidFill>
                  <a:schemeClr val="bg1"/>
                </a:solidFill>
              </a:rPr>
              <a:t>PRESENT</a:t>
            </a:r>
            <a:endParaRPr lang="en-US" sz="1800" dirty="0"/>
          </a:p>
        </p:txBody>
      </p:sp>
    </p:spTree>
  </p:cSld>
  <p:clrMapOvr>
    <a:masterClrMapping/>
  </p:clrMapOvr>
</p:sld>
</file>

<file path=ppt/theme/theme1.xml><?xml version="1.0" encoding="utf-8"?>
<a:theme xmlns:a="http://schemas.openxmlformats.org/drawingml/2006/main" name="Analytics Engine">
  <a:themeElements>
    <a:clrScheme name="Analytics Engine">
      <a:dk1>
        <a:srgbClr val="102B3F"/>
      </a:dk1>
      <a:lt1>
        <a:srgbClr val="FFFFFF"/>
      </a:lt1>
      <a:dk2>
        <a:srgbClr val="087E83"/>
      </a:dk2>
      <a:lt2>
        <a:srgbClr val="EAF3F2"/>
      </a:lt2>
      <a:accent1>
        <a:srgbClr val="087E83"/>
      </a:accent1>
      <a:accent2>
        <a:srgbClr val="F2B84B"/>
      </a:accent2>
      <a:accent3>
        <a:srgbClr val="D6564A"/>
      </a:accent3>
      <a:accent4>
        <a:srgbClr val="BFE5DA"/>
      </a:accent4>
      <a:accent5>
        <a:srgbClr val="5B7083"/>
      </a:accent5>
      <a:accent6>
        <a:srgbClr val="1B4A66"/>
      </a:accent6>
      <a:hlink>
        <a:srgbClr val="087E83"/>
      </a:hlink>
      <a:folHlink>
        <a:srgbClr val="5B7083"/>
      </a:folHlink>
    </a:clrScheme>
    <a:fontScheme name="Analytics Engin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News &amp; Social Media Analytics Engine - Project Presentation</dc:title>
  <dc:subject>PptxGenJS Presentation</dc:subject>
  <dc:creator>Team 35</dc:creator>
  <cp:lastModifiedBy>Team 35</cp:lastModifiedBy>
  <cp:revision>1</cp:revision>
  <dcterms:created xsi:type="dcterms:W3CDTF">2026-10-12T05:32:37Z</dcterms:created>
  <dcterms:modified xsi:type="dcterms:W3CDTF">2026-10-12T05:32:37Z</dcterms:modified>
</cp:coreProperties>
</file>